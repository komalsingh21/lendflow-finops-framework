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2D56"/>
                </a:solidFill>
                <a:latin typeface="Arial"/>
              </a:defRPr>
            </a:pPr>
            <a:r>
              <a:rPr sz="1100" b="0" i="0" u="none" strike="noStrike">
                <a:solidFill>
                  <a:srgbClr val="0F2D56"/>
                </a:solidFill>
                <a:latin typeface="Arial"/>
              </a:rPr>
              <a:t>Monthly AWS Spend ($K)</a:t>
            </a:r>
          </a:p>
        </c:rich>
      </c:tx>
      <c:layout/>
      <c:overlay val="0"/>
    </c:title>
    <c:autoTitleDeleted val="0"/>
    <c:plotArea>
      <c:layout/>
      <c:barChart>
        <c:barDir val="col"/>
        <c:grouping val="clustered"/>
        <c:varyColors val="0"/>
        <c:ser>
          <c:idx val="0"/>
          <c:order val="0"/>
          <c:tx>
            <c:strRef>
              <c:f>Sheet1!$B$1</c:f>
              <c:strCache>
                <c:ptCount val="1"/>
                <c:pt idx="0">
                  <c:v>Monthly AWS Spend ($K)</c:v>
                </c:pt>
              </c:strCache>
            </c:strRef>
          </c:tx>
          <c:spPr>
            <a:solidFill>
              <a:srgbClr val="C0392B"/>
            </a:solidFill>
            <a:effectLst/>
          </c:spPr>
          <c:invertIfNegative val="0"/>
          <c:dLbls>
            <c:numFmt formatCode="#,##0" sourceLinked="0"/>
            <c:txPr>
              <a:bodyPr/>
              <a:lstStyle/>
              <a:p>
                <a:pPr>
                  <a:defRPr b="0" i="0" strike="noStrike" sz="1000" u="none">
                    <a:solidFill>
                      <a:srgbClr val="C0392B"/>
                    </a:solidFill>
                    <a:latin typeface="Arial"/>
                  </a:defRPr>
                </a:pPr>
              </a:p>
            </c:txPr>
            <c:showLegendKey val="0"/>
            <c:showVal val="1"/>
            <c:showCatName val="0"/>
            <c:showSerName val="0"/>
            <c:showPercent val="0"/>
            <c:showBubbleSize val="0"/>
            <c:showLeaderLines val="0"/>
          </c:dLbls>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50</c:v>
                </c:pt>
                <c:pt idx="1">
                  <c:v>68</c:v>
                </c:pt>
                <c:pt idx="2">
                  <c:v>92</c:v>
                </c:pt>
                <c:pt idx="3">
                  <c:v>121</c:v>
                </c:pt>
                <c:pt idx="4">
                  <c:v>151</c:v>
                </c:pt>
                <c:pt idx="5">
                  <c:v>180</c:v>
                </c:pt>
              </c:numCache>
            </c:numRef>
          </c:val>
        </c:ser>
        <c:dLbls>
          <c:numFmt formatCode="#,##0" sourceLinked="0"/>
          <c:txPr>
            <a:bodyPr/>
            <a:lstStyle/>
            <a:p>
              <a:pPr>
                <a:defRPr b="0" i="0" strike="noStrike" sz="1000" u="none">
                  <a:solidFill>
                    <a:srgbClr val="C039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2D56"/>
                </a:solidFill>
                <a:latin typeface="Arial"/>
              </a:defRPr>
            </a:pPr>
            <a:r>
              <a:rPr sz="1100" b="0" i="0" u="none" strike="noStrike">
                <a:solidFill>
                  <a:srgbClr val="0F2D56"/>
                </a:solidFill>
                <a:latin typeface="Arial"/>
              </a:rPr>
              <a:t>Growth Index (Jan 2026 = 100)</a:t>
            </a:r>
          </a:p>
        </c:rich>
      </c:tx>
      <c:layout/>
      <c:overlay val="0"/>
    </c:title>
    <c:autoTitleDeleted val="0"/>
    <c:plotArea>
      <c:layout/>
      <c:lineChart>
        <c:varyColors val="0"/>
        <c:ser>
          <c:idx val="0"/>
          <c:order val="0"/>
          <c:tx>
            <c:strRef>
              <c:f>Sheet1!$B$1</c:f>
              <c:strCache>
                <c:ptCount val="1"/>
                <c:pt idx="0">
                  <c:v>Revenue Index (Jan=100)</c:v>
                </c:pt>
              </c:strCache>
            </c:strRef>
          </c:tx>
          <c:spPr>
            <a:solidFill>
              <a:srgbClr val="1A5FA8"/>
            </a:solidFill>
            <a:ln w="38100" cap="flat">
              <a:solidFill>
                <a:srgbClr val="1A5F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5FA8"/>
              </a:solidFill>
              <a:ln w="9525" cap="flat">
                <a:solidFill>
                  <a:srgbClr val="1A5FA8"/>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100</c:v>
                </c:pt>
                <c:pt idx="1">
                  <c:v>115</c:v>
                </c:pt>
                <c:pt idx="2">
                  <c:v>140</c:v>
                </c:pt>
                <c:pt idx="3">
                  <c:v>165</c:v>
                </c:pt>
                <c:pt idx="4">
                  <c:v>185</c:v>
                </c:pt>
                <c:pt idx="5">
                  <c:v>200</c:v>
                </c:pt>
              </c:numCache>
            </c:numRef>
          </c:val>
          <c:smooth val="0"/>
        </c:ser>
        <c:ser>
          <c:idx val="1"/>
          <c:order val="1"/>
          <c:tx>
            <c:strRef>
              <c:f>Sheet1!$C$1</c:f>
              <c:strCache>
                <c:ptCount val="1"/>
                <c:pt idx="0">
                  <c:v>Cloud Cost Index (Jan=100)</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100</c:v>
                </c:pt>
                <c:pt idx="1">
                  <c:v>136</c:v>
                </c:pt>
                <c:pt idx="2">
                  <c:v>184</c:v>
                </c:pt>
                <c:pt idx="3">
                  <c:v>242</c:v>
                </c:pt>
                <c:pt idx="4">
                  <c:v>302</c:v>
                </c:pt>
                <c:pt idx="5">
                  <c:v>360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6-Month Spend ($K)</c:v>
                </c:pt>
              </c:strCache>
            </c:strRef>
          </c:tx>
          <c:spPr>
            <a:solidFill>
              <a:srgbClr val="1A5FA8"/>
            </a:solidFill>
            <a:effectLst/>
          </c:spPr>
          <c:invertIfNegative val="0"/>
          <c:dLbls>
            <c:numFmt formatCode="#,##0" sourceLinked="0"/>
            <c:txPr>
              <a:bodyPr/>
              <a:lstStyle/>
              <a:p>
                <a:pPr>
                  <a:defRPr b="0" i="0" strike="noStrike" sz="900" u="none">
                    <a:solidFill>
                      <a:srgbClr val="0F2D56"/>
                    </a:solidFill>
                    <a:latin typeface="Arial"/>
                  </a:defRPr>
                </a:pPr>
              </a:p>
            </c:txPr>
            <c:showLegendKey val="0"/>
            <c:showVal val="1"/>
            <c:showCatName val="0"/>
            <c:showSerName val="0"/>
            <c:showPercent val="0"/>
            <c:showBubbleSize val="0"/>
            <c:showLeaderLines val="0"/>
          </c:dLbls>
          <c:dPt>
            <c:idx val="0"/>
            <c:invertIfNegative val="0"/>
            <c:bubble3D val="0"/>
            <c:spPr>
              <a:solidFill>
                <a:srgbClr val="1A5FA8"/>
              </a:solidFill>
              <a:effectLst/>
            </c:spPr>
          </c:dPt>
          <c:dPt>
            <c:idx val="1"/>
            <c:invertIfNegative val="0"/>
            <c:bubble3D val="0"/>
            <c:spPr>
              <a:solidFill>
                <a:srgbClr val="1A5FA8"/>
              </a:solidFill>
              <a:effectLst/>
            </c:spPr>
          </c:dPt>
          <c:dPt>
            <c:idx val="2"/>
            <c:invertIfNegative val="0"/>
            <c:bubble3D val="0"/>
            <c:spPr>
              <a:solidFill>
                <a:srgbClr val="1A5FA8"/>
              </a:solidFill>
              <a:effectLst/>
            </c:spPr>
          </c:dPt>
          <c:dPt>
            <c:idx val="3"/>
            <c:invertIfNegative val="0"/>
            <c:bubble3D val="0"/>
            <c:spPr>
              <a:solidFill>
                <a:srgbClr val="1A5FA8"/>
              </a:solidFill>
              <a:effectLst/>
            </c:spPr>
          </c:dPt>
          <c:dPt>
            <c:idx val="4"/>
            <c:invertIfNegative val="0"/>
            <c:bubble3D val="0"/>
            <c:spPr>
              <a:solidFill>
                <a:srgbClr val="1A5FA8"/>
              </a:solidFill>
              <a:effectLst/>
            </c:spPr>
          </c:dPt>
          <c:dPt>
            <c:idx val="5"/>
            <c:invertIfNegative val="0"/>
            <c:bubble3D val="0"/>
            <c:spPr>
              <a:solidFill>
                <a:srgbClr val="1A5FA8"/>
              </a:solidFill>
              <a:effectLst/>
            </c:spPr>
          </c:dPt>
          <c:dPt>
            <c:idx val="6"/>
            <c:invertIfNegative val="0"/>
            <c:bubble3D val="0"/>
            <c:spPr>
              <a:solidFill>
                <a:srgbClr val="1A5FA8"/>
              </a:solidFill>
              <a:effectLst/>
            </c:spPr>
          </c:dPt>
          <c:dPt>
            <c:idx val="7"/>
            <c:invertIfNegative val="0"/>
            <c:bubble3D val="0"/>
            <c:spPr>
              <a:solidFill>
                <a:srgbClr val="1A5FA8"/>
              </a:solidFill>
              <a:effectLst/>
            </c:spPr>
          </c:dPt>
          <c:dPt>
            <c:idx val="8"/>
            <c:invertIfNegative val="0"/>
            <c:bubble3D val="0"/>
            <c:spPr>
              <a:solidFill>
                <a:srgbClr val="E07B00"/>
              </a:solidFill>
              <a:effectLst/>
            </c:spPr>
          </c:dPt>
          <c:dPt>
            <c:idx val="9"/>
            <c:invertIfNegative val="0"/>
            <c:bubble3D val="0"/>
            <c:spPr>
              <a:solidFill>
                <a:srgbClr val="E07B00"/>
              </a:solidFill>
              <a:effectLst/>
            </c:spPr>
          </c:dPt>
          <c:dPt>
            <c:idx val="10"/>
            <c:invertIfNegative val="0"/>
            <c:bubble3D val="0"/>
            <c:spPr>
              <a:solidFill>
                <a:srgbClr val="C0392B"/>
              </a:solidFill>
              <a:effectLst/>
            </c:spPr>
          </c:dPt>
          <c:dPt>
            <c:idx val="11"/>
            <c:invertIfNegative val="0"/>
            <c:bubble3D val="0"/>
            <c:spPr>
              <a:solidFill>
                <a:srgbClr val="C0392B"/>
              </a:solidFill>
              <a:effectLst/>
            </c:spPr>
          </c:dPt>
          <c:cat>
            <c:multiLvlStrRef>
              <c:f>Sheet1!$A$2:$A$13</c:f>
              <c:multiLvlStrCache>
                <c:ptCount val="12"/>
                <c:lvl>
                  <c:pt idx="0">
                    <c:v>CloudWatch</c:v>
                  </c:pt>
                  <c:pt idx="1">
                    <c:v>SQS</c:v>
                  </c:pt>
                  <c:pt idx="2">
                    <c:v>Lambda</c:v>
                  </c:pt>
                  <c:pt idx="3">
                    <c:v>EBS</c:v>
                  </c:pt>
                  <c:pt idx="4">
                    <c:v>ALB</c:v>
                  </c:pt>
                  <c:pt idx="5">
                    <c:v>NAT Gateway</c:v>
                  </c:pt>
                  <c:pt idx="6">
                    <c:v>S3</c:v>
                  </c:pt>
                  <c:pt idx="7">
                    <c:v>EFS</c:v>
                  </c:pt>
                  <c:pt idx="8">
                    <c:v>SageMaker</c:v>
                  </c:pt>
                  <c:pt idx="9">
                    <c:v>EKS</c:v>
                  </c:pt>
                  <c:pt idx="10">
                    <c:v>RDS</c:v>
                  </c:pt>
                  <c:pt idx="11">
                    <c:v>EC2</c:v>
                  </c:pt>
                </c:lvl>
              </c:multiLvlStrCache>
            </c:multiLvlStrRef>
          </c:cat>
          <c:val>
            <c:numRef>
              <c:f>Sheet1!$B$2:$B$13</c:f>
              <c:numCache>
                <c:formatCode>General</c:formatCode>
                <c:ptCount val="12"/>
                <c:pt idx="0">
                  <c:v>13.6</c:v>
                </c:pt>
                <c:pt idx="1">
                  <c:v>8.7</c:v>
                </c:pt>
                <c:pt idx="2">
                  <c:v>7.1</c:v>
                </c:pt>
                <c:pt idx="3">
                  <c:v>14.2</c:v>
                </c:pt>
                <c:pt idx="4">
                  <c:v>19.4</c:v>
                </c:pt>
                <c:pt idx="5">
                  <c:v>27.2</c:v>
                </c:pt>
                <c:pt idx="6">
                  <c:v>35</c:v>
                </c:pt>
                <c:pt idx="7">
                  <c:v>55.4</c:v>
                </c:pt>
                <c:pt idx="8">
                  <c:v>64.9</c:v>
                </c:pt>
                <c:pt idx="9">
                  <c:v>130.9</c:v>
                </c:pt>
                <c:pt idx="10">
                  <c:v>140.2</c:v>
                </c:pt>
                <c:pt idx="11">
                  <c:v>145.4</c:v>
                </c:pt>
              </c:numCache>
            </c:numRef>
          </c:val>
        </c:ser>
        <c:dLbls>
          <c:numFmt formatCode="#,##0" sourceLinked="0"/>
          <c:txPr>
            <a:bodyPr/>
            <a:lstStyle/>
            <a:p>
              <a:pPr>
                <a:defRPr b="0" i="0" strike="noStrike" sz="900" u="none">
                  <a:solidFill>
                    <a:srgbClr val="0F2D5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A4A5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CBD5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2D56"/>
                </a:solidFill>
                <a:latin typeface="Arial"/>
              </a:defRPr>
            </a:pPr>
            <a:r>
              <a:rPr sz="1100" b="0" i="0" u="none" strike="noStrike">
                <a:solidFill>
                  <a:srgbClr val="0F2D56"/>
                </a:solidFill>
                <a:latin typeface="Arial"/>
              </a:rPr>
              <a:t>Monthly Savings Opportunity by Category ($K)</a:t>
            </a:r>
          </a:p>
        </c:rich>
      </c:tx>
      <c:layout/>
      <c:overlay val="0"/>
    </c:title>
    <c:autoTitleDeleted val="0"/>
    <c:plotArea>
      <c:layout/>
      <c:barChart>
        <c:barDir val="bar"/>
        <c:grouping val="clustered"/>
        <c:varyColors val="0"/>
        <c:ser>
          <c:idx val="0"/>
          <c:order val="0"/>
          <c:tx>
            <c:strRef>
              <c:f>Sheet1!$B$1</c:f>
              <c:strCache>
                <c:ptCount val="1"/>
                <c:pt idx="0">
                  <c:v>Monthly Savings Opportunity ($K)</c:v>
                </c:pt>
              </c:strCache>
            </c:strRef>
          </c:tx>
          <c:spPr>
            <a:solidFill>
              <a:srgbClr val="1A8A4A"/>
            </a:solidFill>
            <a:effectLst/>
          </c:spPr>
          <c:invertIfNegative val="0"/>
          <c:dLbls>
            <c:numFmt formatCode="#,##0" sourceLinked="0"/>
            <c:txPr>
              <a:bodyPr/>
              <a:lstStyle/>
              <a:p>
                <a:pPr>
                  <a:defRPr b="0" i="0" strike="noStrike" sz="1100" u="none">
                    <a:solidFill>
                      <a:srgbClr val="0F2D56"/>
                    </a:solidFill>
                    <a:latin typeface="Arial"/>
                  </a:defRPr>
                </a:pPr>
              </a:p>
            </c:txPr>
            <c:showLegendKey val="0"/>
            <c:showVal val="1"/>
            <c:showCatName val="0"/>
            <c:showSerName val="0"/>
            <c:showPercent val="0"/>
            <c:showBubbleSize val="0"/>
            <c:showLeaderLines val="0"/>
          </c:dLbls>
          <c:dPt>
            <c:idx val="0"/>
            <c:invertIfNegative val="0"/>
            <c:bubble3D val="0"/>
            <c:spPr>
              <a:solidFill>
                <a:srgbClr val="1A8A4A"/>
              </a:solidFill>
              <a:effectLst/>
            </c:spPr>
          </c:dPt>
          <c:dPt>
            <c:idx val="1"/>
            <c:invertIfNegative val="0"/>
            <c:bubble3D val="0"/>
            <c:spPr>
              <a:solidFill>
                <a:srgbClr val="E07B00"/>
              </a:solidFill>
              <a:effectLst/>
            </c:spPr>
          </c:dPt>
          <c:dPt>
            <c:idx val="2"/>
            <c:invertIfNegative val="0"/>
            <c:bubble3D val="0"/>
            <c:spPr>
              <a:solidFill>
                <a:srgbClr val="1A8A4A"/>
              </a:solidFill>
              <a:effectLst/>
            </c:spPr>
          </c:dPt>
          <c:dPt>
            <c:idx val="3"/>
            <c:invertIfNegative val="0"/>
            <c:bubble3D val="0"/>
            <c:spPr>
              <a:solidFill>
                <a:srgbClr val="1A8A4A"/>
              </a:solidFill>
              <a:effectLst/>
            </c:spPr>
          </c:dPt>
          <c:dPt>
            <c:idx val="4"/>
            <c:invertIfNegative val="0"/>
            <c:bubble3D val="0"/>
            <c:spPr>
              <a:solidFill>
                <a:srgbClr val="1A5FA8"/>
              </a:solidFill>
              <a:effectLst/>
            </c:spPr>
          </c:dPt>
          <c:dPt>
            <c:idx val="5"/>
            <c:invertIfNegative val="0"/>
            <c:bubble3D val="0"/>
            <c:spPr>
              <a:solidFill>
                <a:srgbClr val="0E7C87"/>
              </a:solidFill>
              <a:effectLst/>
            </c:spPr>
          </c:dPt>
          <c:cat>
            <c:multiLvlStrRef>
              <c:f>Sheet1!$A$2:$A$7</c:f>
              <c:multiLvlStrCache>
                <c:ptCount val="6"/>
                <c:lvl>
                  <c:pt idx="0">
                    <c:v>Compute
Right-Sizing</c:v>
                  </c:pt>
                  <c:pt idx="1">
                    <c:v>Database
Right-Sizing*</c:v>
                  </c:pt>
                  <c:pt idx="2">
                    <c:v>Storage
Lifecycle</c:v>
                  </c:pt>
                  <c:pt idx="3">
                    <c:v>Data Transfer
Optimization</c:v>
                  </c:pt>
                  <c:pt idx="4">
                    <c:v>RI / Savings
Plan</c:v>
                  </c:pt>
                  <c:pt idx="5">
                    <c:v>Spot
Strategy</c:v>
                  </c:pt>
                </c:lvl>
              </c:multiLvlStrCache>
            </c:multiLvlStrRef>
          </c:cat>
          <c:val>
            <c:numRef>
              <c:f>Sheet1!$B$2:$B$7</c:f>
              <c:numCache>
                <c:formatCode>General</c:formatCode>
                <c:ptCount val="6"/>
                <c:pt idx="0">
                  <c:v>9.03</c:v>
                </c:pt>
                <c:pt idx="1">
                  <c:v>4.67</c:v>
                </c:pt>
                <c:pt idx="2">
                  <c:v>5.55</c:v>
                </c:pt>
                <c:pt idx="3">
                  <c:v>30.57</c:v>
                </c:pt>
                <c:pt idx="4">
                  <c:v>0.17</c:v>
                </c:pt>
                <c:pt idx="5">
                  <c:v>0.51</c:v>
                </c:pt>
              </c:numCache>
            </c:numRef>
          </c:val>
        </c:ser>
        <c:dLbls>
          <c:numFmt formatCode="#,##0" sourceLinked="0"/>
          <c:txPr>
            <a:bodyPr/>
            <a:lstStyle/>
            <a:p>
              <a:pPr>
                <a:defRPr b="0" i="0" strike="noStrike" sz="1100" u="none">
                  <a:solidFill>
                    <a:srgbClr val="0F2D5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A4A5C"/>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b"/>
        <c:majorGridlines>
          <c:spPr>
            <a:ln w="6350" cap="flat">
              <a:solidFill>
                <a:srgbClr val="CBD5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2D56"/>
                </a:solidFill>
                <a:latin typeface="Arial"/>
              </a:defRPr>
            </a:pPr>
            <a:r>
              <a:rPr sz="1100" b="0" i="0" u="none" strike="noStrike">
                <a:solidFill>
                  <a:srgbClr val="0F2D56"/>
                </a:solidFill>
                <a:latin typeface="Arial"/>
              </a:rPr>
              <a:t>Monthly Savings Scenarios ($K/month)</a:t>
            </a:r>
          </a:p>
        </c:rich>
      </c:tx>
      <c:layout/>
      <c:overlay val="0"/>
    </c:title>
    <c:autoTitleDeleted val="0"/>
    <c:plotArea>
      <c:layout/>
      <c:barChart>
        <c:barDir val="col"/>
        <c:grouping val="clustered"/>
        <c:varyColors val="0"/>
        <c:ser>
          <c:idx val="0"/>
          <c:order val="0"/>
          <c:tx>
            <c:strRef>
              <c:f>Sheet1!$B$1</c:f>
              <c:strCache>
                <c:ptCount val="1"/>
                <c:pt idx="0">
                  <c:v>Monthly Savings Scenario ($K)</c:v>
                </c:pt>
              </c:strCache>
            </c:strRef>
          </c:tx>
          <c:spPr>
            <a:solidFill>
              <a:srgbClr val="E07B00"/>
            </a:solidFill>
            <a:effectLst/>
          </c:spPr>
          <c:invertIfNegative val="0"/>
          <c:dLbls>
            <c:numFmt formatCode="#,##0" sourceLinked="0"/>
            <c:txPr>
              <a:bodyPr/>
              <a:lstStyle/>
              <a:p>
                <a:pPr>
                  <a:defRPr b="0" i="0" strike="noStrike" sz="1100" u="none">
                    <a:solidFill>
                      <a:srgbClr val="0F2D56"/>
                    </a:solidFill>
                    <a:latin typeface="Arial"/>
                  </a:defRPr>
                </a:pPr>
              </a:p>
            </c:txPr>
            <c:showLegendKey val="0"/>
            <c:showVal val="1"/>
            <c:showCatName val="0"/>
            <c:showSerName val="0"/>
            <c:showPercent val="0"/>
            <c:showBubbleSize val="0"/>
            <c:showLeaderLines val="0"/>
          </c:dLbls>
          <c:dPt>
            <c:idx val="0"/>
            <c:invertIfNegative val="0"/>
            <c:bubble3D val="0"/>
            <c:spPr>
              <a:solidFill>
                <a:srgbClr val="E07B00"/>
              </a:solidFill>
              <a:effectLst/>
            </c:spPr>
          </c:dPt>
          <c:dPt>
            <c:idx val="1"/>
            <c:invertIfNegative val="0"/>
            <c:bubble3D val="0"/>
            <c:spPr>
              <a:solidFill>
                <a:srgbClr val="1A8A4A"/>
              </a:solidFill>
              <a:effectLst/>
            </c:spPr>
          </c:dPt>
          <c:dPt>
            <c:idx val="2"/>
            <c:invertIfNegative val="0"/>
            <c:bubble3D val="0"/>
            <c:spPr>
              <a:solidFill>
                <a:srgbClr val="0E7C87"/>
              </a:solidFill>
              <a:effectLst/>
            </c:spPr>
          </c:dPt>
          <c:dPt>
            <c:idx val="3"/>
            <c:invertIfNegative val="0"/>
            <c:bubble3D val="0"/>
            <c:spPr>
              <a:solidFill>
                <a:srgbClr val="1A5FA8"/>
              </a:solidFill>
              <a:effectLst/>
            </c:spPr>
          </c:dPt>
          <c:cat>
            <c:multiLvlStrRef>
              <c:f>Sheet1!$A$2:$A$5</c:f>
              <c:multiLvlStrCache>
                <c:ptCount val="4"/>
                <c:lvl>
                  <c:pt idx="0">
                    <c:v>Worst Case</c:v>
                  </c:pt>
                  <c:pt idx="1">
                    <c:v>Expected Case</c:v>
                  </c:pt>
                  <c:pt idx="2">
                    <c:v>Best Case</c:v>
                  </c:pt>
                  <c:pt idx="3">
                    <c:v>CFO Target</c:v>
                  </c:pt>
                </c:lvl>
              </c:multiLvlStrCache>
            </c:multiLvlStrRef>
          </c:cat>
          <c:val>
            <c:numRef>
              <c:f>Sheet1!$B$2:$B$5</c:f>
              <c:numCache>
                <c:formatCode>General</c:formatCode>
                <c:ptCount val="4"/>
                <c:pt idx="0">
                  <c:v>31.4</c:v>
                </c:pt>
                <c:pt idx="1">
                  <c:v>51.7</c:v>
                </c:pt>
                <c:pt idx="2">
                  <c:v>53.9</c:v>
                </c:pt>
                <c:pt idx="3">
                  <c:v>60</c:v>
                </c:pt>
              </c:numCache>
            </c:numRef>
          </c:val>
        </c:ser>
        <c:dLbls>
          <c:numFmt formatCode="#,##0" sourceLinked="0"/>
          <c:txPr>
            <a:bodyPr/>
            <a:lstStyle/>
            <a:p>
              <a:pPr>
                <a:defRPr b="0" i="0" strike="noStrike" sz="1100" u="none">
                  <a:solidFill>
                    <a:srgbClr val="0F2D5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SLIDE
Key Message: This is an executive investment approval decision, not a technical review.
Speaking Points:
- Welcome and frame the session: we are presenting the findings and plan from a 15-day FinOps portfolio case study of LendFlow's AWS environment.
- This is a decision meeting. We need approval, resources, and sponsorship to execute.
- Three things we will cover: the problem, the opportunity, and the plan.
- Emphasise: all figures are drawn from structured analysis of actual AWS cost data. We have been rigorous about distinguishing confirmed findings from estimates and conditional scenarios.
- Set expectations: the honest story includes a gap between our modelled savings and the CFO target. We will explain that gap transparently and show the path to closing it.
Anticipated Questions:
- "Is this a real analysis or a theoretical exercise?" — This is a structured FinOps analysis completed through Day 13 of real cost data patterns. All findings are traceable to source data.
- "What is the ask today?" — Approval to execute a 90-day program. Details on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EXECUTIVE SUMMARY
Key Message: Acknowledge the gap between modelled savings and the CFO target upfront. Do not hide or minimise it.
Speaking Points:
- Our analysis identified $51,677.71/month in modelled optimisation opportunities across six categories.
- This is $8,322.29/month short of the $60,000 target — and we are being transparent about that gap rather than inflating numbers to close it.
- The gap exists because some opportunities (database right-sizing, architecture changes) require additional validation before we can commit to specific savings figures with high confidence.
- The 90-day program is designed to: (a) realise the high-confidence savings quickly, (b) validate and quantify the conditional savings, and (c) identify additional opportunities.
- Governance and automation ensure that realised savings are sustained — not eroded by uncontrolled spending.
CFO Question: "What is your confidence level?"
Answer: High confidence on compute right-sizing ($9,032.50), storage lifecycle ($5,549.01), and data transfer ($30,574.46) — these are directly measurable. Medium/conditional on database ($4,672.34) and RI/Spot — these depend on load pattern validation. Worst/best/expected scenarios reflect this uncertainty range.
CFO Question: "Why can't you just tell me you'll hit $60,000?"
Answer: Because we are committed to accuracy over optimism. Inflating a savings projection that fails to materialize damages credibility more than a transparent gap that we are actively working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PROBLEM
Key Message: This is not just a high AWS bill. It is a structural margin compression problem.
Speaking Points:
- In January, AWS spend was $50,000/month. By June, it had reached $180,000 — a 3.6× increase in six months.
- Revenue approximately doubled over the same period.
- That means cloud spend is growing roughly 1.8× faster than revenue — compressing gross margins on every transaction.
- If this trajectory continues unaddressed, cloud spend will approach $300,000/month by year-end.
- Note on revenue index: we are using an indexed representation (100 → 200) because exact monthly revenue figures were not available in the FinOps dataset. The trend direction is consistent with business context.
- This is a board-level margin problem, not just a DevOps housekeeping issue.
CFO Question: "Is the revenue doubling real or an assumption?"
Answer: The revenue doubling is the business-stated context. We indexed it (100 → 200) to show the relative growth differential without claiming specific revenue figures we don't have in the cost dataset.
CFO Question: "What caused this growth?"
Answer: Combination of business volume growth, new service launches, and cloud waste that accumulated without governance controls — which is exactly what this program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WHERE THE MONEY IS GOING
Key Message: Spend is highly concentrated. Four services represent 80% of costs — which means focused optimisation creates maximum impact.
Speaking Points:
- Over six months, EC2 ($145,373), RDS ($140,170), EKS ($130,881), and SageMaker ($64,875) together account for ~80% of total spend.
- This concentration is good news for optimisation: we don't need to touch everything, just the top services.
- EC2 over-provisioning is a classic pattern in fast-scaling environments — teams provision for peak and never right-size.
- RDS costs include both over-provisioned instances and multi-AZ deployments that may not all be required for non-production environments.
- EKS costs include worker node sizing, persistent volumes, and data transfer that can all be optimised.
- SageMaker is relevant primarily for the Data Engineering team — right-sizing training jobs and lifecycle policies are the key levers.
CFO Question: "Why did SageMaker become such a large cost?"
Answer: SageMaker costs grow quickly when training jobs are left running after completion and when instance types are over-specified. Lifecycle policies and automated shutdown address this.
CFO Question: "What about NAT Gateway — that seems high?"
Answer: NAT Gateway charges ($27,216 over 6 months) reflect data transfer through managed NAT. This is addressed in the data transfer optimisation category — it's a top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ROOT CAUSES OF WASTE
Key Message: Cloud waste is not random — it falls into eight predictable categories, each with a specific remediation approach.
Speaking Points:
- We categorized every cost optimisation opportunity found in the analysis into eight root causes.
- These categories are not additive — they are distinct sources of waste with separate remediation owners.
- Compute inefficiency and storage are the most straightforward to address: right-sizing and lifecycle policies.
- Data transfer is the largest single opportunity but requires architectural changes — not just configuration tweaks.
- Underutilized commitments (RIs) represent a procurement and capacity planning governance issue.
- Anomaly-driven spend ($114,110.90 observed over the analysis period) is the most dangerous category because it is unpredictable and often undetected for days.
- Tagging gaps are a visibility problem — without accurate tags, we cannot attribute costs or hold teams accountable.
Important: Do not present these as additive savings figures. Some opportunities overlap (e.g., right-sizing a reserved instance versus purchasing a new RI for a right-sized instance). The savings model on slide 6 accounts for this.
CFO Question: "Which of these is causing the fastest cost growth?"
Answer: Scaling behavior anomalies and data transfer are the fastest-growing because they scale with business volume in a non-linear way without governance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THE SAVINGS OPPORTUNITY
Key Message: We have a rigorous, scenario-based savings model. We show the gap to the $60,000 target transparently and explain how the program closes it.
Speaking Points:
- Data transfer optimisation ($30,574.46) is the single largest opportunity — primarily cross-AZ traffic, NAT Gateway charges, and egress. This requires architecture changes and has medium-to-high confidence.
- Compute right-sizing ($9,032.50) is high-confidence — directly supported by resource utilisation analysis of 100 candidates.
- Storage lifecycle ($5,549.01) is high-confidence — 192 resources with 90+ days since access confirmed.
- Database right-sizing ($4,672.34) is conditional — requires validation against actual DB sizing metrics before commitment. Aurora Serverless is an alternative scenario at $5.8K but is mutually exclusive with standard right-sizing.
- RI/SP optimisation ($172.51) is the risk-adjusted net benefit — current utilisation at 71.4% means some RIs are not fully utilized.
- Spot ($508.81) is modelled conservatively at 10% interruption assumption.
- Total: $51,677.71 expected vs $60,000 target. The $8,322.29 gap will be pursued through: architecture deep-dive, additional data transfer opportunities, and further workload profiling.
CFO Question: "Why doesn't this reach $60,000?"
Answer: We chose accuracy over optimism. The gap reflects genuinely conditional savings that require validation before we can claim them. The 90-day program validates and quantifies those opportunities.
CFO Question: "What about double-counting?"
Answer: These categories are mutually exclusive. Aurora Serverless ($5.8K) and standard DB right-sizing ($4,672.34) are listed as alternatives — we use only the higher-confidence option in the expected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WEEKS 1–2 QUICK WINS
Key Message: These six actions deliver material savings within 30 days with minimal disruption and low compliance risk.
Speaking Points:
- Storage lifecycle policies are the most straightforward: configure S3 and EFS tiering rules for 192 resources not accessed in 90+ days. This is a configuration change, not an architectural change.
- EC2 right-sizing phase 1 focuses on the lowest-risk candidates: dev/test instances and clearly over-provisioned production instances where headroom is &gt;60%.
- Non-production scheduled shutdown is a planning estimate ($836/month) — requires confirming which environments are truly non-production and establishing safe shutdown windows.
- Tagging remediation does not directly create savings but is prerequisite for accountability and accurate attribution.
- Anomaly alert routing routes existing AWS Cost Anomaly Detection alerts to the right teams — this is a monitoring enhancement, not a cost change.
- Implementation costs are marked TBD. We deliberately do not fabricate cost numbers — these will be finalised during implementation planning with engineering.
CFO Question: "Why are implementation costs TBD?"
Answer: Engineering effort estimation requires detailed scope definition. Providing false precision at this stage would be misleading. We will finalize these within the first week of program execution.
CFO Question: "How quickly will these appear on the AWS bill?"
Answer: Storage lifecycle changes take 24–48 hours to propagate. Right-sizing changes are visible immediately after instance modification. Expect to see Week 1–2 savings reflected in the following month's AWS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WEEKS 3–8 MEDIUM TERM
Key Message: Medium-term work requires more engineering effort but delivers the bulk of the savings — especially network/transfer optimisation.
Speaking Points:
- Network/transfer optimisation has the highest potential ($30,574.46 in the overall model) but is broken into sub-components: cross-AZ, cross-region, and egress. Note these are components of the $30,574.46 total from slide 6, not additional savings.
- Database right-sizing is conditional because we need actual DB CPU/connection metrics to validate the right-sizing recommendation. Aurora Serverless is an alternative architecture that may yield $5.8K — but these are mutually exclusive options.
- RI/Savings Plan optimisation: our model shows only $173/month net benefit because current RI utilisation is 71.4% — purchasing more RIs without fixing utilisation would worsen the problem. The strategy is: (a) improve utilisation on existing RIs, (b) let 47 expiring RIs roll off for analysis, (c) selectively renew based on validated demand.
- Spot adoption ($509/month) applies only to interruption-tolerant workloads: Reporting/Analytics, Document Processing, and Notification Service. Payment Gateway stays On-Demand always.
- Auto-scaling policies for 6 services reduce over-provisioning during off-peak periods.
CFO Question: "Are we taking on long-term RI commitments?"
Answer: No new long-term commitments until utilisation analysis is complete. We recommend 1-year Partial Upfront for maximum flexibility. 3-year commitments require separate CFO approval.
CFO Question: "What if usage changes?"
Answer: 1-year terms limit lock-in risk. Partial Upfront allows us to not use the commitment if the workload changes. Convertible RIs provide additional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WEEKS 9–12+ LONG TERM
Key Message: Optimisation is not a one-time project. Without structural prevention, cost creep returns within 6 months.
Speaking Points:
- The long-term strategy has three pillars: architecture optimisation, policy-as-code automation, and FinOps operating model.
- Architecture optimisation is about building cost-awareness into how we design systems — unit economics (cost per loan application), predictive scaling for known business events.
- Policy-as-code means moving from "detect and alert" to "prevent and enforce." SCPs prevent unauthorized regions and expensive instance types. Infracost in CI/CD means engineers see cost estimates before they commit code.
- The FinOps operating model ensures savings are measured, attributed, and sustained. Without a governance cadence, teams revert to over-provisioning.
- Crawl/Walk/Run maturity: we are currently in Crawl (basic visibility). The 90-day program moves us to Walk (active optimisation). Run is continuous optimisation with unit economics.
CFO Question: "What prevents cost creep from returning?"
Answer: Policy-as-code enforces guardrails automatically — teams cannot provision non-compliant resources. Automated remediation and weekly reviews catch drift early. The FinOps operating model creates accountability.
CFO Question: "What resources does this require long-term?"
Answer: One FinOps lead (can be internal), engineering time for initial automation setup, and quarterly review cadence. The cost is significantly lower than the savings sustained.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RECOMMENDATION SCORECARD
Key Message: Every recommendation has a confidence rating, risk assessment, and compliance requirement. We are transparent about what we know and what requires validation.
Speaking Points:
- This table is the CFO's reference document. Every major recommendation is listed with its expected, worst, and best case savings.
- Implementation costs are marked TBD — this is intentional. We will not fabricate numbers that have not been estimated with validated scope.
- Data Transfer Optimisation has the highest expected value ($30,574.46) but also the widest range ($15,000–$35,000) — reflecting that this is the most architecture-dependent category.
- DB Right-Sizing is marked Conditional because the available dataset did not contain sufficient granular DB CPU/connection metrics for high-confidence sizing. We need 2–3 weeks of monitoring data before proceeding.
- Confidence codes: High ✓ = directly measured; Med ~ = scenario-based; Cond. ! = requires additional validation; Low ~ = conservative estimate.
CFO Question: "Which savings are actually guaranteed?"
Answer: None are guaranteed — this is a financial services environment where changes require testing and rollback plans. 'High confidence' means the opportunity is confirmed by data. Realisation depends on implementation.
CFO Question: "How are savings measured and attributed?"
Answer: AWS Cost Explorer tagged by team/service. Monthly FinOps report compares pre/post implementation spend for each recommendation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RISK ASSESSMENT
Key Message: We have identified every major risk and have specific mitigations for each. The program is designed to be safe.
Speaking Points:
- Availability risk is the CTO's primary concern. Our response: every production change has a rollback plan, load testing gate, and canary deployment. We will not right-size a production database without a tested rollback procedure.
- Compliance risk: Meera Iyer's team reviews all changes to PCI DSS, SOC 2, and RBI-regulated workloads before implementation. No optimisation saves money if it creates an audit finding.
- Savings realization risk: if we hit Day 45 and tracking shows we will miss the target, we have a re-scoping review built into the plan. Additional opportunities will be identified.
- RI over-commitment: we are explicitly NOT recommending aggressive RI purchasing at this stage. 1-year Partial Upfront only, after utilisation analysis. This limits the downside if workload patterns change.
- Engineering velocity: the plan is phased to protect feature work. Policy-as-code is enforced in CI but does not block feature development — it requires cost estimates.
CFO Question: "What is the risk to platform availability?"
Answer: We rate it Low likelihood because every change is tested, canary deployed, and has a rollback plan. The Payment Gateway remains On-Demand only — no Spot, no right-sizing risk there.
CFO Question: "How do we ensure compliance is maintained?"
Answer: Compliance review is a mandatory gate before any change to regulated workloads. Meera Iyer's team is a required approver in our RACI.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GOVERNANCE FRAMEWORK
Key Message: Savings don't disappear if there is a governance structure with teeth — clear accountability, escalation paths, and automated monitoring.
Speaking Points:
- The RACI makes clear: the CFO is Accountable for budget approval and savings targets. The CTO is Accountable for implementation. Compliance is a required Consulted party for any regulated workload.
- Budget threshold alerts are automated — the team does not need to manually check spend. At 80% of monthly budget, alerts fire automatically. At 100%, spend requires CFO/CTO approval to continue.
- The 120% escalation threshold is a board-level governance mechanism — this ensures no runaway spend goes unnoticed.
- Review cadence: daily automated checks catch anomalies early (MTTD target: P1 in 1 hour, P2 in 4 hours). Weekly tactical reviews address emerging issues. Monthly reviews report on savings realization. Quarterly strategic reviews assess FinOps maturity.
CFO Question: "How do we ensure savings don't disappear six months from now?"
Answer: The governance framework creates accountability that doesn't depend on any individual. Budget thresholds are automated. RACI makes clear who owns each category. Quarterly strategic reviews assess whether the savings are being sustained.
CFO Question: "Who owns each remediation?"
Answer: See RACI. R = Responsible (does the work). A = Accountable (approves and owns outcome). C = Consulted (must be involved). I =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POLICY-AS-CODE &amp; AUTOMATION
Key Message: Policy-as-code moves FinOps from "detect and react" to "prevent and enforce." Engineers see costs before they ship — not after the bill arrives.
Speaking Points:
- The CI/CD pipeline integration is the most important structural change: Infracost runs on every pull request and shows engineers the estimated cost impact of their change. A cost threshold gate blocks PRs that exceed budget — same as a failing test.
- This means cost awareness is built into the development workflow. Engineers don't need to be FinOps experts — the tooling alerts them when a change is expensive.
- SCP guardrails are preventive — they block non-compliant resource creation at the AWS Organizations level. No one can create resources in unapproved regions or without required tags, regardless of IAM permissions.
- AWS Config rules provide continuous compliance monitoring — automated remediation handles common violations without human intervention.
- Slack and JIRA integration ensures alerts reach the right people in their existing workflows.
CFO Question: "What prevents cost creep from returning?"
Answer: SCP guardrails prevent the most common causes of uncontrolled spend at the infrastructure level. CI cost gates create developer awareness. Automated remediation handles drift without manual intervention. The governance cadence catches anything that slips through.
CFO Question: "Does this slow down engineering?"
Answer: The cost threshold gate adds a few seconds to the CI pipeline. The main change is that engineers see cost estimates in their PRs — this is informational, not blocking for normal-sized changes. Only significant cost increases trigger a review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90-DAY TIMELINE
Key Message: This is a phased, controlled program with built-in decision gates — not an all-or-nothing sprint.
Speaking Points:
- The plan is explicitly phased to manage risk and protect engineering velocity.
- Weeks 1–2 focus on the highest-confidence, lowest-risk changes: storage lifecycle, compute right-sizing phase 1, and monitoring setup.
- Weeks 3–8 tackle the more complex work: network architecture, database optimisation, and commitment strategy. These require more engineering effort but deliver the bulk of the savings.
- Weeks 9–12 focus on structural permanence: policy-as-code, automation, and measurement infrastructure.
- Decision gates at Weeks 4, 8, and 12 are formal checkpoints where we review savings realization, re-scope if needed, and get CFO sign-off.
- The Day 45 review is particularly important: if tracking shows we will miss the $60,000 target, we escalate and identify additional opportunities at that point.
CFO Question: "What happens if engineering cannot complete the plan in 90 days?"
Answer: The phased structure means the highest-value items (Weeks 1–2) are front-loaded. Even a partial delivery of the plan captures most of the modelled savings. The decision gates allow us to re-scope if capacity constraints arise.
CFO Question: "What resources do you need?"
Answer: Engineering allocation (estimated person-days per task — finalised in Week 1), Compliance review time for regulated workloads, and FinOps coordination lead. Specific headcount is TBD pending scope finalization.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PROJECTED FINANCIAL IMPACT
Key Message: Annualized figures assume full 12-month run-rate. Actual cash savings appear progressively as implementation completes.
Speaking Points:
- Expected monthly savings of $51,677.71 annualizes to $620,132.52 — a significant return on the investment in this program.
- The CFO target of $60,000/month ($720,000 annualized) remains the goal, with the $8,322.29 gap to be closed through validation and additional opportunities.
- Critical distinction: annualized figures assume the monthly savings are realised and sustained. They are not Year 1 cash savings — it takes time for implementation to complete and show up in the bill.
- Savings appear on the AWS bill progressively: Week 1–2 actions (storage, compute phase 1) visible in Month 2. Architecture changes visible in Month 3. RI savings depend on renewal timing.
CFO Question: "What happens if we only achieve 50% of projected savings?"
Answer: At 50% of expected case, monthly savings would be ~$25,839. This is still material but below the CFO target. Decision gates at Day 45 and Day 90 are specifically designed to detect this scenario early and trigger re-scoping or additional opportunity identification.
CFO Question: "How quickly will savings appear on the AWS bill?"
Answer: Quick wins (storage lifecycle, EC2 right-sizing) appear within 30 days. Architecture changes take 60–90 days. RI savings depend on when existing RIs expire and new ones are purchased. Cumulative savings build through the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RETURN ON FINOPS INVESTMENT
Key Message: FinOps program costs are TBD — we will not fabricate them. The ROI formula is provided so the CFO can populate the cost side once headcount and tooling decisions are made.
Speaking Points:
- Benefits are quantified where possible: $620,132.52–$646,843.68 annualized savings run-rate, $114,110.90 anomaly leakage reduction opportunity.
- Some benefits are qualitative but strategically important: forecastability, tag compliance, MTTD improvement. These prevent the next crisis, not just this one.
- Program costs are deliberately TBD. A typical FinOps program for a company this size might cost $200,000–$400,000 annually (personnel + tooling + effort), which would yield 2–3× ROI on the $620,132.52 savings — but we will not present that without the CFO's input on headcount decisions.
- The break-even formula: at $51,677.71/month in savings, break-even on a $100,000 implementation cost is ~2 days of realised savings (monthly savings ÷ 30 days = ~$1,723/day).
- The critical message: even if the FinOps program costs $300,000/year, the annualized savings of $620,132.52 yield a 2:1 ROI — and that excludes anomaly prevention and structural benefit.
CFO Question: "What resources do you need to execute this plan?"
Answer: We need: (1) engineering allocation for implementation — estimated in Wk 1 scope, (2) a FinOps lead or coordinator — FTE or contractor, (3) compliance review capacity for regulated workload changes, (4) tooling budget primarily for open-source tools with minimal licensing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SUCCESS METRICS / CFO SCORECARD
Key Message: We measure what matters. Every KPI has a baseline, target, owner, and cadence — this is the foundation for accountability.
Speaking Points:
- The CFO scorecard is the primary instrument for ongoing governance. It is reviewed monthly with the CFO and quarterly at the strategic level.
- Several baselines are marked TBD because they require instrumentation that will be deployed in Weeks 1–2 (e.g., MTTD tracking requires alert timestamp logging).
- Savings realization % is the most important metric: it measures whether the modelled opportunities are actually being captured on the AWS bill.
- Cost per transaction requires tagging infrastructure to be in place before it can be calculated — this is a Week 3–4 milestone.
- MTTD targets (P1 &lt;1 hour, P2 &lt;4 hours) are forward-looking targets. Historical MTTD cannot be calculated from the available data because detection/acknowledgement timestamps are not in the source dataset.
CFO Question: "How are savings measured and attributed?"
Answer: AWS Cost Explorer with cost allocation tags. Pre/post comparison for each optimisation category, normalized for volume changes. Monthly FinOps report validates savings against the model.
CFO Question: "What if the savings don't show up on the bill?"
Answer: Monthly savings tracking catches this within 30 days. Decision gate at Day 45 is the formal re-scope trigger. The FinOps team is accountable for explaining and resolving any variance between modelled and realised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THE ASK / Q&amp;A
Key Message: We have done the analysis. We have a plan. We need approval and sponsorship to execute.
Speaking Points:
- Summarize the story in 60 seconds: Cloud spend grew 3.6× in 6 months. We analysed every cost category. We found $51,677.71/month in modelled opportunities. We are $8,322.29 short of the $60,000 target and we have a transparent plan to close that gap. We need approval to execute.
- Ask 1 (Program Approval): This is the primary ask. Without approval, none of the work happens.
- Ask 2 (Engineering Capacity): We need engineering time. We are not asking for a blank check — scope is finalised in Week 1 with detailed task estimates.
- Ask 3 (Compliance Capacity): Meera's team needs to be available for regulated workload reviews. This is non-negotiable for PCI/SOC 2/RBI compliance.
- Ask 4 (RI/SP Approval): We are not purchasing RIs today. We are asking for pre-approval of a controlled process: validate utilisation, then purchase 1-year Partial Upfront. No 3-year commitments without separate CFO approval.
- Ask 5 (Guardrail Authority): SCPs and Config rules require organizational-level authority. Engineering teams will need to work within the guardrails — we need CFO support when teams push back.
- Ask 6 (Measurement Agreement): How savings are measured must be agreed upfront — otherwise there will be disagreements about what counts at Day 90.
- Ask 7 (CFO Sponsorship): When a team misses a remediation commitment and the FinOps lead escalates, we need CFO backing to hold the team accountable. Without executive sponsorship, the program loses teeth.
Recommended close: "We are asking for approval today. The 90-day clock starts when we have executive alignment. Every week of delay is approximately $45,000 in unrealised monthly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6"/>
        </a:solidFill>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0E7C87"/>
          </a:solidFill>
          <a:ln w="12700">
            <a:solidFill>
              <a:srgbClr val="0E7C87"/>
            </a:solidFill>
            <a:prstDash val="solid"/>
          </a:ln>
        </p:spPr>
      </p:sp>
      <p:sp>
        <p:nvSpPr>
          <p:cNvPr id="3" name="Shape 1"/>
          <p:cNvSpPr/>
          <p:nvPr/>
        </p:nvSpPr>
        <p:spPr>
          <a:xfrm>
            <a:off x="1097280" y="1097280"/>
            <a:ext cx="9966960" cy="4937760"/>
          </a:xfrm>
          <a:prstGeom prst="roundRect">
            <a:avLst>
              <a:gd name="adj" fmla="val 2222"/>
            </a:avLst>
          </a:prstGeom>
          <a:solidFill>
            <a:srgbClr val="FFFFFF"/>
          </a:solidFill>
          <a:ln w="12700">
            <a:solidFill>
              <a:srgbClr val="CBD5E1"/>
            </a:solidFill>
            <a:prstDash val="solid"/>
          </a:ln>
        </p:spPr>
      </p:sp>
      <p:sp>
        <p:nvSpPr>
          <p:cNvPr id="4" name="Text 2"/>
          <p:cNvSpPr txBox="1"/>
          <p:nvPr/>
        </p:nvSpPr>
        <p:spPr>
          <a:xfrm>
            <a:off x="1280160" y="1371600"/>
            <a:ext cx="9509760" cy="365760"/>
          </a:xfrm>
          <a:prstGeom prst="rect">
            <a:avLst/>
          </a:prstGeom>
          <a:noFill/>
          <a:ln/>
        </p:spPr>
        <p:txBody>
          <a:bodyPr wrap="square" lIns="0" tIns="0" rIns="0" bIns="0" rtlCol="0" anchor="ctr"/>
          <a:lstStyle/>
          <a:p>
            <a:pPr algn="ctr" indent="0" marL="0">
              <a:buNone/>
            </a:pPr>
            <a:r>
              <a:rPr lang="en-US" sz="1300" b="1" spc="300" kern="0" dirty="0">
                <a:solidFill>
                  <a:srgbClr val="0E7C87"/>
                </a:solidFill>
                <a:latin typeface="Calibri" pitchFamily="34" charset="0"/>
                <a:ea typeface="Calibri" pitchFamily="34" charset="-122"/>
                <a:cs typeface="Calibri" pitchFamily="34" charset="-120"/>
              </a:rPr>
              <a:t>CFO Review Panel</a:t>
            </a:r>
            <a:endParaRPr lang="en-US" sz="1300" dirty="0"/>
          </a:p>
        </p:txBody>
      </p:sp>
      <p:sp>
        <p:nvSpPr>
          <p:cNvPr id="5" name="Text 3"/>
          <p:cNvSpPr txBox="1"/>
          <p:nvPr/>
        </p:nvSpPr>
        <p:spPr>
          <a:xfrm>
            <a:off x="1280160" y="1783080"/>
            <a:ext cx="9509760" cy="822960"/>
          </a:xfrm>
          <a:prstGeom prst="rect">
            <a:avLst/>
          </a:prstGeom>
          <a:noFill/>
          <a:ln/>
        </p:spPr>
        <p:txBody>
          <a:bodyPr wrap="square" lIns="0" tIns="0" rIns="0" bIns="0" rtlCol="0" anchor="ctr"/>
          <a:lstStyle/>
          <a:p>
            <a:pPr algn="ctr" indent="0" marL="0">
              <a:buNone/>
            </a:pPr>
            <a:r>
              <a:rPr lang="en-US" sz="3800" b="1" dirty="0">
                <a:solidFill>
                  <a:srgbClr val="0F2D56"/>
                </a:solidFill>
                <a:latin typeface="Calibri" pitchFamily="34" charset="0"/>
                <a:ea typeface="Calibri" pitchFamily="34" charset="-122"/>
                <a:cs typeface="Calibri" pitchFamily="34" charset="-120"/>
              </a:rPr>
              <a:t>LendFlow Cloud Cost Optimisation</a:t>
            </a:r>
            <a:endParaRPr lang="en-US" sz="3800" dirty="0"/>
          </a:p>
        </p:txBody>
      </p:sp>
      <p:sp>
        <p:nvSpPr>
          <p:cNvPr id="6" name="Text 4"/>
          <p:cNvSpPr txBox="1"/>
          <p:nvPr/>
        </p:nvSpPr>
        <p:spPr>
          <a:xfrm>
            <a:off x="1280160" y="2633472"/>
            <a:ext cx="9509760" cy="502920"/>
          </a:xfrm>
          <a:prstGeom prst="rect">
            <a:avLst/>
          </a:prstGeom>
          <a:noFill/>
          <a:ln/>
        </p:spPr>
        <p:txBody>
          <a:bodyPr wrap="square" lIns="0" tIns="0" rIns="0" bIns="0" rtlCol="0" anchor="ctr"/>
          <a:lstStyle/>
          <a:p>
            <a:pPr algn="ctr" indent="0" marL="0">
              <a:buNone/>
            </a:pPr>
            <a:r>
              <a:rPr lang="en-US" sz="2000" dirty="0">
                <a:solidFill>
                  <a:srgbClr val="1A5FA8"/>
                </a:solidFill>
                <a:latin typeface="Calibri" pitchFamily="34" charset="0"/>
                <a:ea typeface="Calibri" pitchFamily="34" charset="-122"/>
                <a:cs typeface="Calibri" pitchFamily="34" charset="-120"/>
              </a:rPr>
              <a:t>90-Day FinOps Transformation &amp; Savings Plan</a:t>
            </a:r>
            <a:endParaRPr lang="en-US" sz="2000" dirty="0"/>
          </a:p>
        </p:txBody>
      </p:sp>
      <p:sp>
        <p:nvSpPr>
          <p:cNvPr id="7" name="Shape 5"/>
          <p:cNvSpPr/>
          <p:nvPr/>
        </p:nvSpPr>
        <p:spPr>
          <a:xfrm>
            <a:off x="3840480" y="3218688"/>
            <a:ext cx="4480560" cy="22860"/>
          </a:xfrm>
          <a:prstGeom prst="rect">
            <a:avLst/>
          </a:prstGeom>
          <a:solidFill>
            <a:srgbClr val="CBD5E1"/>
          </a:solidFill>
          <a:ln w="12700">
            <a:solidFill>
              <a:srgbClr val="CBD5E1"/>
            </a:solidFill>
            <a:prstDash val="solid"/>
          </a:ln>
        </p:spPr>
      </p:sp>
      <p:sp>
        <p:nvSpPr>
          <p:cNvPr id="8" name="Text 6"/>
          <p:cNvSpPr txBox="1"/>
          <p:nvPr/>
        </p:nvSpPr>
        <p:spPr>
          <a:xfrm>
            <a:off x="1280160" y="3337560"/>
            <a:ext cx="9509760" cy="320040"/>
          </a:xfrm>
          <a:prstGeom prst="rect">
            <a:avLst/>
          </a:prstGeom>
          <a:noFill/>
          <a:ln/>
        </p:spPr>
        <p:txBody>
          <a:bodyPr wrap="square" lIns="0" tIns="0" rIns="0" bIns="0" rtlCol="0" anchor="ctr"/>
          <a:lstStyle/>
          <a:p>
            <a:pPr algn="ctr" indent="0" marL="0">
              <a:buNone/>
            </a:pPr>
            <a:r>
              <a:rPr lang="en-US" sz="1100" dirty="0">
                <a:solidFill>
                  <a:srgbClr val="7F8C8D"/>
                </a:solidFill>
                <a:latin typeface="Calibri" pitchFamily="34" charset="0"/>
                <a:ea typeface="Calibri" pitchFamily="34" charset="-122"/>
                <a:cs typeface="Calibri" pitchFamily="34" charset="-120"/>
              </a:rPr>
              <a:t>LendFlow Technologies   |   June 2026   |   Confidential / Portfolio Case Study</a:t>
            </a:r>
            <a:endParaRPr lang="en-US" sz="1100" dirty="0"/>
          </a:p>
        </p:txBody>
      </p:sp>
      <p:sp>
        <p:nvSpPr>
          <p:cNvPr id="9" name="Shape 7"/>
          <p:cNvSpPr/>
          <p:nvPr/>
        </p:nvSpPr>
        <p:spPr>
          <a:xfrm>
            <a:off x="1371600" y="3840480"/>
            <a:ext cx="2103120" cy="731520"/>
          </a:xfrm>
          <a:prstGeom prst="roundRect">
            <a:avLst>
              <a:gd name="adj" fmla="val 8750"/>
            </a:avLst>
          </a:prstGeom>
          <a:solidFill>
            <a:srgbClr val="FADBD8"/>
          </a:solidFill>
          <a:ln w="12700">
            <a:solidFill>
              <a:srgbClr val="CBD5E1"/>
            </a:solidFill>
            <a:prstDash val="solid"/>
          </a:ln>
        </p:spPr>
      </p:sp>
      <p:sp>
        <p:nvSpPr>
          <p:cNvPr id="10" name="Text 8"/>
          <p:cNvSpPr txBox="1"/>
          <p:nvPr/>
        </p:nvSpPr>
        <p:spPr>
          <a:xfrm>
            <a:off x="1371600" y="3858768"/>
            <a:ext cx="2103120" cy="384048"/>
          </a:xfrm>
          <a:prstGeom prst="rect">
            <a:avLst/>
          </a:prstGeom>
          <a:noFill/>
          <a:ln/>
        </p:spPr>
        <p:txBody>
          <a:bodyPr wrap="square" lIns="0" tIns="0" rIns="0" bIns="0"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$180,000/month</a:t>
            </a:r>
            <a:endParaRPr lang="en-US" sz="1800" dirty="0"/>
          </a:p>
        </p:txBody>
      </p:sp>
      <p:sp>
        <p:nvSpPr>
          <p:cNvPr id="11" name="Text 9"/>
          <p:cNvSpPr txBox="1"/>
          <p:nvPr/>
        </p:nvSpPr>
        <p:spPr>
          <a:xfrm>
            <a:off x="1371600" y="4224528"/>
            <a:ext cx="2103120" cy="256032"/>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Current Spend</a:t>
            </a:r>
            <a:endParaRPr lang="en-US" sz="900" dirty="0"/>
          </a:p>
        </p:txBody>
      </p:sp>
      <p:sp>
        <p:nvSpPr>
          <p:cNvPr id="12" name="Shape 10"/>
          <p:cNvSpPr/>
          <p:nvPr/>
        </p:nvSpPr>
        <p:spPr>
          <a:xfrm>
            <a:off x="3730752" y="3840480"/>
            <a:ext cx="2103120" cy="731520"/>
          </a:xfrm>
          <a:prstGeom prst="roundRect">
            <a:avLst>
              <a:gd name="adj" fmla="val 8750"/>
            </a:avLst>
          </a:prstGeom>
          <a:solidFill>
            <a:srgbClr val="D4EFDF"/>
          </a:solidFill>
          <a:ln w="12700">
            <a:solidFill>
              <a:srgbClr val="CBD5E1"/>
            </a:solidFill>
            <a:prstDash val="solid"/>
          </a:ln>
        </p:spPr>
      </p:sp>
      <p:sp>
        <p:nvSpPr>
          <p:cNvPr id="13" name="Text 11"/>
          <p:cNvSpPr txBox="1"/>
          <p:nvPr/>
        </p:nvSpPr>
        <p:spPr>
          <a:xfrm>
            <a:off x="3730752" y="3858768"/>
            <a:ext cx="2103120" cy="384048"/>
          </a:xfrm>
          <a:prstGeom prst="rect">
            <a:avLst/>
          </a:prstGeom>
          <a:noFill/>
          <a:ln/>
        </p:spPr>
        <p:txBody>
          <a:bodyPr wrap="square" lIns="0" tIns="0" rIns="0" bIns="0" rtlCol="0" anchor="ctr"/>
          <a:lstStyle/>
          <a:p>
            <a:pPr algn="ctr" indent="0" marL="0">
              <a:buNone/>
            </a:pPr>
            <a:r>
              <a:rPr lang="en-US" sz="1800" b="1" dirty="0">
                <a:solidFill>
                  <a:srgbClr val="1A8A4A"/>
                </a:solidFill>
                <a:latin typeface="Calibri" pitchFamily="34" charset="0"/>
                <a:ea typeface="Calibri" pitchFamily="34" charset="-122"/>
                <a:cs typeface="Calibri" pitchFamily="34" charset="-120"/>
              </a:rPr>
              <a:t>$51,677.71/month</a:t>
            </a:r>
            <a:endParaRPr lang="en-US" sz="1800" dirty="0"/>
          </a:p>
        </p:txBody>
      </p:sp>
      <p:sp>
        <p:nvSpPr>
          <p:cNvPr id="14" name="Text 12"/>
          <p:cNvSpPr txBox="1"/>
          <p:nvPr/>
        </p:nvSpPr>
        <p:spPr>
          <a:xfrm>
            <a:off x="3730752" y="4224528"/>
            <a:ext cx="2103120" cy="256032"/>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Modelled Savings</a:t>
            </a:r>
            <a:endParaRPr lang="en-US" sz="900" dirty="0"/>
          </a:p>
        </p:txBody>
      </p:sp>
      <p:sp>
        <p:nvSpPr>
          <p:cNvPr id="15" name="Shape 13"/>
          <p:cNvSpPr/>
          <p:nvPr/>
        </p:nvSpPr>
        <p:spPr>
          <a:xfrm>
            <a:off x="6089904" y="3840480"/>
            <a:ext cx="2103120" cy="731520"/>
          </a:xfrm>
          <a:prstGeom prst="roundRect">
            <a:avLst>
              <a:gd name="adj" fmla="val 8750"/>
            </a:avLst>
          </a:prstGeom>
          <a:solidFill>
            <a:srgbClr val="D6EAF8"/>
          </a:solidFill>
          <a:ln w="12700">
            <a:solidFill>
              <a:srgbClr val="CBD5E1"/>
            </a:solidFill>
            <a:prstDash val="solid"/>
          </a:ln>
        </p:spPr>
      </p:sp>
      <p:sp>
        <p:nvSpPr>
          <p:cNvPr id="16" name="Text 14"/>
          <p:cNvSpPr txBox="1"/>
          <p:nvPr/>
        </p:nvSpPr>
        <p:spPr>
          <a:xfrm>
            <a:off x="6089904" y="3858768"/>
            <a:ext cx="2103120" cy="384048"/>
          </a:xfrm>
          <a:prstGeom prst="rect">
            <a:avLst/>
          </a:prstGeom>
          <a:noFill/>
          <a:ln/>
        </p:spPr>
        <p:txBody>
          <a:bodyPr wrap="square" lIns="0" tIns="0" rIns="0" bIns="0" rtlCol="0" anchor="ctr"/>
          <a:lstStyle/>
          <a:p>
            <a:pPr algn="ctr" indent="0" marL="0">
              <a:buNone/>
            </a:pPr>
            <a:r>
              <a:rPr lang="en-US" sz="1800" b="1" dirty="0">
                <a:solidFill>
                  <a:srgbClr val="1A5FA8"/>
                </a:solidFill>
                <a:latin typeface="Calibri" pitchFamily="34" charset="0"/>
                <a:ea typeface="Calibri" pitchFamily="34" charset="-122"/>
                <a:cs typeface="Calibri" pitchFamily="34" charset="-120"/>
              </a:rPr>
              <a:t>$60,000/month</a:t>
            </a:r>
            <a:endParaRPr lang="en-US" sz="1800" dirty="0"/>
          </a:p>
        </p:txBody>
      </p:sp>
      <p:sp>
        <p:nvSpPr>
          <p:cNvPr id="17" name="Text 15"/>
          <p:cNvSpPr txBox="1"/>
          <p:nvPr/>
        </p:nvSpPr>
        <p:spPr>
          <a:xfrm>
            <a:off x="6089904" y="4224528"/>
            <a:ext cx="2103120" cy="256032"/>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CFO Target</a:t>
            </a:r>
            <a:endParaRPr lang="en-US" sz="900" dirty="0"/>
          </a:p>
        </p:txBody>
      </p:sp>
      <p:sp>
        <p:nvSpPr>
          <p:cNvPr id="18" name="Shape 16"/>
          <p:cNvSpPr/>
          <p:nvPr/>
        </p:nvSpPr>
        <p:spPr>
          <a:xfrm>
            <a:off x="8449056" y="3840480"/>
            <a:ext cx="2103120" cy="731520"/>
          </a:xfrm>
          <a:prstGeom prst="roundRect">
            <a:avLst>
              <a:gd name="adj" fmla="val 8750"/>
            </a:avLst>
          </a:prstGeom>
          <a:solidFill>
            <a:srgbClr val="D0ECF0"/>
          </a:solidFill>
          <a:ln w="12700">
            <a:solidFill>
              <a:srgbClr val="CBD5E1"/>
            </a:solidFill>
            <a:prstDash val="solid"/>
          </a:ln>
        </p:spPr>
      </p:sp>
      <p:sp>
        <p:nvSpPr>
          <p:cNvPr id="19" name="Text 17"/>
          <p:cNvSpPr txBox="1"/>
          <p:nvPr/>
        </p:nvSpPr>
        <p:spPr>
          <a:xfrm>
            <a:off x="8449056" y="3858768"/>
            <a:ext cx="2103120" cy="384048"/>
          </a:xfrm>
          <a:prstGeom prst="rect">
            <a:avLst/>
          </a:prstGeom>
          <a:noFill/>
          <a:ln/>
        </p:spPr>
        <p:txBody>
          <a:bodyPr wrap="square" lIns="0" tIns="0" rIns="0" bIns="0" rtlCol="0" anchor="ctr"/>
          <a:lstStyle/>
          <a:p>
            <a:pPr algn="ctr" indent="0" marL="0">
              <a:buNone/>
            </a:pPr>
            <a:r>
              <a:rPr lang="en-US" sz="1800" b="1" dirty="0">
                <a:solidFill>
                  <a:srgbClr val="0E7C87"/>
                </a:solidFill>
                <a:latin typeface="Calibri" pitchFamily="34" charset="0"/>
                <a:ea typeface="Calibri" pitchFamily="34" charset="-122"/>
                <a:cs typeface="Calibri" pitchFamily="34" charset="-120"/>
              </a:rPr>
              <a:t>99.95%</a:t>
            </a:r>
            <a:endParaRPr lang="en-US" sz="1800" dirty="0"/>
          </a:p>
        </p:txBody>
      </p:sp>
      <p:sp>
        <p:nvSpPr>
          <p:cNvPr id="20" name="Text 18"/>
          <p:cNvSpPr txBox="1"/>
          <p:nvPr/>
        </p:nvSpPr>
        <p:spPr>
          <a:xfrm>
            <a:off x="8449056" y="4224528"/>
            <a:ext cx="2103120" cy="256032"/>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Platform SLO</a:t>
            </a:r>
            <a:endParaRPr lang="en-US" sz="900" dirty="0"/>
          </a:p>
        </p:txBody>
      </p:sp>
      <p:sp>
        <p:nvSpPr>
          <p:cNvPr id="21" name="Shape 19"/>
          <p:cNvSpPr/>
          <p:nvPr/>
        </p:nvSpPr>
        <p:spPr>
          <a:xfrm>
            <a:off x="0" y="6675120"/>
            <a:ext cx="12161520" cy="182880"/>
          </a:xfrm>
          <a:prstGeom prst="rect">
            <a:avLst/>
          </a:prstGeom>
          <a:solidFill>
            <a:srgbClr val="0E7C87"/>
          </a:solidFill>
          <a:ln w="12700">
            <a:solidFill>
              <a:srgbClr val="0E7C87"/>
            </a:solidFill>
            <a:prstDash val="solid"/>
          </a:ln>
        </p:spPr>
      </p:sp>
      <p:sp>
        <p:nvSpPr>
          <p:cNvPr id="22" name="Text 20"/>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23" name="Text 21"/>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 / 18</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Executive Summary</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Cloud Cost Optimisation — CFO One-Page Brief</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2 / 18</a:t>
            </a:r>
            <a:endParaRPr lang="en-US" sz="700" dirty="0"/>
          </a:p>
        </p:txBody>
      </p:sp>
      <p:sp>
        <p:nvSpPr>
          <p:cNvPr id="8" name="Shape 6"/>
          <p:cNvSpPr/>
          <p:nvPr/>
        </p:nvSpPr>
        <p:spPr>
          <a:xfrm>
            <a:off x="274320" y="1234440"/>
            <a:ext cx="2148840" cy="1188720"/>
          </a:xfrm>
          <a:prstGeom prst="roundRect">
            <a:avLst>
              <a:gd name="adj" fmla="val 6154"/>
            </a:avLst>
          </a:prstGeom>
          <a:solidFill>
            <a:srgbClr val="FADBD8"/>
          </a:solidFill>
          <a:ln w="12700">
            <a:solidFill>
              <a:srgbClr val="CBD5E1"/>
            </a:solidFill>
            <a:prstDash val="solid"/>
          </a:ln>
        </p:spPr>
      </p:sp>
      <p:sp>
        <p:nvSpPr>
          <p:cNvPr id="9" name="Text 7"/>
          <p:cNvSpPr txBox="1"/>
          <p:nvPr/>
        </p:nvSpPr>
        <p:spPr>
          <a:xfrm>
            <a:off x="365760" y="1280160"/>
            <a:ext cx="1965960" cy="653796"/>
          </a:xfrm>
          <a:prstGeom prst="rect">
            <a:avLst/>
          </a:prstGeom>
          <a:noFill/>
          <a:ln/>
        </p:spPr>
        <p:txBody>
          <a:bodyPr wrap="square" lIns="0" tIns="0" rIns="0" bIns="0" rtlCol="0" anchor="b"/>
          <a:lstStyle/>
          <a:p>
            <a:pPr algn="ctr" indent="0" marL="0">
              <a:buNone/>
            </a:pPr>
            <a:r>
              <a:rPr lang="en-US" sz="2800" b="1" dirty="0">
                <a:solidFill>
                  <a:srgbClr val="C0392B"/>
                </a:solidFill>
                <a:latin typeface="Calibri" pitchFamily="34" charset="0"/>
                <a:ea typeface="Calibri" pitchFamily="34" charset="-122"/>
                <a:cs typeface="Calibri" pitchFamily="34" charset="-120"/>
              </a:rPr>
              <a:t>$180,000</a:t>
            </a:r>
            <a:endParaRPr lang="en-US" sz="2800" dirty="0"/>
          </a:p>
        </p:txBody>
      </p:sp>
      <p:sp>
        <p:nvSpPr>
          <p:cNvPr id="10" name="Text 8"/>
          <p:cNvSpPr txBox="1"/>
          <p:nvPr/>
        </p:nvSpPr>
        <p:spPr>
          <a:xfrm>
            <a:off x="365760" y="1912010"/>
            <a:ext cx="1965960" cy="297180"/>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Current Monthly Spend</a:t>
            </a:r>
            <a:endParaRPr lang="en-US" sz="1000" dirty="0"/>
          </a:p>
        </p:txBody>
      </p:sp>
      <p:sp>
        <p:nvSpPr>
          <p:cNvPr id="11" name="Text 9"/>
          <p:cNvSpPr txBox="1"/>
          <p:nvPr/>
        </p:nvSpPr>
        <p:spPr>
          <a:xfrm>
            <a:off x="365760" y="2161642"/>
            <a:ext cx="1965960" cy="261518"/>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June 2026 baseline</a:t>
            </a:r>
            <a:endParaRPr lang="en-US" sz="800" dirty="0"/>
          </a:p>
        </p:txBody>
      </p:sp>
      <p:sp>
        <p:nvSpPr>
          <p:cNvPr id="12" name="Shape 10"/>
          <p:cNvSpPr/>
          <p:nvPr/>
        </p:nvSpPr>
        <p:spPr>
          <a:xfrm>
            <a:off x="2596896" y="1234440"/>
            <a:ext cx="2148840" cy="1188720"/>
          </a:xfrm>
          <a:prstGeom prst="roundRect">
            <a:avLst>
              <a:gd name="adj" fmla="val 6154"/>
            </a:avLst>
          </a:prstGeom>
          <a:solidFill>
            <a:srgbClr val="F2F4F5"/>
          </a:solidFill>
          <a:ln w="12700">
            <a:solidFill>
              <a:srgbClr val="CBD5E1"/>
            </a:solidFill>
            <a:prstDash val="solid"/>
          </a:ln>
        </p:spPr>
      </p:sp>
      <p:sp>
        <p:nvSpPr>
          <p:cNvPr id="13" name="Text 11"/>
          <p:cNvSpPr txBox="1"/>
          <p:nvPr/>
        </p:nvSpPr>
        <p:spPr>
          <a:xfrm>
            <a:off x="2688336" y="1280160"/>
            <a:ext cx="1965960" cy="653796"/>
          </a:xfrm>
          <a:prstGeom prst="rect">
            <a:avLst/>
          </a:prstGeom>
          <a:noFill/>
          <a:ln/>
        </p:spPr>
        <p:txBody>
          <a:bodyPr wrap="square" lIns="0" tIns="0" rIns="0" bIns="0" rtlCol="0" anchor="b"/>
          <a:lstStyle/>
          <a:p>
            <a:pPr algn="ctr" indent="0" marL="0">
              <a:buNone/>
            </a:pPr>
            <a:r>
              <a:rPr lang="en-US" sz="2800" b="1" dirty="0">
                <a:solidFill>
                  <a:srgbClr val="0F2D56"/>
                </a:solidFill>
                <a:latin typeface="Calibri" pitchFamily="34" charset="0"/>
                <a:ea typeface="Calibri" pitchFamily="34" charset="-122"/>
                <a:cs typeface="Calibri" pitchFamily="34" charset="-120"/>
              </a:rPr>
              <a:t>$50,000</a:t>
            </a:r>
            <a:endParaRPr lang="en-US" sz="2800" dirty="0"/>
          </a:p>
        </p:txBody>
      </p:sp>
      <p:sp>
        <p:nvSpPr>
          <p:cNvPr id="14" name="Text 12"/>
          <p:cNvSpPr txBox="1"/>
          <p:nvPr/>
        </p:nvSpPr>
        <p:spPr>
          <a:xfrm>
            <a:off x="2688336" y="1912010"/>
            <a:ext cx="1965960" cy="297180"/>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Starting Monthly Spend</a:t>
            </a:r>
            <a:endParaRPr lang="en-US" sz="1000" dirty="0"/>
          </a:p>
        </p:txBody>
      </p:sp>
      <p:sp>
        <p:nvSpPr>
          <p:cNvPr id="15" name="Text 13"/>
          <p:cNvSpPr txBox="1"/>
          <p:nvPr/>
        </p:nvSpPr>
        <p:spPr>
          <a:xfrm>
            <a:off x="2688336" y="2161642"/>
            <a:ext cx="1965960" cy="261518"/>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January 2026</a:t>
            </a:r>
            <a:endParaRPr lang="en-US" sz="800" dirty="0"/>
          </a:p>
        </p:txBody>
      </p:sp>
      <p:sp>
        <p:nvSpPr>
          <p:cNvPr id="16" name="Shape 14"/>
          <p:cNvSpPr/>
          <p:nvPr/>
        </p:nvSpPr>
        <p:spPr>
          <a:xfrm>
            <a:off x="4919472" y="1234440"/>
            <a:ext cx="2148840" cy="1188720"/>
          </a:xfrm>
          <a:prstGeom prst="roundRect">
            <a:avLst>
              <a:gd name="adj" fmla="val 6154"/>
            </a:avLst>
          </a:prstGeom>
          <a:solidFill>
            <a:srgbClr val="D4EFDF"/>
          </a:solidFill>
          <a:ln w="12700">
            <a:solidFill>
              <a:srgbClr val="CBD5E1"/>
            </a:solidFill>
            <a:prstDash val="solid"/>
          </a:ln>
        </p:spPr>
      </p:sp>
      <p:sp>
        <p:nvSpPr>
          <p:cNvPr id="17" name="Text 15"/>
          <p:cNvSpPr txBox="1"/>
          <p:nvPr/>
        </p:nvSpPr>
        <p:spPr>
          <a:xfrm>
            <a:off x="5010912" y="1280160"/>
            <a:ext cx="1965960" cy="653796"/>
          </a:xfrm>
          <a:prstGeom prst="rect">
            <a:avLst/>
          </a:prstGeom>
          <a:noFill/>
          <a:ln/>
        </p:spPr>
        <p:txBody>
          <a:bodyPr wrap="square" lIns="0" tIns="0" rIns="0" bIns="0" rtlCol="0" anchor="b"/>
          <a:lstStyle/>
          <a:p>
            <a:pPr algn="ctr" indent="0" marL="0">
              <a:buNone/>
            </a:pPr>
            <a:r>
              <a:rPr lang="en-US" sz="2800" b="1" dirty="0">
                <a:solidFill>
                  <a:srgbClr val="1A8A4A"/>
                </a:solidFill>
                <a:latin typeface="Calibri" pitchFamily="34" charset="0"/>
                <a:ea typeface="Calibri" pitchFamily="34" charset="-122"/>
                <a:cs typeface="Calibri" pitchFamily="34" charset="-120"/>
              </a:rPr>
              <a:t>$51,677.71</a:t>
            </a:r>
            <a:endParaRPr lang="en-US" sz="2800" dirty="0"/>
          </a:p>
        </p:txBody>
      </p:sp>
      <p:sp>
        <p:nvSpPr>
          <p:cNvPr id="18" name="Text 16"/>
          <p:cNvSpPr txBox="1"/>
          <p:nvPr/>
        </p:nvSpPr>
        <p:spPr>
          <a:xfrm>
            <a:off x="5010912" y="1912010"/>
            <a:ext cx="1965960" cy="297180"/>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Modelled Savings (Expected)</a:t>
            </a:r>
            <a:endParaRPr lang="en-US" sz="1000" dirty="0"/>
          </a:p>
        </p:txBody>
      </p:sp>
      <p:sp>
        <p:nvSpPr>
          <p:cNvPr id="19" name="Text 17"/>
          <p:cNvSpPr txBox="1"/>
          <p:nvPr/>
        </p:nvSpPr>
        <p:spPr>
          <a:xfrm>
            <a:off x="5010912" y="2161642"/>
            <a:ext cx="1965960" cy="261518"/>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/month opportunity</a:t>
            </a:r>
            <a:endParaRPr lang="en-US" sz="800" dirty="0"/>
          </a:p>
        </p:txBody>
      </p:sp>
      <p:sp>
        <p:nvSpPr>
          <p:cNvPr id="20" name="Shape 18"/>
          <p:cNvSpPr/>
          <p:nvPr/>
        </p:nvSpPr>
        <p:spPr>
          <a:xfrm>
            <a:off x="7242048" y="1234440"/>
            <a:ext cx="2148840" cy="1188720"/>
          </a:xfrm>
          <a:prstGeom prst="roundRect">
            <a:avLst>
              <a:gd name="adj" fmla="val 6154"/>
            </a:avLst>
          </a:prstGeom>
          <a:solidFill>
            <a:srgbClr val="D6EAF8"/>
          </a:solidFill>
          <a:ln w="12700">
            <a:solidFill>
              <a:srgbClr val="CBD5E1"/>
            </a:solidFill>
            <a:prstDash val="solid"/>
          </a:ln>
        </p:spPr>
      </p:sp>
      <p:sp>
        <p:nvSpPr>
          <p:cNvPr id="21" name="Text 19"/>
          <p:cNvSpPr txBox="1"/>
          <p:nvPr/>
        </p:nvSpPr>
        <p:spPr>
          <a:xfrm>
            <a:off x="7333488" y="1280160"/>
            <a:ext cx="1965960" cy="653796"/>
          </a:xfrm>
          <a:prstGeom prst="rect">
            <a:avLst/>
          </a:prstGeom>
          <a:noFill/>
          <a:ln/>
        </p:spPr>
        <p:txBody>
          <a:bodyPr wrap="square" lIns="0" tIns="0" rIns="0" bIns="0" rtlCol="0" anchor="b"/>
          <a:lstStyle/>
          <a:p>
            <a:pPr algn="ctr" indent="0" marL="0">
              <a:buNone/>
            </a:pPr>
            <a:r>
              <a:rPr lang="en-US" sz="2800" b="1" dirty="0">
                <a:solidFill>
                  <a:srgbClr val="1A5FA8"/>
                </a:solidFill>
                <a:latin typeface="Calibri" pitchFamily="34" charset="0"/>
                <a:ea typeface="Calibri" pitchFamily="34" charset="-122"/>
                <a:cs typeface="Calibri" pitchFamily="34" charset="-120"/>
              </a:rPr>
              <a:t>$60,000</a:t>
            </a:r>
            <a:endParaRPr lang="en-US" sz="2800" dirty="0"/>
          </a:p>
        </p:txBody>
      </p:sp>
      <p:sp>
        <p:nvSpPr>
          <p:cNvPr id="22" name="Text 20"/>
          <p:cNvSpPr txBox="1"/>
          <p:nvPr/>
        </p:nvSpPr>
        <p:spPr>
          <a:xfrm>
            <a:off x="7333488" y="1912010"/>
            <a:ext cx="1965960" cy="297180"/>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CFO Target</a:t>
            </a:r>
            <a:endParaRPr lang="en-US" sz="1000" dirty="0"/>
          </a:p>
        </p:txBody>
      </p:sp>
      <p:sp>
        <p:nvSpPr>
          <p:cNvPr id="23" name="Text 21"/>
          <p:cNvSpPr txBox="1"/>
          <p:nvPr/>
        </p:nvSpPr>
        <p:spPr>
          <a:xfrm>
            <a:off x="7333488" y="2161642"/>
            <a:ext cx="1965960" cy="261518"/>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/month required</a:t>
            </a:r>
            <a:endParaRPr lang="en-US" sz="800" dirty="0"/>
          </a:p>
        </p:txBody>
      </p:sp>
      <p:sp>
        <p:nvSpPr>
          <p:cNvPr id="24" name="Shape 22"/>
          <p:cNvSpPr/>
          <p:nvPr/>
        </p:nvSpPr>
        <p:spPr>
          <a:xfrm>
            <a:off x="9564624" y="1234440"/>
            <a:ext cx="2148840" cy="1188720"/>
          </a:xfrm>
          <a:prstGeom prst="roundRect">
            <a:avLst>
              <a:gd name="adj" fmla="val 6154"/>
            </a:avLst>
          </a:prstGeom>
          <a:solidFill>
            <a:srgbClr val="FDEBD0"/>
          </a:solidFill>
          <a:ln w="12700">
            <a:solidFill>
              <a:srgbClr val="CBD5E1"/>
            </a:solidFill>
            <a:prstDash val="solid"/>
          </a:ln>
        </p:spPr>
      </p:sp>
      <p:sp>
        <p:nvSpPr>
          <p:cNvPr id="25" name="Text 23"/>
          <p:cNvSpPr txBox="1"/>
          <p:nvPr/>
        </p:nvSpPr>
        <p:spPr>
          <a:xfrm>
            <a:off x="9656064" y="1280160"/>
            <a:ext cx="1965960" cy="653796"/>
          </a:xfrm>
          <a:prstGeom prst="rect">
            <a:avLst/>
          </a:prstGeom>
          <a:noFill/>
          <a:ln/>
        </p:spPr>
        <p:txBody>
          <a:bodyPr wrap="square" lIns="0" tIns="0" rIns="0" bIns="0" rtlCol="0" anchor="b"/>
          <a:lstStyle/>
          <a:p>
            <a:pPr algn="ctr" indent="0" marL="0">
              <a:buNone/>
            </a:pPr>
            <a:r>
              <a:rPr lang="en-US" sz="2800" b="1" dirty="0">
                <a:solidFill>
                  <a:srgbClr val="E07B00"/>
                </a:solidFill>
                <a:latin typeface="Calibri" pitchFamily="34" charset="0"/>
                <a:ea typeface="Calibri" pitchFamily="34" charset="-122"/>
                <a:cs typeface="Calibri" pitchFamily="34" charset="-120"/>
              </a:rPr>
              <a:t>$8,322.29</a:t>
            </a:r>
            <a:endParaRPr lang="en-US" sz="2800" dirty="0"/>
          </a:p>
        </p:txBody>
      </p:sp>
      <p:sp>
        <p:nvSpPr>
          <p:cNvPr id="26" name="Text 24"/>
          <p:cNvSpPr txBox="1"/>
          <p:nvPr/>
        </p:nvSpPr>
        <p:spPr>
          <a:xfrm>
            <a:off x="9656064" y="1912010"/>
            <a:ext cx="1965960" cy="297180"/>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Remaining Gap</a:t>
            </a:r>
            <a:endParaRPr lang="en-US" sz="1000" dirty="0"/>
          </a:p>
        </p:txBody>
      </p:sp>
      <p:sp>
        <p:nvSpPr>
          <p:cNvPr id="27" name="Text 25"/>
          <p:cNvSpPr txBox="1"/>
          <p:nvPr/>
        </p:nvSpPr>
        <p:spPr>
          <a:xfrm>
            <a:off x="9656064" y="2161642"/>
            <a:ext cx="1965960" cy="261518"/>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to be validated</a:t>
            </a:r>
            <a:endParaRPr lang="en-US" sz="800" dirty="0"/>
          </a:p>
        </p:txBody>
      </p:sp>
      <p:sp>
        <p:nvSpPr>
          <p:cNvPr id="28" name="Text 26"/>
          <p:cNvSpPr txBox="1"/>
          <p:nvPr/>
        </p:nvSpPr>
        <p:spPr>
          <a:xfrm>
            <a:off x="274320" y="2578608"/>
            <a:ext cx="3657600" cy="201168"/>
          </a:xfrm>
          <a:prstGeom prst="rect">
            <a:avLst/>
          </a:prstGeom>
          <a:noFill/>
          <a:ln/>
        </p:spPr>
        <p:txBody>
          <a:bodyPr wrap="square" lIns="0" tIns="0" rIns="0" bIns="0" rtlCol="0" anchor="ctr"/>
          <a:lstStyle/>
          <a:p>
            <a:pPr indent="0" marL="0">
              <a:buNone/>
            </a:pPr>
            <a:r>
              <a:rPr lang="en-US" sz="800" b="1" spc="200" kern="0" dirty="0">
                <a:solidFill>
                  <a:srgbClr val="1A5FA8"/>
                </a:solidFill>
                <a:latin typeface="Calibri" pitchFamily="34" charset="0"/>
                <a:ea typeface="Calibri" pitchFamily="34" charset="-122"/>
                <a:cs typeface="Calibri" pitchFamily="34" charset="-120"/>
              </a:rPr>
              <a:t>SAVINGS SCENARIO RANGE</a:t>
            </a:r>
            <a:endParaRPr lang="en-US" sz="800" dirty="0"/>
          </a:p>
        </p:txBody>
      </p:sp>
      <p:sp>
        <p:nvSpPr>
          <p:cNvPr id="29" name="Shape 27"/>
          <p:cNvSpPr/>
          <p:nvPr/>
        </p:nvSpPr>
        <p:spPr>
          <a:xfrm>
            <a:off x="1920240" y="2816352"/>
            <a:ext cx="7772400" cy="384048"/>
          </a:xfrm>
          <a:prstGeom prst="rect">
            <a:avLst/>
          </a:prstGeom>
          <a:solidFill>
            <a:srgbClr val="F2F4F5"/>
          </a:solidFill>
          <a:ln w="12700">
            <a:solidFill>
              <a:srgbClr val="CBD5E1"/>
            </a:solidFill>
            <a:prstDash val="solid"/>
          </a:ln>
        </p:spPr>
      </p:sp>
      <p:sp>
        <p:nvSpPr>
          <p:cNvPr id="30" name="Shape 28"/>
          <p:cNvSpPr/>
          <p:nvPr/>
        </p:nvSpPr>
        <p:spPr>
          <a:xfrm>
            <a:off x="1920240" y="2816352"/>
            <a:ext cx="3840480" cy="384048"/>
          </a:xfrm>
          <a:prstGeom prst="rect">
            <a:avLst/>
          </a:prstGeom>
          <a:solidFill>
            <a:srgbClr val="E07B00"/>
          </a:solidFill>
          <a:ln w="12700">
            <a:solidFill>
              <a:srgbClr val="E07B00"/>
            </a:solidFill>
            <a:prstDash val="solid"/>
          </a:ln>
        </p:spPr>
      </p:sp>
      <p:sp>
        <p:nvSpPr>
          <p:cNvPr id="31" name="Text 29"/>
          <p:cNvSpPr txBox="1"/>
          <p:nvPr/>
        </p:nvSpPr>
        <p:spPr>
          <a:xfrm>
            <a:off x="274320" y="2871216"/>
            <a:ext cx="1600200" cy="274320"/>
          </a:xfrm>
          <a:prstGeom prst="rect">
            <a:avLst/>
          </a:prstGeom>
          <a:noFill/>
          <a:ln/>
        </p:spPr>
        <p:txBody>
          <a:bodyPr wrap="square" lIns="0" tIns="0" rIns="0" bIns="0" rtlCol="0" anchor="ctr"/>
          <a:lstStyle/>
          <a:p>
            <a:pPr algn="r" indent="0" marL="0">
              <a:buNone/>
            </a:pPr>
            <a:r>
              <a:rPr lang="en-US" sz="900" b="1" dirty="0">
                <a:solidFill>
                  <a:srgbClr val="3A4A5C"/>
                </a:solidFill>
                <a:latin typeface="Calibri" pitchFamily="34" charset="0"/>
                <a:ea typeface="Calibri" pitchFamily="34" charset="-122"/>
                <a:cs typeface="Calibri" pitchFamily="34" charset="-120"/>
              </a:rPr>
              <a:t>Worst Case</a:t>
            </a:r>
            <a:endParaRPr lang="en-US" sz="900" dirty="0"/>
          </a:p>
        </p:txBody>
      </p:sp>
      <p:sp>
        <p:nvSpPr>
          <p:cNvPr id="32" name="Text 30"/>
          <p:cNvSpPr txBox="1"/>
          <p:nvPr/>
        </p:nvSpPr>
        <p:spPr>
          <a:xfrm>
            <a:off x="1965960" y="2880360"/>
            <a:ext cx="3703320" cy="256032"/>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$31,375.79/month</a:t>
            </a:r>
            <a:endParaRPr lang="en-US" sz="900" dirty="0"/>
          </a:p>
        </p:txBody>
      </p:sp>
      <p:sp>
        <p:nvSpPr>
          <p:cNvPr id="33" name="Text 31"/>
          <p:cNvSpPr txBox="1"/>
          <p:nvPr/>
        </p:nvSpPr>
        <p:spPr>
          <a:xfrm>
            <a:off x="5806440" y="2880360"/>
            <a:ext cx="2286000" cy="2560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(17.4% reduction)</a:t>
            </a:r>
            <a:endParaRPr lang="en-US" sz="900" dirty="0"/>
          </a:p>
        </p:txBody>
      </p:sp>
      <p:sp>
        <p:nvSpPr>
          <p:cNvPr id="34" name="Shape 32"/>
          <p:cNvSpPr/>
          <p:nvPr/>
        </p:nvSpPr>
        <p:spPr>
          <a:xfrm>
            <a:off x="1920240" y="3438144"/>
            <a:ext cx="7772400" cy="384048"/>
          </a:xfrm>
          <a:prstGeom prst="rect">
            <a:avLst/>
          </a:prstGeom>
          <a:solidFill>
            <a:srgbClr val="F2F4F5"/>
          </a:solidFill>
          <a:ln w="12700">
            <a:solidFill>
              <a:srgbClr val="CBD5E1"/>
            </a:solidFill>
            <a:prstDash val="solid"/>
          </a:ln>
        </p:spPr>
      </p:sp>
      <p:sp>
        <p:nvSpPr>
          <p:cNvPr id="35" name="Shape 33"/>
          <p:cNvSpPr/>
          <p:nvPr/>
        </p:nvSpPr>
        <p:spPr>
          <a:xfrm>
            <a:off x="1920240" y="3438144"/>
            <a:ext cx="6309360" cy="384048"/>
          </a:xfrm>
          <a:prstGeom prst="rect">
            <a:avLst/>
          </a:prstGeom>
          <a:solidFill>
            <a:srgbClr val="1A8A4A"/>
          </a:solidFill>
          <a:ln w="12700">
            <a:solidFill>
              <a:srgbClr val="1A8A4A"/>
            </a:solidFill>
            <a:prstDash val="solid"/>
          </a:ln>
        </p:spPr>
      </p:sp>
      <p:sp>
        <p:nvSpPr>
          <p:cNvPr id="36" name="Text 34"/>
          <p:cNvSpPr txBox="1"/>
          <p:nvPr/>
        </p:nvSpPr>
        <p:spPr>
          <a:xfrm>
            <a:off x="274320" y="3493008"/>
            <a:ext cx="1600200" cy="274320"/>
          </a:xfrm>
          <a:prstGeom prst="rect">
            <a:avLst/>
          </a:prstGeom>
          <a:noFill/>
          <a:ln/>
        </p:spPr>
        <p:txBody>
          <a:bodyPr wrap="square" lIns="0" tIns="0" rIns="0" bIns="0" rtlCol="0" anchor="ctr"/>
          <a:lstStyle/>
          <a:p>
            <a:pPr algn="r" indent="0" marL="0">
              <a:buNone/>
            </a:pPr>
            <a:r>
              <a:rPr lang="en-US" sz="900" b="1" dirty="0">
                <a:solidFill>
                  <a:srgbClr val="3A4A5C"/>
                </a:solidFill>
                <a:latin typeface="Calibri" pitchFamily="34" charset="0"/>
                <a:ea typeface="Calibri" pitchFamily="34" charset="-122"/>
                <a:cs typeface="Calibri" pitchFamily="34" charset="-120"/>
              </a:rPr>
              <a:t>Expected Case</a:t>
            </a:r>
            <a:endParaRPr lang="en-US" sz="900" dirty="0"/>
          </a:p>
        </p:txBody>
      </p:sp>
      <p:sp>
        <p:nvSpPr>
          <p:cNvPr id="37" name="Text 35"/>
          <p:cNvSpPr txBox="1"/>
          <p:nvPr/>
        </p:nvSpPr>
        <p:spPr>
          <a:xfrm>
            <a:off x="1965960" y="3502152"/>
            <a:ext cx="6172200" cy="256032"/>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$51,677.71/month</a:t>
            </a:r>
            <a:endParaRPr lang="en-US" sz="900" dirty="0"/>
          </a:p>
        </p:txBody>
      </p:sp>
      <p:sp>
        <p:nvSpPr>
          <p:cNvPr id="38" name="Text 36"/>
          <p:cNvSpPr txBox="1"/>
          <p:nvPr/>
        </p:nvSpPr>
        <p:spPr>
          <a:xfrm>
            <a:off x="8275320" y="3502152"/>
            <a:ext cx="2286000" cy="2560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(28.7% reduction)</a:t>
            </a:r>
            <a:endParaRPr lang="en-US" sz="900" dirty="0"/>
          </a:p>
        </p:txBody>
      </p:sp>
      <p:sp>
        <p:nvSpPr>
          <p:cNvPr id="39" name="Shape 37"/>
          <p:cNvSpPr/>
          <p:nvPr/>
        </p:nvSpPr>
        <p:spPr>
          <a:xfrm>
            <a:off x="1920240" y="4059936"/>
            <a:ext cx="7772400" cy="384048"/>
          </a:xfrm>
          <a:prstGeom prst="rect">
            <a:avLst/>
          </a:prstGeom>
          <a:solidFill>
            <a:srgbClr val="F2F4F5"/>
          </a:solidFill>
          <a:ln w="12700">
            <a:solidFill>
              <a:srgbClr val="CBD5E1"/>
            </a:solidFill>
            <a:prstDash val="solid"/>
          </a:ln>
        </p:spPr>
      </p:sp>
      <p:sp>
        <p:nvSpPr>
          <p:cNvPr id="40" name="Shape 38"/>
          <p:cNvSpPr/>
          <p:nvPr/>
        </p:nvSpPr>
        <p:spPr>
          <a:xfrm>
            <a:off x="1920240" y="4059936"/>
            <a:ext cx="6583680" cy="384048"/>
          </a:xfrm>
          <a:prstGeom prst="rect">
            <a:avLst/>
          </a:prstGeom>
          <a:solidFill>
            <a:srgbClr val="0E7C87"/>
          </a:solidFill>
          <a:ln w="12700">
            <a:solidFill>
              <a:srgbClr val="0E7C87"/>
            </a:solidFill>
            <a:prstDash val="solid"/>
          </a:ln>
        </p:spPr>
      </p:sp>
      <p:sp>
        <p:nvSpPr>
          <p:cNvPr id="41" name="Text 39"/>
          <p:cNvSpPr txBox="1"/>
          <p:nvPr/>
        </p:nvSpPr>
        <p:spPr>
          <a:xfrm>
            <a:off x="274320" y="4114800"/>
            <a:ext cx="1600200" cy="274320"/>
          </a:xfrm>
          <a:prstGeom prst="rect">
            <a:avLst/>
          </a:prstGeom>
          <a:noFill/>
          <a:ln/>
        </p:spPr>
        <p:txBody>
          <a:bodyPr wrap="square" lIns="0" tIns="0" rIns="0" bIns="0" rtlCol="0" anchor="ctr"/>
          <a:lstStyle/>
          <a:p>
            <a:pPr algn="r" indent="0" marL="0">
              <a:buNone/>
            </a:pPr>
            <a:r>
              <a:rPr lang="en-US" sz="900" b="1" dirty="0">
                <a:solidFill>
                  <a:srgbClr val="3A4A5C"/>
                </a:solidFill>
                <a:latin typeface="Calibri" pitchFamily="34" charset="0"/>
                <a:ea typeface="Calibri" pitchFamily="34" charset="-122"/>
                <a:cs typeface="Calibri" pitchFamily="34" charset="-120"/>
              </a:rPr>
              <a:t>Best Case</a:t>
            </a:r>
            <a:endParaRPr lang="en-US" sz="900" dirty="0"/>
          </a:p>
        </p:txBody>
      </p:sp>
      <p:sp>
        <p:nvSpPr>
          <p:cNvPr id="42" name="Text 40"/>
          <p:cNvSpPr txBox="1"/>
          <p:nvPr/>
        </p:nvSpPr>
        <p:spPr>
          <a:xfrm>
            <a:off x="1965960" y="4123944"/>
            <a:ext cx="6446520" cy="256032"/>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$53,903.64/month</a:t>
            </a:r>
            <a:endParaRPr lang="en-US" sz="900" dirty="0"/>
          </a:p>
        </p:txBody>
      </p:sp>
      <p:sp>
        <p:nvSpPr>
          <p:cNvPr id="43" name="Text 41"/>
          <p:cNvSpPr txBox="1"/>
          <p:nvPr/>
        </p:nvSpPr>
        <p:spPr>
          <a:xfrm>
            <a:off x="8549640" y="4123944"/>
            <a:ext cx="2286000" cy="2560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(29.9% reduction)</a:t>
            </a:r>
            <a:endParaRPr lang="en-US" sz="900" dirty="0"/>
          </a:p>
        </p:txBody>
      </p:sp>
      <p:sp>
        <p:nvSpPr>
          <p:cNvPr id="44" name="Shape 42"/>
          <p:cNvSpPr/>
          <p:nvPr/>
        </p:nvSpPr>
        <p:spPr>
          <a:xfrm>
            <a:off x="1920240" y="4681728"/>
            <a:ext cx="7772400" cy="384048"/>
          </a:xfrm>
          <a:prstGeom prst="rect">
            <a:avLst/>
          </a:prstGeom>
          <a:solidFill>
            <a:srgbClr val="F2F4F5"/>
          </a:solidFill>
          <a:ln w="12700">
            <a:solidFill>
              <a:srgbClr val="CBD5E1"/>
            </a:solidFill>
            <a:prstDash val="solid"/>
          </a:ln>
        </p:spPr>
      </p:sp>
      <p:sp>
        <p:nvSpPr>
          <p:cNvPr id="45" name="Shape 43"/>
          <p:cNvSpPr/>
          <p:nvPr/>
        </p:nvSpPr>
        <p:spPr>
          <a:xfrm>
            <a:off x="1920240" y="4681728"/>
            <a:ext cx="7315200" cy="384048"/>
          </a:xfrm>
          <a:prstGeom prst="rect">
            <a:avLst/>
          </a:prstGeom>
          <a:solidFill>
            <a:srgbClr val="1A5FA8"/>
          </a:solidFill>
          <a:ln w="12700">
            <a:solidFill>
              <a:srgbClr val="1A5FA8"/>
            </a:solidFill>
            <a:prstDash val="solid"/>
          </a:ln>
        </p:spPr>
      </p:sp>
      <p:sp>
        <p:nvSpPr>
          <p:cNvPr id="46" name="Text 44"/>
          <p:cNvSpPr txBox="1"/>
          <p:nvPr/>
        </p:nvSpPr>
        <p:spPr>
          <a:xfrm>
            <a:off x="274320" y="4736592"/>
            <a:ext cx="1600200" cy="274320"/>
          </a:xfrm>
          <a:prstGeom prst="rect">
            <a:avLst/>
          </a:prstGeom>
          <a:noFill/>
          <a:ln/>
        </p:spPr>
        <p:txBody>
          <a:bodyPr wrap="square" lIns="0" tIns="0" rIns="0" bIns="0" rtlCol="0" anchor="ctr"/>
          <a:lstStyle/>
          <a:p>
            <a:pPr algn="r" indent="0" marL="0">
              <a:buNone/>
            </a:pPr>
            <a:r>
              <a:rPr lang="en-US" sz="900" b="1" dirty="0">
                <a:solidFill>
                  <a:srgbClr val="3A4A5C"/>
                </a:solidFill>
                <a:latin typeface="Calibri" pitchFamily="34" charset="0"/>
                <a:ea typeface="Calibri" pitchFamily="34" charset="-122"/>
                <a:cs typeface="Calibri" pitchFamily="34" charset="-120"/>
              </a:rPr>
              <a:t>CFO Target</a:t>
            </a:r>
            <a:endParaRPr lang="en-US" sz="900" dirty="0"/>
          </a:p>
        </p:txBody>
      </p:sp>
      <p:sp>
        <p:nvSpPr>
          <p:cNvPr id="47" name="Text 45"/>
          <p:cNvSpPr txBox="1"/>
          <p:nvPr/>
        </p:nvSpPr>
        <p:spPr>
          <a:xfrm>
            <a:off x="1965960" y="4745736"/>
            <a:ext cx="7178040" cy="256032"/>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$60,000/month</a:t>
            </a:r>
            <a:endParaRPr lang="en-US" sz="900" dirty="0"/>
          </a:p>
        </p:txBody>
      </p:sp>
      <p:sp>
        <p:nvSpPr>
          <p:cNvPr id="48" name="Text 46"/>
          <p:cNvSpPr txBox="1"/>
          <p:nvPr/>
        </p:nvSpPr>
        <p:spPr>
          <a:xfrm>
            <a:off x="9281160" y="4745736"/>
            <a:ext cx="2286000" cy="2560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(33.3% reduction)</a:t>
            </a:r>
            <a:endParaRPr lang="en-US" sz="900" dirty="0"/>
          </a:p>
        </p:txBody>
      </p:sp>
      <p:sp>
        <p:nvSpPr>
          <p:cNvPr id="49" name="Shape 47"/>
          <p:cNvSpPr/>
          <p:nvPr/>
        </p:nvSpPr>
        <p:spPr>
          <a:xfrm>
            <a:off x="9875520" y="2542032"/>
            <a:ext cx="2057400" cy="3977640"/>
          </a:xfrm>
          <a:prstGeom prst="roundRect">
            <a:avLst>
              <a:gd name="adj" fmla="val 3556"/>
            </a:avLst>
          </a:prstGeom>
          <a:solidFill>
            <a:srgbClr val="0F2D56"/>
          </a:solidFill>
          <a:ln w="12700">
            <a:solidFill>
              <a:srgbClr val="0F2D56"/>
            </a:solidFill>
            <a:prstDash val="solid"/>
          </a:ln>
        </p:spPr>
      </p:sp>
      <p:sp>
        <p:nvSpPr>
          <p:cNvPr id="50" name="Text 48"/>
          <p:cNvSpPr txBox="1"/>
          <p:nvPr/>
        </p:nvSpPr>
        <p:spPr>
          <a:xfrm>
            <a:off x="9921240" y="2633472"/>
            <a:ext cx="1965960" cy="274320"/>
          </a:xfrm>
          <a:prstGeom prst="rect">
            <a:avLst/>
          </a:prstGeom>
          <a:noFill/>
          <a:ln/>
        </p:spPr>
        <p:txBody>
          <a:bodyPr wrap="square" lIns="0" tIns="0" rIns="0" bIns="0" rtlCol="0" anchor="ctr"/>
          <a:lstStyle/>
          <a:p>
            <a:pPr algn="ctr" indent="0" marL="0">
              <a:buNone/>
            </a:pPr>
            <a:r>
              <a:rPr lang="en-US" sz="900" b="1" spc="100" kern="0" dirty="0">
                <a:solidFill>
                  <a:srgbClr val="0E7C87"/>
                </a:solidFill>
                <a:latin typeface="Calibri" pitchFamily="34" charset="0"/>
                <a:ea typeface="Calibri" pitchFamily="34" charset="-122"/>
                <a:cs typeface="Calibri" pitchFamily="34" charset="-120"/>
              </a:rPr>
              <a:t>KEY DECISION</a:t>
            </a:r>
            <a:endParaRPr lang="en-US" sz="900" dirty="0"/>
          </a:p>
        </p:txBody>
      </p:sp>
      <p:sp>
        <p:nvSpPr>
          <p:cNvPr id="51" name="Text 49"/>
          <p:cNvSpPr txBox="1"/>
          <p:nvPr/>
        </p:nvSpPr>
        <p:spPr>
          <a:xfrm>
            <a:off x="9921240" y="2944368"/>
            <a:ext cx="1965960" cy="8229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Approve 90-day FinOps execution program to realise and sustain cloud cost savings.</a:t>
            </a:r>
            <a:endParaRPr lang="en-US" sz="1000" dirty="0"/>
          </a:p>
        </p:txBody>
      </p:sp>
      <p:sp>
        <p:nvSpPr>
          <p:cNvPr id="52" name="Text 50"/>
          <p:cNvSpPr txBox="1"/>
          <p:nvPr/>
        </p:nvSpPr>
        <p:spPr>
          <a:xfrm>
            <a:off x="9921240" y="3840480"/>
            <a:ext cx="1965960" cy="228600"/>
          </a:xfrm>
          <a:prstGeom prst="rect">
            <a:avLst/>
          </a:prstGeom>
          <a:noFill/>
          <a:ln/>
        </p:spPr>
        <p:txBody>
          <a:bodyPr wrap="square" lIns="0" tIns="0" rIns="0" bIns="0" rtlCol="0" anchor="ctr"/>
          <a:lstStyle/>
          <a:p>
            <a:pPr indent="0" marL="0">
              <a:buNone/>
            </a:pPr>
            <a:r>
              <a:rPr lang="en-US" sz="900" b="1" dirty="0">
                <a:solidFill>
                  <a:srgbClr val="0E7C87"/>
                </a:solidFill>
                <a:latin typeface="Calibri" pitchFamily="34" charset="0"/>
                <a:ea typeface="Calibri" pitchFamily="34" charset="-122"/>
                <a:cs typeface="Calibri" pitchFamily="34" charset="-120"/>
              </a:rPr>
              <a:t>Confidence Levels:</a:t>
            </a:r>
            <a:endParaRPr lang="en-US" sz="900" dirty="0"/>
          </a:p>
        </p:txBody>
      </p:sp>
      <p:sp>
        <p:nvSpPr>
          <p:cNvPr id="53" name="Shape 51"/>
          <p:cNvSpPr/>
          <p:nvPr/>
        </p:nvSpPr>
        <p:spPr>
          <a:xfrm>
            <a:off x="9948672" y="4133088"/>
            <a:ext cx="109728" cy="109728"/>
          </a:xfrm>
          <a:prstGeom prst="ellipse">
            <a:avLst/>
          </a:prstGeom>
          <a:solidFill>
            <a:srgbClr val="1A8A4A"/>
          </a:solidFill>
          <a:ln w="12700">
            <a:solidFill>
              <a:srgbClr val="1A8A4A"/>
            </a:solidFill>
            <a:prstDash val="solid"/>
          </a:ln>
        </p:spPr>
      </p:sp>
      <p:sp>
        <p:nvSpPr>
          <p:cNvPr id="54" name="Text 52"/>
          <p:cNvSpPr txBox="1"/>
          <p:nvPr/>
        </p:nvSpPr>
        <p:spPr>
          <a:xfrm>
            <a:off x="10104120" y="4096512"/>
            <a:ext cx="1719072"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High: Direct measurable findings</a:t>
            </a:r>
            <a:endParaRPr lang="en-US" sz="800" dirty="0"/>
          </a:p>
        </p:txBody>
      </p:sp>
      <p:sp>
        <p:nvSpPr>
          <p:cNvPr id="55" name="Shape 53"/>
          <p:cNvSpPr/>
          <p:nvPr/>
        </p:nvSpPr>
        <p:spPr>
          <a:xfrm>
            <a:off x="9948672" y="4517136"/>
            <a:ext cx="109728" cy="109728"/>
          </a:xfrm>
          <a:prstGeom prst="ellipse">
            <a:avLst/>
          </a:prstGeom>
          <a:solidFill>
            <a:srgbClr val="E07B00"/>
          </a:solidFill>
          <a:ln w="12700">
            <a:solidFill>
              <a:srgbClr val="E07B00"/>
            </a:solidFill>
            <a:prstDash val="solid"/>
          </a:ln>
        </p:spPr>
      </p:sp>
      <p:sp>
        <p:nvSpPr>
          <p:cNvPr id="56" name="Text 54"/>
          <p:cNvSpPr txBox="1"/>
          <p:nvPr/>
        </p:nvSpPr>
        <p:spPr>
          <a:xfrm>
            <a:off x="10104120" y="4480560"/>
            <a:ext cx="1719072"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Medium: Scenario-based</a:t>
            </a:r>
            <a:endParaRPr lang="en-US" sz="800" dirty="0"/>
          </a:p>
        </p:txBody>
      </p:sp>
      <p:sp>
        <p:nvSpPr>
          <p:cNvPr id="57" name="Shape 55"/>
          <p:cNvSpPr/>
          <p:nvPr/>
        </p:nvSpPr>
        <p:spPr>
          <a:xfrm>
            <a:off x="9948672" y="4901184"/>
            <a:ext cx="109728" cy="109728"/>
          </a:xfrm>
          <a:prstGeom prst="ellipse">
            <a:avLst/>
          </a:prstGeom>
          <a:solidFill>
            <a:srgbClr val="C0392B"/>
          </a:solidFill>
          <a:ln w="12700">
            <a:solidFill>
              <a:srgbClr val="C0392B"/>
            </a:solidFill>
            <a:prstDash val="solid"/>
          </a:ln>
        </p:spPr>
      </p:sp>
      <p:sp>
        <p:nvSpPr>
          <p:cNvPr id="58" name="Text 56"/>
          <p:cNvSpPr txBox="1"/>
          <p:nvPr/>
        </p:nvSpPr>
        <p:spPr>
          <a:xfrm>
            <a:off x="10104120" y="4864608"/>
            <a:ext cx="1719072"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Conditional: Needs validation</a:t>
            </a:r>
            <a:endParaRPr lang="en-US" sz="800" dirty="0"/>
          </a:p>
        </p:txBody>
      </p:sp>
      <p:sp>
        <p:nvSpPr>
          <p:cNvPr id="59" name="Shape 57"/>
          <p:cNvSpPr/>
          <p:nvPr/>
        </p:nvSpPr>
        <p:spPr>
          <a:xfrm>
            <a:off x="9948672" y="5285232"/>
            <a:ext cx="109728" cy="109728"/>
          </a:xfrm>
          <a:prstGeom prst="ellipse">
            <a:avLst/>
          </a:prstGeom>
          <a:solidFill>
            <a:srgbClr val="7F8C8D"/>
          </a:solidFill>
          <a:ln w="12700">
            <a:solidFill>
              <a:srgbClr val="7F8C8D"/>
            </a:solidFill>
            <a:prstDash val="solid"/>
          </a:ln>
        </p:spPr>
      </p:sp>
      <p:sp>
        <p:nvSpPr>
          <p:cNvPr id="60" name="Text 58"/>
          <p:cNvSpPr txBox="1"/>
          <p:nvPr/>
        </p:nvSpPr>
        <p:spPr>
          <a:xfrm>
            <a:off x="10104120" y="5248656"/>
            <a:ext cx="1719072"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Procurement: Refresh before commit</a:t>
            </a:r>
            <a:endParaRPr lang="en-US" sz="800" dirty="0"/>
          </a:p>
        </p:txBody>
      </p:sp>
      <p:sp>
        <p:nvSpPr>
          <p:cNvPr id="61" name="Shape 59"/>
          <p:cNvSpPr/>
          <p:nvPr/>
        </p:nvSpPr>
        <p:spPr>
          <a:xfrm>
            <a:off x="292608" y="2633472"/>
            <a:ext cx="91440" cy="91440"/>
          </a:xfrm>
          <a:prstGeom prst="ellipse">
            <a:avLst/>
          </a:prstGeom>
          <a:solidFill>
            <a:srgbClr val="C0392B"/>
          </a:solidFill>
          <a:ln w="12700">
            <a:solidFill>
              <a:srgbClr val="C0392B"/>
            </a:solidFill>
            <a:prstDash val="solid"/>
          </a:ln>
        </p:spPr>
      </p:sp>
      <p:sp>
        <p:nvSpPr>
          <p:cNvPr id="62" name="Shape 60"/>
          <p:cNvSpPr/>
          <p:nvPr/>
        </p:nvSpPr>
        <p:spPr>
          <a:xfrm>
            <a:off x="292608" y="2980944"/>
            <a:ext cx="91440" cy="91440"/>
          </a:xfrm>
          <a:prstGeom prst="ellipse">
            <a:avLst/>
          </a:prstGeom>
          <a:solidFill>
            <a:srgbClr val="E07B00"/>
          </a:solidFill>
          <a:ln w="12700">
            <a:solidFill>
              <a:srgbClr val="E07B00"/>
            </a:solidFill>
            <a:prstDash val="solid"/>
          </a:ln>
        </p:spPr>
      </p:sp>
      <p:sp>
        <p:nvSpPr>
          <p:cNvPr id="63" name="Shape 61"/>
          <p:cNvSpPr/>
          <p:nvPr/>
        </p:nvSpPr>
        <p:spPr>
          <a:xfrm>
            <a:off x="292608" y="3328416"/>
            <a:ext cx="91440" cy="91440"/>
          </a:xfrm>
          <a:prstGeom prst="ellipse">
            <a:avLst/>
          </a:prstGeom>
          <a:solidFill>
            <a:srgbClr val="1A8A4A"/>
          </a:solidFill>
          <a:ln w="12700">
            <a:solidFill>
              <a:srgbClr val="1A8A4A"/>
            </a:solidFill>
            <a:prstDash val="solid"/>
          </a:ln>
        </p:spPr>
      </p:sp>
      <p:sp>
        <p:nvSpPr>
          <p:cNvPr id="64" name="Shape 62"/>
          <p:cNvSpPr/>
          <p:nvPr/>
        </p:nvSpPr>
        <p:spPr>
          <a:xfrm>
            <a:off x="292608" y="3675888"/>
            <a:ext cx="91440" cy="91440"/>
          </a:xfrm>
          <a:prstGeom prst="ellipse">
            <a:avLst/>
          </a:prstGeom>
          <a:solidFill>
            <a:srgbClr val="1A5FA8"/>
          </a:solidFill>
          <a:ln w="12700">
            <a:solidFill>
              <a:srgbClr val="1A5FA8"/>
            </a:solidFill>
            <a:prstDash val="solid"/>
          </a:ln>
        </p:spPr>
      </p:sp>
      <p:sp>
        <p:nvSpPr>
          <p:cNvPr id="65" name="Shape 63"/>
          <p:cNvSpPr/>
          <p:nvPr/>
        </p:nvSpPr>
        <p:spPr>
          <a:xfrm>
            <a:off x="292608" y="4023360"/>
            <a:ext cx="91440" cy="91440"/>
          </a:xfrm>
          <a:prstGeom prst="ellipse">
            <a:avLst/>
          </a:prstGeom>
          <a:solidFill>
            <a:srgbClr val="0E7C87"/>
          </a:solidFill>
          <a:ln w="12700">
            <a:solidFill>
              <a:srgbClr val="0E7C8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Problem: Cost Outpacing Revenue</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Six-month cost trajectory vs. revenue index</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3 / 18</a:t>
            </a:r>
            <a:endParaRPr lang="en-US" sz="700" dirty="0"/>
          </a:p>
        </p:txBody>
      </p:sp>
      <p:sp>
        <p:nvSpPr>
          <p:cNvPr id="8" name="Text 6"/>
          <p:cNvSpPr txBox="1"/>
          <p:nvPr/>
        </p:nvSpPr>
        <p:spPr>
          <a:xfrm>
            <a:off x="274320" y="1115568"/>
            <a:ext cx="11612880" cy="411480"/>
          </a:xfrm>
          <a:prstGeom prst="rect">
            <a:avLst/>
          </a:prstGeom>
          <a:noFill/>
          <a:ln/>
        </p:spPr>
        <p:txBody>
          <a:bodyPr wrap="square" lIns="0" tIns="0" rIns="0" bIns="0"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Cloud spend grew 3.6× while revenue only doubled</a:t>
            </a:r>
            <a:endParaRPr lang="en-US" sz="1800" dirty="0"/>
          </a:p>
        </p:txBody>
      </p:sp>
      <p:graphicFrame>
        <p:nvGraphicFramePr>
          <p:cNvPr id="9" name="Chart 0" descr=""/>
          <p:cNvGraphicFramePr/>
          <p:nvPr/>
        </p:nvGraphicFramePr>
        <p:xfrm>
          <a:off x="365760" y="1572768"/>
          <a:ext cx="594360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6492240" y="1572768"/>
          <a:ext cx="5486400" cy="44348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37960" y="1600200"/>
            <a:ext cx="2011680" cy="594360"/>
          </a:xfrm>
          <a:prstGeom prst="roundRect">
            <a:avLst>
              <a:gd name="adj" fmla="val 9231"/>
            </a:avLst>
          </a:prstGeom>
          <a:solidFill>
            <a:srgbClr val="D4EFDF"/>
          </a:solidFill>
          <a:ln w="12700">
            <a:solidFill>
              <a:srgbClr val="1A8A4A"/>
            </a:solidFill>
            <a:prstDash val="solid"/>
          </a:ln>
        </p:spPr>
      </p:sp>
      <p:sp>
        <p:nvSpPr>
          <p:cNvPr id="12" name="Text 8"/>
          <p:cNvSpPr txBox="1"/>
          <p:nvPr/>
        </p:nvSpPr>
        <p:spPr>
          <a:xfrm>
            <a:off x="6583680" y="1618488"/>
            <a:ext cx="1920240" cy="5303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Revenue: ×2.0</a:t>
            </a:r>
            <a:endParaRPr lang="en-US" sz="900" dirty="0"/>
          </a:p>
          <a:p>
            <a:pPr algn="ctr" indent="0" marL="0">
              <a:buNone/>
            </a:pPr>
            <a:r>
              <a:rPr lang="en-US" sz="900" b="1" dirty="0">
                <a:solidFill>
                  <a:srgbClr val="1A8A4A"/>
                </a:solidFill>
                <a:latin typeface="Calibri" pitchFamily="34" charset="0"/>
                <a:ea typeface="Calibri" pitchFamily="34" charset="-122"/>
                <a:cs typeface="Calibri" pitchFamily="34" charset="-120"/>
              </a:rPr>
              <a:t>(Index 100→200)</a:t>
            </a:r>
            <a:endParaRPr lang="en-US" sz="900" dirty="0"/>
          </a:p>
        </p:txBody>
      </p:sp>
      <p:sp>
        <p:nvSpPr>
          <p:cNvPr id="13" name="Shape 9"/>
          <p:cNvSpPr/>
          <p:nvPr/>
        </p:nvSpPr>
        <p:spPr>
          <a:xfrm>
            <a:off x="8686800" y="1600200"/>
            <a:ext cx="2011680" cy="594360"/>
          </a:xfrm>
          <a:prstGeom prst="roundRect">
            <a:avLst>
              <a:gd name="adj" fmla="val 9231"/>
            </a:avLst>
          </a:prstGeom>
          <a:solidFill>
            <a:srgbClr val="FADBD8"/>
          </a:solidFill>
          <a:ln w="12700">
            <a:solidFill>
              <a:srgbClr val="C0392B"/>
            </a:solidFill>
            <a:prstDash val="solid"/>
          </a:ln>
        </p:spPr>
      </p:sp>
      <p:sp>
        <p:nvSpPr>
          <p:cNvPr id="14" name="Text 10"/>
          <p:cNvSpPr txBox="1"/>
          <p:nvPr/>
        </p:nvSpPr>
        <p:spPr>
          <a:xfrm>
            <a:off x="8732520" y="1618488"/>
            <a:ext cx="1920240" cy="5303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Cloud Cost: ×3.6</a:t>
            </a:r>
            <a:endParaRPr lang="en-US" sz="900" dirty="0"/>
          </a:p>
          <a:p>
            <a:pPr algn="ctr" indent="0" marL="0">
              <a:buNone/>
            </a:pPr>
            <a:r>
              <a:rPr lang="en-US" sz="900" b="1" dirty="0">
                <a:solidFill>
                  <a:srgbClr val="C0392B"/>
                </a:solidFill>
                <a:latin typeface="Calibri" pitchFamily="34" charset="0"/>
                <a:ea typeface="Calibri" pitchFamily="34" charset="-122"/>
                <a:cs typeface="Calibri" pitchFamily="34" charset="-120"/>
              </a:rPr>
              <a:t>(Index 100→360)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Where the Money Is Going</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6-Month Cumulative AWS Service Spend (Jan–Jun 2026)</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4 / 18</a:t>
            </a:r>
            <a:endParaRPr lang="en-US" sz="700" dirty="0"/>
          </a:p>
        </p:txBody>
      </p:sp>
      <p:graphicFrame>
        <p:nvGraphicFramePr>
          <p:cNvPr id="8" name="Chart 0" descr=""/>
          <p:cNvGraphicFramePr/>
          <p:nvPr/>
        </p:nvGraphicFramePr>
        <p:xfrm>
          <a:off x="365760" y="1170432"/>
          <a:ext cx="7772400" cy="5166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366760" y="1188720"/>
            <a:ext cx="3566160" cy="1965960"/>
          </a:xfrm>
          <a:prstGeom prst="roundRect">
            <a:avLst>
              <a:gd name="adj" fmla="val 3721"/>
            </a:avLst>
          </a:prstGeom>
          <a:solidFill>
            <a:srgbClr val="FADBD8"/>
          </a:solidFill>
          <a:ln w="12700">
            <a:solidFill>
              <a:srgbClr val="C0392B"/>
            </a:solidFill>
            <a:prstDash val="solid"/>
          </a:ln>
        </p:spPr>
      </p:sp>
      <p:sp>
        <p:nvSpPr>
          <p:cNvPr id="10" name="Text 7"/>
          <p:cNvSpPr txBox="1"/>
          <p:nvPr/>
        </p:nvSpPr>
        <p:spPr>
          <a:xfrm>
            <a:off x="8412480" y="1261872"/>
            <a:ext cx="3474720" cy="256032"/>
          </a:xfrm>
          <a:prstGeom prst="rect">
            <a:avLst/>
          </a:prstGeom>
          <a:noFill/>
          <a:ln/>
        </p:spPr>
        <p:txBody>
          <a:bodyPr wrap="square" lIns="0" tIns="0" rIns="0" bIns="0" rtlCol="0" anchor="ctr"/>
          <a:lstStyle/>
          <a:p>
            <a:pPr algn="ctr" indent="0" marL="0">
              <a:buNone/>
            </a:pPr>
            <a:r>
              <a:rPr lang="en-US" sz="900" b="1" spc="200" kern="0" dirty="0">
                <a:solidFill>
                  <a:srgbClr val="C0392B"/>
                </a:solidFill>
                <a:latin typeface="Calibri" pitchFamily="34" charset="0"/>
                <a:ea typeface="Calibri" pitchFamily="34" charset="-122"/>
                <a:cs typeface="Calibri" pitchFamily="34" charset="-120"/>
              </a:rPr>
              <a:t>TOP 3 SERVICES</a:t>
            </a:r>
            <a:endParaRPr lang="en-US" sz="900" dirty="0"/>
          </a:p>
        </p:txBody>
      </p:sp>
      <p:sp>
        <p:nvSpPr>
          <p:cNvPr id="11" name="Text 8"/>
          <p:cNvSpPr txBox="1"/>
          <p:nvPr/>
        </p:nvSpPr>
        <p:spPr>
          <a:xfrm>
            <a:off x="8412480" y="1554480"/>
            <a:ext cx="3474720" cy="438912"/>
          </a:xfrm>
          <a:prstGeom prst="rect">
            <a:avLst/>
          </a:prstGeom>
          <a:noFill/>
          <a:ln/>
        </p:spPr>
        <p:txBody>
          <a:bodyPr wrap="square" lIns="0" tIns="0" rIns="0" bIns="0"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EC2 Compute</a:t>
            </a:r>
            <a:endParaRPr lang="en-US" sz="1300" dirty="0"/>
          </a:p>
          <a:p>
            <a:pPr algn="ctr" indent="0" marL="0">
              <a:buNone/>
            </a:pPr>
            <a:r>
              <a:rPr lang="en-US" sz="1300" b="1" dirty="0">
                <a:solidFill>
                  <a:srgbClr val="C0392B"/>
                </a:solidFill>
                <a:latin typeface="Calibri" pitchFamily="34" charset="0"/>
                <a:ea typeface="Calibri" pitchFamily="34" charset="-122"/>
                <a:cs typeface="Calibri" pitchFamily="34" charset="-120"/>
              </a:rPr>
              <a:t>$145,373  •  27.9%</a:t>
            </a:r>
            <a:endParaRPr lang="en-US" sz="1300" dirty="0"/>
          </a:p>
        </p:txBody>
      </p:sp>
      <p:sp>
        <p:nvSpPr>
          <p:cNvPr id="12" name="Text 9"/>
          <p:cNvSpPr txBox="1"/>
          <p:nvPr/>
        </p:nvSpPr>
        <p:spPr>
          <a:xfrm>
            <a:off x="8412480" y="2039112"/>
            <a:ext cx="3474720" cy="438912"/>
          </a:xfrm>
          <a:prstGeom prst="rect">
            <a:avLst/>
          </a:prstGeom>
          <a:noFill/>
          <a:ln/>
        </p:spPr>
        <p:txBody>
          <a:bodyPr wrap="square" lIns="0" tIns="0" rIns="0" bIns="0" rtlCol="0" anchor="ctr"/>
          <a:lstStyle/>
          <a:p>
            <a:pPr algn="ctr" indent="0" marL="0">
              <a:buNone/>
            </a:pPr>
            <a:r>
              <a:rPr lang="en-US" sz="1300" b="1" dirty="0">
                <a:solidFill>
                  <a:srgbClr val="E07B00"/>
                </a:solidFill>
                <a:latin typeface="Calibri" pitchFamily="34" charset="0"/>
                <a:ea typeface="Calibri" pitchFamily="34" charset="-122"/>
                <a:cs typeface="Calibri" pitchFamily="34" charset="-120"/>
              </a:rPr>
              <a:t>RDS Database</a:t>
            </a:r>
            <a:endParaRPr lang="en-US" sz="1300" dirty="0"/>
          </a:p>
          <a:p>
            <a:pPr algn="ctr" indent="0" marL="0">
              <a:buNone/>
            </a:pPr>
            <a:r>
              <a:rPr lang="en-US" sz="1300" b="1" dirty="0">
                <a:solidFill>
                  <a:srgbClr val="E07B00"/>
                </a:solidFill>
                <a:latin typeface="Calibri" pitchFamily="34" charset="0"/>
                <a:ea typeface="Calibri" pitchFamily="34" charset="-122"/>
                <a:cs typeface="Calibri" pitchFamily="34" charset="-120"/>
              </a:rPr>
              <a:t>$140,170  •  26.9%</a:t>
            </a:r>
            <a:endParaRPr lang="en-US" sz="1300" dirty="0"/>
          </a:p>
        </p:txBody>
      </p:sp>
      <p:sp>
        <p:nvSpPr>
          <p:cNvPr id="13" name="Text 10"/>
          <p:cNvSpPr txBox="1"/>
          <p:nvPr/>
        </p:nvSpPr>
        <p:spPr>
          <a:xfrm>
            <a:off x="8412480" y="2523744"/>
            <a:ext cx="3474720" cy="438912"/>
          </a:xfrm>
          <a:prstGeom prst="rect">
            <a:avLst/>
          </a:prstGeom>
          <a:noFill/>
          <a:ln/>
        </p:spPr>
        <p:txBody>
          <a:bodyPr wrap="square" lIns="0" tIns="0" rIns="0" bIns="0" rtlCol="0" anchor="ctr"/>
          <a:lstStyle/>
          <a:p>
            <a:pPr algn="ctr" indent="0" marL="0">
              <a:buNone/>
            </a:pPr>
            <a:r>
              <a:rPr lang="en-US" sz="1300" b="1" dirty="0">
                <a:solidFill>
                  <a:srgbClr val="0F2D56"/>
                </a:solidFill>
                <a:latin typeface="Calibri" pitchFamily="34" charset="0"/>
                <a:ea typeface="Calibri" pitchFamily="34" charset="-122"/>
                <a:cs typeface="Calibri" pitchFamily="34" charset="-120"/>
              </a:rPr>
              <a:t>EKS Kubernetes</a:t>
            </a:r>
            <a:endParaRPr lang="en-US" sz="1300" dirty="0"/>
          </a:p>
          <a:p>
            <a:pPr algn="ctr" indent="0" marL="0">
              <a:buNone/>
            </a:pPr>
            <a:r>
              <a:rPr lang="en-US" sz="1300" b="1" dirty="0">
                <a:solidFill>
                  <a:srgbClr val="0F2D56"/>
                </a:solidFill>
                <a:latin typeface="Calibri" pitchFamily="34" charset="0"/>
                <a:ea typeface="Calibri" pitchFamily="34" charset="-122"/>
                <a:cs typeface="Calibri" pitchFamily="34" charset="-120"/>
              </a:rPr>
              <a:t>$130,881  •  25.2%</a:t>
            </a:r>
            <a:endParaRPr lang="en-US" sz="1300" dirty="0"/>
          </a:p>
        </p:txBody>
      </p:sp>
      <p:sp>
        <p:nvSpPr>
          <p:cNvPr id="14" name="Shape 11"/>
          <p:cNvSpPr/>
          <p:nvPr/>
        </p:nvSpPr>
        <p:spPr>
          <a:xfrm>
            <a:off x="8366760" y="3310128"/>
            <a:ext cx="3566160" cy="1188720"/>
          </a:xfrm>
          <a:prstGeom prst="roundRect">
            <a:avLst>
              <a:gd name="adj" fmla="val 6154"/>
            </a:avLst>
          </a:prstGeom>
          <a:solidFill>
            <a:srgbClr val="F2F4F5"/>
          </a:solidFill>
          <a:ln w="12700">
            <a:solidFill>
              <a:srgbClr val="CBD5E1"/>
            </a:solidFill>
            <a:prstDash val="solid"/>
          </a:ln>
        </p:spPr>
      </p:sp>
      <p:sp>
        <p:nvSpPr>
          <p:cNvPr id="15" name="Text 12"/>
          <p:cNvSpPr txBox="1"/>
          <p:nvPr/>
        </p:nvSpPr>
        <p:spPr>
          <a:xfrm>
            <a:off x="8412480" y="3383280"/>
            <a:ext cx="3474720" cy="256032"/>
          </a:xfrm>
          <a:prstGeom prst="rect">
            <a:avLst/>
          </a:prstGeom>
          <a:noFill/>
          <a:ln/>
        </p:spPr>
        <p:txBody>
          <a:bodyPr wrap="square" lIns="0" tIns="0" rIns="0" bIns="0" rtlCol="0" anchor="ctr"/>
          <a:lstStyle/>
          <a:p>
            <a:pPr algn="ctr" indent="0" marL="0">
              <a:buNone/>
            </a:pPr>
            <a:r>
              <a:rPr lang="en-US" sz="900" b="1" spc="100" kern="0" dirty="0">
                <a:solidFill>
                  <a:srgbClr val="3A4A5C"/>
                </a:solidFill>
                <a:latin typeface="Calibri" pitchFamily="34" charset="0"/>
                <a:ea typeface="Calibri" pitchFamily="34" charset="-122"/>
                <a:cs typeface="Calibri" pitchFamily="34" charset="-120"/>
              </a:rPr>
              <a:t>Total 6-Month Spend</a:t>
            </a:r>
            <a:endParaRPr lang="en-US" sz="900" dirty="0"/>
          </a:p>
        </p:txBody>
      </p:sp>
      <p:sp>
        <p:nvSpPr>
          <p:cNvPr id="16" name="Text 13"/>
          <p:cNvSpPr txBox="1"/>
          <p:nvPr/>
        </p:nvSpPr>
        <p:spPr>
          <a:xfrm>
            <a:off x="8412480" y="3639312"/>
            <a:ext cx="3474720" cy="530352"/>
          </a:xfrm>
          <a:prstGeom prst="rect">
            <a:avLst/>
          </a:prstGeom>
          <a:noFill/>
          <a:ln/>
        </p:spPr>
        <p:txBody>
          <a:bodyPr wrap="square" lIns="0" tIns="0" rIns="0" bIns="0" rtlCol="0" anchor="ctr"/>
          <a:lstStyle/>
          <a:p>
            <a:pPr algn="ctr" indent="0" marL="0">
              <a:buNone/>
            </a:pPr>
            <a:r>
              <a:rPr lang="en-US" sz="3000" b="1" dirty="0">
                <a:solidFill>
                  <a:srgbClr val="0F2D56"/>
                </a:solidFill>
                <a:latin typeface="Calibri" pitchFamily="34" charset="0"/>
                <a:ea typeface="Calibri" pitchFamily="34" charset="-122"/>
                <a:cs typeface="Calibri" pitchFamily="34" charset="-120"/>
              </a:rPr>
              <a:t>$661,904</a:t>
            </a:r>
            <a:endParaRPr lang="en-US" sz="3000" dirty="0"/>
          </a:p>
        </p:txBody>
      </p:sp>
      <p:sp>
        <p:nvSpPr>
          <p:cNvPr id="17" name="Text 14"/>
          <p:cNvSpPr txBox="1"/>
          <p:nvPr/>
        </p:nvSpPr>
        <p:spPr>
          <a:xfrm>
            <a:off x="8412480" y="4160520"/>
            <a:ext cx="3474720" cy="228600"/>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Avg $110,000/month (Jan–Jun)</a:t>
            </a:r>
            <a:endParaRPr lang="en-US" sz="900" dirty="0"/>
          </a:p>
        </p:txBody>
      </p:sp>
      <p:sp>
        <p:nvSpPr>
          <p:cNvPr id="18" name="Shape 15"/>
          <p:cNvSpPr/>
          <p:nvPr/>
        </p:nvSpPr>
        <p:spPr>
          <a:xfrm>
            <a:off x="8366760" y="4617720"/>
            <a:ext cx="3566160" cy="1371600"/>
          </a:xfrm>
          <a:prstGeom prst="roundRect">
            <a:avLst>
              <a:gd name="adj" fmla="val 5333"/>
            </a:avLst>
          </a:prstGeom>
          <a:solidFill>
            <a:srgbClr val="D4EFDF"/>
          </a:solidFill>
          <a:ln w="12700">
            <a:solidFill>
              <a:srgbClr val="1A8A4A"/>
            </a:solidFill>
            <a:prstDash val="solid"/>
          </a:ln>
        </p:spPr>
      </p:sp>
      <p:sp>
        <p:nvSpPr>
          <p:cNvPr id="19" name="Text 16"/>
          <p:cNvSpPr txBox="1"/>
          <p:nvPr/>
        </p:nvSpPr>
        <p:spPr>
          <a:xfrm>
            <a:off x="8412480" y="4681728"/>
            <a:ext cx="3474720" cy="228600"/>
          </a:xfrm>
          <a:prstGeom prst="rect">
            <a:avLst/>
          </a:prstGeom>
          <a:noFill/>
          <a:ln/>
        </p:spPr>
        <p:txBody>
          <a:bodyPr wrap="square" lIns="0" tIns="0" rIns="0" bIns="0" rtlCol="0" anchor="ctr"/>
          <a:lstStyle/>
          <a:p>
            <a:pPr algn="ctr" indent="0" marL="0">
              <a:buNone/>
            </a:pPr>
            <a:r>
              <a:rPr lang="en-US" sz="800" b="1" spc="100" kern="0" dirty="0">
                <a:solidFill>
                  <a:srgbClr val="1A8A4A"/>
                </a:solidFill>
                <a:latin typeface="Calibri" pitchFamily="34" charset="0"/>
                <a:ea typeface="Calibri" pitchFamily="34" charset="-122"/>
                <a:cs typeface="Calibri" pitchFamily="34" charset="-120"/>
              </a:rPr>
              <a:t>CONCENTRATION INSIGHT</a:t>
            </a:r>
            <a:endParaRPr lang="en-US" sz="800" dirty="0"/>
          </a:p>
        </p:txBody>
      </p:sp>
      <p:sp>
        <p:nvSpPr>
          <p:cNvPr id="20" name="Text 17"/>
          <p:cNvSpPr txBox="1"/>
          <p:nvPr/>
        </p:nvSpPr>
        <p:spPr>
          <a:xfrm>
            <a:off x="8412480" y="4937760"/>
            <a:ext cx="3474720" cy="91440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80% of spend concentrated in EC2 + RDS + EKS + SageMaker.</a:t>
            </a:r>
            <a:endParaRPr lang="en-US" sz="1000" dirty="0"/>
          </a:p>
          <a:p>
            <a:pPr indent="0" marL="0">
              <a:buNone/>
            </a:pPr>
            <a:r>
              <a:rPr lang="en-US" sz="1000" dirty="0">
                <a:solidFill>
                  <a:srgbClr val="0F2D56"/>
                </a:solidFill>
                <a:latin typeface="Calibri" pitchFamily="34" charset="0"/>
                <a:ea typeface="Calibri" pitchFamily="34" charset="-122"/>
                <a:cs typeface="Calibri" pitchFamily="34" charset="-120"/>
              </a:rPr>
              <a:t>Focused optimisation delivers maximum impact.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Root Causes of Waste</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Eight categories driving avoidable cloud spend</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5 / 18</a:t>
            </a:r>
            <a:endParaRPr lang="en-US" sz="700" dirty="0"/>
          </a:p>
        </p:txBody>
      </p:sp>
      <p:sp>
        <p:nvSpPr>
          <p:cNvPr id="8" name="Shape 6"/>
          <p:cNvSpPr/>
          <p:nvPr/>
        </p:nvSpPr>
        <p:spPr>
          <a:xfrm>
            <a:off x="274320" y="1170432"/>
            <a:ext cx="5715000" cy="1170432"/>
          </a:xfrm>
          <a:prstGeom prst="roundRect">
            <a:avLst>
              <a:gd name="adj" fmla="val 5469"/>
            </a:avLst>
          </a:prstGeom>
          <a:solidFill>
            <a:srgbClr val="F2F4F5"/>
          </a:solidFill>
          <a:ln w="12700">
            <a:solidFill>
              <a:srgbClr val="CBD5E1"/>
            </a:solidFill>
            <a:prstDash val="solid"/>
          </a:ln>
        </p:spPr>
      </p:sp>
      <p:sp>
        <p:nvSpPr>
          <p:cNvPr id="9" name="Shape 7"/>
          <p:cNvSpPr/>
          <p:nvPr/>
        </p:nvSpPr>
        <p:spPr>
          <a:xfrm>
            <a:off x="384048" y="1517904"/>
            <a:ext cx="411480" cy="411480"/>
          </a:xfrm>
          <a:prstGeom prst="ellipse">
            <a:avLst/>
          </a:prstGeom>
          <a:solidFill>
            <a:srgbClr val="C0392B"/>
          </a:solidFill>
          <a:ln w="12700">
            <a:solidFill>
              <a:srgbClr val="C0392B"/>
            </a:solidFill>
            <a:prstDash val="solid"/>
          </a:ln>
        </p:spPr>
      </p:sp>
      <p:sp>
        <p:nvSpPr>
          <p:cNvPr id="10" name="Text 8"/>
          <p:cNvSpPr txBox="1"/>
          <p:nvPr/>
        </p:nvSpPr>
        <p:spPr>
          <a:xfrm>
            <a:off x="384048" y="151790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1" name="Text 9"/>
          <p:cNvSpPr txBox="1"/>
          <p:nvPr/>
        </p:nvSpPr>
        <p:spPr>
          <a:xfrm>
            <a:off x="868680" y="1234440"/>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Compute Inefficiency</a:t>
            </a:r>
            <a:endParaRPr lang="en-US" sz="1100" dirty="0"/>
          </a:p>
        </p:txBody>
      </p:sp>
      <p:sp>
        <p:nvSpPr>
          <p:cNvPr id="12" name="Text 10"/>
          <p:cNvSpPr txBox="1"/>
          <p:nvPr/>
        </p:nvSpPr>
        <p:spPr>
          <a:xfrm>
            <a:off x="868680" y="1517904"/>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100 right-sizing candidates identified. Over-provisioned EC2 and EKS nodes — instances running at &lt;40% CPU/memory utilisation.</a:t>
            </a:r>
            <a:endParaRPr lang="en-US" sz="900" dirty="0"/>
          </a:p>
        </p:txBody>
      </p:sp>
      <p:sp>
        <p:nvSpPr>
          <p:cNvPr id="13" name="Shape 11"/>
          <p:cNvSpPr/>
          <p:nvPr/>
        </p:nvSpPr>
        <p:spPr>
          <a:xfrm>
            <a:off x="274320" y="2478024"/>
            <a:ext cx="5715000" cy="1170432"/>
          </a:xfrm>
          <a:prstGeom prst="roundRect">
            <a:avLst>
              <a:gd name="adj" fmla="val 5469"/>
            </a:avLst>
          </a:prstGeom>
          <a:solidFill>
            <a:srgbClr val="F2F4F5"/>
          </a:solidFill>
          <a:ln w="12700">
            <a:solidFill>
              <a:srgbClr val="CBD5E1"/>
            </a:solidFill>
            <a:prstDash val="solid"/>
          </a:ln>
        </p:spPr>
      </p:sp>
      <p:sp>
        <p:nvSpPr>
          <p:cNvPr id="14" name="Shape 12"/>
          <p:cNvSpPr/>
          <p:nvPr/>
        </p:nvSpPr>
        <p:spPr>
          <a:xfrm>
            <a:off x="384048" y="2825496"/>
            <a:ext cx="411480" cy="411480"/>
          </a:xfrm>
          <a:prstGeom prst="ellipse">
            <a:avLst/>
          </a:prstGeom>
          <a:solidFill>
            <a:srgbClr val="E07B00"/>
          </a:solidFill>
          <a:ln w="12700">
            <a:solidFill>
              <a:srgbClr val="E07B00"/>
            </a:solidFill>
            <a:prstDash val="solid"/>
          </a:ln>
        </p:spPr>
      </p:sp>
      <p:sp>
        <p:nvSpPr>
          <p:cNvPr id="15" name="Text 13"/>
          <p:cNvSpPr txBox="1"/>
          <p:nvPr/>
        </p:nvSpPr>
        <p:spPr>
          <a:xfrm>
            <a:off x="384048" y="282549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16" name="Text 14"/>
          <p:cNvSpPr txBox="1"/>
          <p:nvPr/>
        </p:nvSpPr>
        <p:spPr>
          <a:xfrm>
            <a:off x="868680" y="2542032"/>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Storage Inefficiency</a:t>
            </a:r>
            <a:endParaRPr lang="en-US" sz="1100" dirty="0"/>
          </a:p>
        </p:txBody>
      </p:sp>
      <p:sp>
        <p:nvSpPr>
          <p:cNvPr id="17" name="Text 15"/>
          <p:cNvSpPr txBox="1"/>
          <p:nvPr/>
        </p:nvSpPr>
        <p:spPr>
          <a:xfrm>
            <a:off x="868680" y="2825496"/>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192 of 500 resources in Standard tier with 90+ days since last access. Lifecycle policies absent.</a:t>
            </a:r>
            <a:endParaRPr lang="en-US" sz="900" dirty="0"/>
          </a:p>
        </p:txBody>
      </p:sp>
      <p:sp>
        <p:nvSpPr>
          <p:cNvPr id="18" name="Shape 16"/>
          <p:cNvSpPr/>
          <p:nvPr/>
        </p:nvSpPr>
        <p:spPr>
          <a:xfrm>
            <a:off x="274320" y="3785616"/>
            <a:ext cx="5715000" cy="1170432"/>
          </a:xfrm>
          <a:prstGeom prst="roundRect">
            <a:avLst>
              <a:gd name="adj" fmla="val 5469"/>
            </a:avLst>
          </a:prstGeom>
          <a:solidFill>
            <a:srgbClr val="F2F4F5"/>
          </a:solidFill>
          <a:ln w="12700">
            <a:solidFill>
              <a:srgbClr val="CBD5E1"/>
            </a:solidFill>
            <a:prstDash val="solid"/>
          </a:ln>
        </p:spPr>
      </p:sp>
      <p:sp>
        <p:nvSpPr>
          <p:cNvPr id="19" name="Shape 17"/>
          <p:cNvSpPr/>
          <p:nvPr/>
        </p:nvSpPr>
        <p:spPr>
          <a:xfrm>
            <a:off x="384048" y="4133088"/>
            <a:ext cx="411480" cy="411480"/>
          </a:xfrm>
          <a:prstGeom prst="ellipse">
            <a:avLst/>
          </a:prstGeom>
          <a:solidFill>
            <a:srgbClr val="C0392B"/>
          </a:solidFill>
          <a:ln w="12700">
            <a:solidFill>
              <a:srgbClr val="C0392B"/>
            </a:solidFill>
            <a:prstDash val="solid"/>
          </a:ln>
        </p:spPr>
      </p:sp>
      <p:sp>
        <p:nvSpPr>
          <p:cNvPr id="20" name="Text 18"/>
          <p:cNvSpPr txBox="1"/>
          <p:nvPr/>
        </p:nvSpPr>
        <p:spPr>
          <a:xfrm>
            <a:off x="384048" y="413308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1" name="Text 19"/>
          <p:cNvSpPr txBox="1"/>
          <p:nvPr/>
        </p:nvSpPr>
        <p:spPr>
          <a:xfrm>
            <a:off x="868680" y="3849624"/>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Data Transfer</a:t>
            </a:r>
            <a:endParaRPr lang="en-US" sz="1100" dirty="0"/>
          </a:p>
        </p:txBody>
      </p:sp>
      <p:sp>
        <p:nvSpPr>
          <p:cNvPr id="22" name="Text 20"/>
          <p:cNvSpPr txBox="1"/>
          <p:nvPr/>
        </p:nvSpPr>
        <p:spPr>
          <a:xfrm>
            <a:off x="868680" y="4133088"/>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Cross-AZ, cross-region, and NAT Gateway charges. ~$30,574.46/month opportunity in transfer architecture.</a:t>
            </a:r>
            <a:endParaRPr lang="en-US" sz="900" dirty="0"/>
          </a:p>
        </p:txBody>
      </p:sp>
      <p:sp>
        <p:nvSpPr>
          <p:cNvPr id="23" name="Shape 21"/>
          <p:cNvSpPr/>
          <p:nvPr/>
        </p:nvSpPr>
        <p:spPr>
          <a:xfrm>
            <a:off x="274320" y="5093208"/>
            <a:ext cx="5715000" cy="1170432"/>
          </a:xfrm>
          <a:prstGeom prst="roundRect">
            <a:avLst>
              <a:gd name="adj" fmla="val 5469"/>
            </a:avLst>
          </a:prstGeom>
          <a:solidFill>
            <a:srgbClr val="F2F4F5"/>
          </a:solidFill>
          <a:ln w="12700">
            <a:solidFill>
              <a:srgbClr val="CBD5E1"/>
            </a:solidFill>
            <a:prstDash val="solid"/>
          </a:ln>
        </p:spPr>
      </p:sp>
      <p:sp>
        <p:nvSpPr>
          <p:cNvPr id="24" name="Shape 22"/>
          <p:cNvSpPr/>
          <p:nvPr/>
        </p:nvSpPr>
        <p:spPr>
          <a:xfrm>
            <a:off x="384048" y="5440680"/>
            <a:ext cx="411480" cy="411480"/>
          </a:xfrm>
          <a:prstGeom prst="ellipse">
            <a:avLst/>
          </a:prstGeom>
          <a:solidFill>
            <a:srgbClr val="E07B00"/>
          </a:solidFill>
          <a:ln w="12700">
            <a:solidFill>
              <a:srgbClr val="E07B00"/>
            </a:solidFill>
            <a:prstDash val="solid"/>
          </a:ln>
        </p:spPr>
      </p:sp>
      <p:sp>
        <p:nvSpPr>
          <p:cNvPr id="25" name="Text 23"/>
          <p:cNvSpPr txBox="1"/>
          <p:nvPr/>
        </p:nvSpPr>
        <p:spPr>
          <a:xfrm>
            <a:off x="384048" y="54406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26" name="Text 24"/>
          <p:cNvSpPr txBox="1"/>
          <p:nvPr/>
        </p:nvSpPr>
        <p:spPr>
          <a:xfrm>
            <a:off x="868680" y="5157216"/>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Underutilized Commitments</a:t>
            </a:r>
            <a:endParaRPr lang="en-US" sz="1100" dirty="0"/>
          </a:p>
        </p:txBody>
      </p:sp>
      <p:sp>
        <p:nvSpPr>
          <p:cNvPr id="27" name="Text 25"/>
          <p:cNvSpPr txBox="1"/>
          <p:nvPr/>
        </p:nvSpPr>
        <p:spPr>
          <a:xfrm>
            <a:off x="868680" y="5440680"/>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Avg RI utilisation: 71.4%. 89 RIs below 70%. 47 RIs expiring within 90 days.</a:t>
            </a:r>
            <a:endParaRPr lang="en-US" sz="900" dirty="0"/>
          </a:p>
        </p:txBody>
      </p:sp>
      <p:sp>
        <p:nvSpPr>
          <p:cNvPr id="28" name="Shape 26"/>
          <p:cNvSpPr/>
          <p:nvPr/>
        </p:nvSpPr>
        <p:spPr>
          <a:xfrm>
            <a:off x="6263640" y="1170432"/>
            <a:ext cx="5715000" cy="1170432"/>
          </a:xfrm>
          <a:prstGeom prst="roundRect">
            <a:avLst>
              <a:gd name="adj" fmla="val 5469"/>
            </a:avLst>
          </a:prstGeom>
          <a:solidFill>
            <a:srgbClr val="F2F4F5"/>
          </a:solidFill>
          <a:ln w="12700">
            <a:solidFill>
              <a:srgbClr val="CBD5E1"/>
            </a:solidFill>
            <a:prstDash val="solid"/>
          </a:ln>
        </p:spPr>
      </p:sp>
      <p:sp>
        <p:nvSpPr>
          <p:cNvPr id="29" name="Shape 27"/>
          <p:cNvSpPr/>
          <p:nvPr/>
        </p:nvSpPr>
        <p:spPr>
          <a:xfrm>
            <a:off x="6373368" y="1517904"/>
            <a:ext cx="411480" cy="411480"/>
          </a:xfrm>
          <a:prstGeom prst="ellipse">
            <a:avLst/>
          </a:prstGeom>
          <a:solidFill>
            <a:srgbClr val="E07B00"/>
          </a:solidFill>
          <a:ln w="12700">
            <a:solidFill>
              <a:srgbClr val="E07B00"/>
            </a:solidFill>
            <a:prstDash val="solid"/>
          </a:ln>
        </p:spPr>
      </p:sp>
      <p:sp>
        <p:nvSpPr>
          <p:cNvPr id="30" name="Text 28"/>
          <p:cNvSpPr txBox="1"/>
          <p:nvPr/>
        </p:nvSpPr>
        <p:spPr>
          <a:xfrm>
            <a:off x="6373368" y="151790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31" name="Text 29"/>
          <p:cNvSpPr txBox="1"/>
          <p:nvPr/>
        </p:nvSpPr>
        <p:spPr>
          <a:xfrm>
            <a:off x="6858000" y="1234440"/>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Idle/Non-Production</a:t>
            </a:r>
            <a:endParaRPr lang="en-US" sz="1100" dirty="0"/>
          </a:p>
        </p:txBody>
      </p:sp>
      <p:sp>
        <p:nvSpPr>
          <p:cNvPr id="32" name="Text 30"/>
          <p:cNvSpPr txBox="1"/>
          <p:nvPr/>
        </p:nvSpPr>
        <p:spPr>
          <a:xfrm>
            <a:off x="6858000" y="1517904"/>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Dev/staging environments running 24×7. Scheduled shutdown opportunity ~$836/month (planning estimate).</a:t>
            </a:r>
            <a:endParaRPr lang="en-US" sz="900" dirty="0"/>
          </a:p>
        </p:txBody>
      </p:sp>
      <p:sp>
        <p:nvSpPr>
          <p:cNvPr id="33" name="Shape 31"/>
          <p:cNvSpPr/>
          <p:nvPr/>
        </p:nvSpPr>
        <p:spPr>
          <a:xfrm>
            <a:off x="6263640" y="2478024"/>
            <a:ext cx="5715000" cy="1170432"/>
          </a:xfrm>
          <a:prstGeom prst="roundRect">
            <a:avLst>
              <a:gd name="adj" fmla="val 5469"/>
            </a:avLst>
          </a:prstGeom>
          <a:solidFill>
            <a:srgbClr val="F2F4F5"/>
          </a:solidFill>
          <a:ln w="12700">
            <a:solidFill>
              <a:srgbClr val="CBD5E1"/>
            </a:solidFill>
            <a:prstDash val="solid"/>
          </a:ln>
        </p:spPr>
      </p:sp>
      <p:sp>
        <p:nvSpPr>
          <p:cNvPr id="34" name="Shape 32"/>
          <p:cNvSpPr/>
          <p:nvPr/>
        </p:nvSpPr>
        <p:spPr>
          <a:xfrm>
            <a:off x="6373368" y="2825496"/>
            <a:ext cx="411480" cy="411480"/>
          </a:xfrm>
          <a:prstGeom prst="ellipse">
            <a:avLst/>
          </a:prstGeom>
          <a:solidFill>
            <a:srgbClr val="1A5FA8"/>
          </a:solidFill>
          <a:ln w="12700">
            <a:solidFill>
              <a:srgbClr val="1A5FA8"/>
            </a:solidFill>
            <a:prstDash val="solid"/>
          </a:ln>
        </p:spPr>
      </p:sp>
      <p:sp>
        <p:nvSpPr>
          <p:cNvPr id="35" name="Text 33"/>
          <p:cNvSpPr txBox="1"/>
          <p:nvPr/>
        </p:nvSpPr>
        <p:spPr>
          <a:xfrm>
            <a:off x="6373368" y="282549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6" name="Text 34"/>
          <p:cNvSpPr txBox="1"/>
          <p:nvPr/>
        </p:nvSpPr>
        <p:spPr>
          <a:xfrm>
            <a:off x="6858000" y="2542032"/>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Scaling Behavior</a:t>
            </a:r>
            <a:endParaRPr lang="en-US" sz="1100" dirty="0"/>
          </a:p>
        </p:txBody>
      </p:sp>
      <p:sp>
        <p:nvSpPr>
          <p:cNvPr id="37" name="Text 35"/>
          <p:cNvSpPr txBox="1"/>
          <p:nvPr/>
        </p:nvSpPr>
        <p:spPr>
          <a:xfrm>
            <a:off x="6858000" y="2825496"/>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Runaway autoscaling: largest single anomaly category at ~$26,642.16 excess cost observed. Asymmetric cooldowns needed.</a:t>
            </a:r>
            <a:endParaRPr lang="en-US" sz="900" dirty="0"/>
          </a:p>
        </p:txBody>
      </p:sp>
      <p:sp>
        <p:nvSpPr>
          <p:cNvPr id="38" name="Shape 36"/>
          <p:cNvSpPr/>
          <p:nvPr/>
        </p:nvSpPr>
        <p:spPr>
          <a:xfrm>
            <a:off x="6263640" y="3785616"/>
            <a:ext cx="5715000" cy="1170432"/>
          </a:xfrm>
          <a:prstGeom prst="roundRect">
            <a:avLst>
              <a:gd name="adj" fmla="val 5469"/>
            </a:avLst>
          </a:prstGeom>
          <a:solidFill>
            <a:srgbClr val="F2F4F5"/>
          </a:solidFill>
          <a:ln w="12700">
            <a:solidFill>
              <a:srgbClr val="CBD5E1"/>
            </a:solidFill>
            <a:prstDash val="solid"/>
          </a:ln>
        </p:spPr>
      </p:sp>
      <p:sp>
        <p:nvSpPr>
          <p:cNvPr id="39" name="Shape 37"/>
          <p:cNvSpPr/>
          <p:nvPr/>
        </p:nvSpPr>
        <p:spPr>
          <a:xfrm>
            <a:off x="6373368" y="4133088"/>
            <a:ext cx="411480" cy="411480"/>
          </a:xfrm>
          <a:prstGeom prst="ellipse">
            <a:avLst/>
          </a:prstGeom>
          <a:solidFill>
            <a:srgbClr val="7F8C8D"/>
          </a:solidFill>
          <a:ln w="12700">
            <a:solidFill>
              <a:srgbClr val="7F8C8D"/>
            </a:solidFill>
            <a:prstDash val="solid"/>
          </a:ln>
        </p:spPr>
      </p:sp>
      <p:sp>
        <p:nvSpPr>
          <p:cNvPr id="40" name="Text 38"/>
          <p:cNvSpPr txBox="1"/>
          <p:nvPr/>
        </p:nvSpPr>
        <p:spPr>
          <a:xfrm>
            <a:off x="6373368" y="413308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41" name="Text 39"/>
          <p:cNvSpPr txBox="1"/>
          <p:nvPr/>
        </p:nvSpPr>
        <p:spPr>
          <a:xfrm>
            <a:off x="6858000" y="3849624"/>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Tagging / Governance Gaps</a:t>
            </a:r>
            <a:endParaRPr lang="en-US" sz="1100" dirty="0"/>
          </a:p>
        </p:txBody>
      </p:sp>
      <p:sp>
        <p:nvSpPr>
          <p:cNvPr id="42" name="Text 40"/>
          <p:cNvSpPr txBox="1"/>
          <p:nvPr/>
        </p:nvSpPr>
        <p:spPr>
          <a:xfrm>
            <a:off x="6858000" y="4133088"/>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17.3% of resources non-compliant (260 resources). Cost cannot be accurately attributed to team/product.</a:t>
            </a:r>
            <a:endParaRPr lang="en-US" sz="900" dirty="0"/>
          </a:p>
        </p:txBody>
      </p:sp>
      <p:sp>
        <p:nvSpPr>
          <p:cNvPr id="43" name="Shape 41"/>
          <p:cNvSpPr/>
          <p:nvPr/>
        </p:nvSpPr>
        <p:spPr>
          <a:xfrm>
            <a:off x="6263640" y="5093208"/>
            <a:ext cx="5715000" cy="1170432"/>
          </a:xfrm>
          <a:prstGeom prst="roundRect">
            <a:avLst>
              <a:gd name="adj" fmla="val 5469"/>
            </a:avLst>
          </a:prstGeom>
          <a:solidFill>
            <a:srgbClr val="F2F4F5"/>
          </a:solidFill>
          <a:ln w="12700">
            <a:solidFill>
              <a:srgbClr val="CBD5E1"/>
            </a:solidFill>
            <a:prstDash val="solid"/>
          </a:ln>
        </p:spPr>
      </p:sp>
      <p:sp>
        <p:nvSpPr>
          <p:cNvPr id="44" name="Shape 42"/>
          <p:cNvSpPr/>
          <p:nvPr/>
        </p:nvSpPr>
        <p:spPr>
          <a:xfrm>
            <a:off x="6373368" y="5440680"/>
            <a:ext cx="411480" cy="411480"/>
          </a:xfrm>
          <a:prstGeom prst="ellipse">
            <a:avLst/>
          </a:prstGeom>
          <a:solidFill>
            <a:srgbClr val="C0392B"/>
          </a:solidFill>
          <a:ln w="12700">
            <a:solidFill>
              <a:srgbClr val="C0392B"/>
            </a:solidFill>
            <a:prstDash val="solid"/>
          </a:ln>
        </p:spPr>
      </p:sp>
      <p:sp>
        <p:nvSpPr>
          <p:cNvPr id="45" name="Text 43"/>
          <p:cNvSpPr txBox="1"/>
          <p:nvPr/>
        </p:nvSpPr>
        <p:spPr>
          <a:xfrm>
            <a:off x="6373368" y="54406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a:t>
            </a:r>
            <a:endParaRPr lang="en-US" sz="1200" dirty="0"/>
          </a:p>
        </p:txBody>
      </p:sp>
      <p:sp>
        <p:nvSpPr>
          <p:cNvPr id="46" name="Text 44"/>
          <p:cNvSpPr txBox="1"/>
          <p:nvPr/>
        </p:nvSpPr>
        <p:spPr>
          <a:xfrm>
            <a:off x="6858000" y="5157216"/>
            <a:ext cx="5029200" cy="274320"/>
          </a:xfrm>
          <a:prstGeom prst="rect">
            <a:avLst/>
          </a:prstGeom>
          <a:noFill/>
          <a:ln/>
        </p:spPr>
        <p:txBody>
          <a:bodyPr wrap="square" lIns="0" tIns="0" rIns="0" bIns="0" rtlCol="0" anchor="ctr"/>
          <a:lstStyle/>
          <a:p>
            <a:pPr indent="0" marL="0">
              <a:buNone/>
            </a:pPr>
            <a:r>
              <a:rPr lang="en-US" sz="1100" b="1" dirty="0">
                <a:solidFill>
                  <a:srgbClr val="0F2D56"/>
                </a:solidFill>
                <a:latin typeface="Calibri" pitchFamily="34" charset="0"/>
                <a:ea typeface="Calibri" pitchFamily="34" charset="-122"/>
                <a:cs typeface="Calibri" pitchFamily="34" charset="-120"/>
              </a:rPr>
              <a:t>Anomaly-Driven Spend</a:t>
            </a:r>
            <a:endParaRPr lang="en-US" sz="1100" dirty="0"/>
          </a:p>
        </p:txBody>
      </p:sp>
      <p:sp>
        <p:nvSpPr>
          <p:cNvPr id="47" name="Text 45"/>
          <p:cNvSpPr txBox="1"/>
          <p:nvPr/>
        </p:nvSpPr>
        <p:spPr>
          <a:xfrm>
            <a:off x="6858000" y="5440680"/>
            <a:ext cx="5029200" cy="749808"/>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80 anomaly events totaling $114,110.90 observed excess cost observed. P1–P4 severity. MTTD not yet baselining.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Savings Opportunity</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Quantified optimisation model — modelled opportunity, not yet realised savings</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6 / 18</a:t>
            </a:r>
            <a:endParaRPr lang="en-US" sz="700" dirty="0"/>
          </a:p>
        </p:txBody>
      </p:sp>
      <p:graphicFrame>
        <p:nvGraphicFramePr>
          <p:cNvPr id="8" name="Chart 0" descr=""/>
          <p:cNvGraphicFramePr/>
          <p:nvPr/>
        </p:nvGraphicFramePr>
        <p:xfrm>
          <a:off x="274320" y="1170432"/>
          <a:ext cx="7498080" cy="50292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955280" y="1188720"/>
            <a:ext cx="3977640" cy="2377440"/>
          </a:xfrm>
          <a:prstGeom prst="roundRect">
            <a:avLst>
              <a:gd name="adj" fmla="val 3846"/>
            </a:avLst>
          </a:prstGeom>
          <a:solidFill>
            <a:srgbClr val="000000"/>
          </a:solidFill>
          <a:ln w="12700">
            <a:solidFill>
              <a:srgbClr val="1A8A4A"/>
            </a:solidFill>
            <a:prstDash val="solid"/>
          </a:ln>
        </p:spPr>
      </p:sp>
      <p:sp>
        <p:nvSpPr>
          <p:cNvPr id="10" name="Text 7"/>
          <p:cNvSpPr txBox="1"/>
          <p:nvPr/>
        </p:nvSpPr>
        <p:spPr>
          <a:xfrm>
            <a:off x="8046720" y="1261872"/>
            <a:ext cx="3794760" cy="411480"/>
          </a:xfrm>
          <a:prstGeom prst="rect">
            <a:avLst/>
          </a:prstGeom>
          <a:noFill/>
          <a:ln/>
        </p:spPr>
        <p:txBody>
          <a:bodyPr wrap="square" lIns="0" tIns="0" rIns="0" bIns="0" rtlCol="0" anchor="ctr"/>
          <a:lstStyle/>
          <a:p>
            <a:pPr algn="ctr" indent="0" marL="0">
              <a:buNone/>
            </a:pPr>
            <a:r>
              <a:rPr lang="en-US" sz="900" b="1" spc="100" kern="0" dirty="0">
                <a:solidFill>
                  <a:srgbClr val="1A8A4A"/>
                </a:solidFill>
                <a:latin typeface="Calibri" pitchFamily="34" charset="0"/>
                <a:ea typeface="Calibri" pitchFamily="34" charset="-122"/>
                <a:cs typeface="Calibri" pitchFamily="34" charset="-120"/>
              </a:rPr>
              <a:t>EXPECTED MODELLED</a:t>
            </a:r>
            <a:endParaRPr lang="en-US" sz="900" dirty="0"/>
          </a:p>
          <a:p>
            <a:pPr algn="ctr" indent="0" marL="0">
              <a:buNone/>
            </a:pPr>
            <a:r>
              <a:rPr lang="en-US" sz="900" b="1" spc="100" kern="0" dirty="0">
                <a:solidFill>
                  <a:srgbClr val="1A8A4A"/>
                </a:solidFill>
                <a:latin typeface="Calibri" pitchFamily="34" charset="0"/>
                <a:ea typeface="Calibri" pitchFamily="34" charset="-122"/>
                <a:cs typeface="Calibri" pitchFamily="34" charset="-120"/>
              </a:rPr>
              <a:t>OPPORTUNITY</a:t>
            </a:r>
            <a:endParaRPr lang="en-US" sz="900" dirty="0"/>
          </a:p>
        </p:txBody>
      </p:sp>
      <p:sp>
        <p:nvSpPr>
          <p:cNvPr id="11" name="Text 8"/>
          <p:cNvSpPr txBox="1"/>
          <p:nvPr/>
        </p:nvSpPr>
        <p:spPr>
          <a:xfrm>
            <a:off x="8046720" y="1664208"/>
            <a:ext cx="3794760" cy="749808"/>
          </a:xfrm>
          <a:prstGeom prst="rect">
            <a:avLst/>
          </a:prstGeom>
          <a:noFill/>
          <a:ln/>
        </p:spPr>
        <p:txBody>
          <a:bodyPr wrap="square" lIns="0" tIns="0" rIns="0" bIns="0" rtlCol="0" anchor="ctr"/>
          <a:lstStyle/>
          <a:p>
            <a:pPr algn="ctr" indent="0" marL="0">
              <a:buNone/>
            </a:pPr>
            <a:r>
              <a:rPr lang="en-US" sz="4400" b="1" dirty="0">
                <a:solidFill>
                  <a:srgbClr val="1A8A4A"/>
                </a:solidFill>
                <a:latin typeface="Calibri" pitchFamily="34" charset="0"/>
                <a:ea typeface="Calibri" pitchFamily="34" charset="-122"/>
                <a:cs typeface="Calibri" pitchFamily="34" charset="-120"/>
              </a:rPr>
              <a:t>$51,677.71</a:t>
            </a:r>
            <a:endParaRPr lang="en-US" sz="4400" dirty="0"/>
          </a:p>
        </p:txBody>
      </p:sp>
      <p:sp>
        <p:nvSpPr>
          <p:cNvPr id="12" name="Text 9"/>
          <p:cNvSpPr txBox="1"/>
          <p:nvPr/>
        </p:nvSpPr>
        <p:spPr>
          <a:xfrm>
            <a:off x="8046720" y="2395728"/>
            <a:ext cx="3794760" cy="274320"/>
          </a:xfrm>
          <a:prstGeom prst="rect">
            <a:avLst/>
          </a:prstGeom>
          <a:noFill/>
          <a:ln/>
        </p:spPr>
        <p:txBody>
          <a:bodyPr wrap="square" lIns="0" tIns="0" rIns="0" bIns="0" rtlCol="0" anchor="ctr"/>
          <a:lstStyle/>
          <a:p>
            <a:pPr algn="ctr" indent="0" marL="0">
              <a:buNone/>
            </a:pPr>
            <a:r>
              <a:rPr lang="en-US" sz="1100" dirty="0">
                <a:solidFill>
                  <a:srgbClr val="1A8A4A"/>
                </a:solidFill>
                <a:latin typeface="Calibri" pitchFamily="34" charset="0"/>
                <a:ea typeface="Calibri" pitchFamily="34" charset="-122"/>
                <a:cs typeface="Calibri" pitchFamily="34" charset="-120"/>
              </a:rPr>
              <a:t>per month</a:t>
            </a:r>
            <a:endParaRPr lang="en-US" sz="1100" dirty="0"/>
          </a:p>
        </p:txBody>
      </p:sp>
      <p:sp>
        <p:nvSpPr>
          <p:cNvPr id="13" name="Text 10"/>
          <p:cNvSpPr txBox="1"/>
          <p:nvPr/>
        </p:nvSpPr>
        <p:spPr>
          <a:xfrm>
            <a:off x="8046720" y="2697480"/>
            <a:ext cx="3794760" cy="228600"/>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28.7% of current $180,000 spend</a:t>
            </a:r>
            <a:endParaRPr lang="en-US" sz="900" dirty="0"/>
          </a:p>
        </p:txBody>
      </p:sp>
      <p:sp>
        <p:nvSpPr>
          <p:cNvPr id="14" name="Shape 11"/>
          <p:cNvSpPr/>
          <p:nvPr/>
        </p:nvSpPr>
        <p:spPr>
          <a:xfrm>
            <a:off x="7955280" y="3657600"/>
            <a:ext cx="3977640" cy="1188720"/>
          </a:xfrm>
          <a:prstGeom prst="roundRect">
            <a:avLst>
              <a:gd name="adj" fmla="val 7692"/>
            </a:avLst>
          </a:prstGeom>
          <a:solidFill>
            <a:srgbClr val="FDEBD0"/>
          </a:solidFill>
          <a:ln w="12700">
            <a:solidFill>
              <a:srgbClr val="E07B00"/>
            </a:solidFill>
            <a:prstDash val="solid"/>
          </a:ln>
        </p:spPr>
      </p:sp>
      <p:sp>
        <p:nvSpPr>
          <p:cNvPr id="15" name="Text 12"/>
          <p:cNvSpPr txBox="1"/>
          <p:nvPr/>
        </p:nvSpPr>
        <p:spPr>
          <a:xfrm>
            <a:off x="8046720" y="3730752"/>
            <a:ext cx="3794760" cy="256032"/>
          </a:xfrm>
          <a:prstGeom prst="rect">
            <a:avLst/>
          </a:prstGeom>
          <a:noFill/>
          <a:ln/>
        </p:spPr>
        <p:txBody>
          <a:bodyPr wrap="square" lIns="0" tIns="0" rIns="0" bIns="0" rtlCol="0" anchor="ctr"/>
          <a:lstStyle/>
          <a:p>
            <a:pPr algn="ctr" indent="0" marL="0">
              <a:buNone/>
            </a:pPr>
            <a:r>
              <a:rPr lang="en-US" sz="800" b="1" spc="100" kern="0" dirty="0">
                <a:solidFill>
                  <a:srgbClr val="E07B00"/>
                </a:solidFill>
                <a:latin typeface="Calibri" pitchFamily="34" charset="0"/>
                <a:ea typeface="Calibri" pitchFamily="34" charset="-122"/>
                <a:cs typeface="Calibri" pitchFamily="34" charset="-120"/>
              </a:rPr>
              <a:t>MODELLED GAP TO CFO TARGET</a:t>
            </a:r>
            <a:endParaRPr lang="en-US" sz="800" dirty="0"/>
          </a:p>
        </p:txBody>
      </p:sp>
      <p:sp>
        <p:nvSpPr>
          <p:cNvPr id="16" name="Text 13"/>
          <p:cNvSpPr txBox="1"/>
          <p:nvPr/>
        </p:nvSpPr>
        <p:spPr>
          <a:xfrm>
            <a:off x="8046720" y="4005072"/>
            <a:ext cx="3794760" cy="475488"/>
          </a:xfrm>
          <a:prstGeom prst="rect">
            <a:avLst/>
          </a:prstGeom>
          <a:noFill/>
          <a:ln/>
        </p:spPr>
        <p:txBody>
          <a:bodyPr wrap="square" lIns="0" tIns="0" rIns="0" bIns="0" rtlCol="0" anchor="ctr"/>
          <a:lstStyle/>
          <a:p>
            <a:pPr algn="ctr" indent="0" marL="0">
              <a:buNone/>
            </a:pPr>
            <a:r>
              <a:rPr lang="en-US" sz="2400" b="1" dirty="0">
                <a:solidFill>
                  <a:srgbClr val="E07B00"/>
                </a:solidFill>
                <a:latin typeface="Calibri" pitchFamily="34" charset="0"/>
                <a:ea typeface="Calibri" pitchFamily="34" charset="-122"/>
                <a:cs typeface="Calibri" pitchFamily="34" charset="-120"/>
              </a:rPr>
              <a:t>$8,322.29/month</a:t>
            </a:r>
            <a:endParaRPr lang="en-US" sz="2400" dirty="0"/>
          </a:p>
        </p:txBody>
      </p:sp>
      <p:sp>
        <p:nvSpPr>
          <p:cNvPr id="17" name="Text 14"/>
          <p:cNvSpPr txBox="1"/>
          <p:nvPr/>
        </p:nvSpPr>
        <p:spPr>
          <a:xfrm>
            <a:off x="8046720" y="4462272"/>
            <a:ext cx="3794760" cy="256032"/>
          </a:xfrm>
          <a:prstGeom prst="rect">
            <a:avLst/>
          </a:prstGeom>
          <a:noFill/>
          <a:ln/>
        </p:spPr>
        <p:txBody>
          <a:bodyPr wrap="square" lIns="0" tIns="0" rIns="0" bIns="0" rtlCol="0" anchor="ctr"/>
          <a:lstStyle/>
          <a:p>
            <a:pPr algn="ctr" indent="0" marL="0">
              <a:buNone/>
            </a:pPr>
            <a:r>
              <a:rPr lang="en-US" sz="800" dirty="0">
                <a:solidFill>
                  <a:srgbClr val="3A4A5C"/>
                </a:solidFill>
                <a:latin typeface="Calibri" pitchFamily="34" charset="0"/>
                <a:ea typeface="Calibri" pitchFamily="34" charset="-122"/>
                <a:cs typeface="Calibri" pitchFamily="34" charset="-120"/>
              </a:rPr>
              <a:t>Requires validation + additional opportunities</a:t>
            </a:r>
            <a:endParaRPr lang="en-US" sz="800" dirty="0"/>
          </a:p>
        </p:txBody>
      </p:sp>
      <p:sp>
        <p:nvSpPr>
          <p:cNvPr id="18" name="Shape 15"/>
          <p:cNvSpPr/>
          <p:nvPr/>
        </p:nvSpPr>
        <p:spPr>
          <a:xfrm>
            <a:off x="7955280" y="4956048"/>
            <a:ext cx="3977640" cy="1261872"/>
          </a:xfrm>
          <a:prstGeom prst="roundRect">
            <a:avLst>
              <a:gd name="adj" fmla="val 5797"/>
            </a:avLst>
          </a:prstGeom>
          <a:solidFill>
            <a:srgbClr val="F2F4F5"/>
          </a:solidFill>
          <a:ln w="12700">
            <a:solidFill>
              <a:srgbClr val="CBD5E1"/>
            </a:solidFill>
            <a:prstDash val="solid"/>
          </a:ln>
        </p:spPr>
      </p:sp>
      <p:sp>
        <p:nvSpPr>
          <p:cNvPr id="19" name="Text 16"/>
          <p:cNvSpPr txBox="1"/>
          <p:nvPr/>
        </p:nvSpPr>
        <p:spPr>
          <a:xfrm>
            <a:off x="8046720" y="5029200"/>
            <a:ext cx="3794760" cy="256032"/>
          </a:xfrm>
          <a:prstGeom prst="rect">
            <a:avLst/>
          </a:prstGeom>
          <a:noFill/>
          <a:ln/>
        </p:spPr>
        <p:txBody>
          <a:bodyPr wrap="square" lIns="0" tIns="0" rIns="0" bIns="0" rtlCol="0" anchor="ctr"/>
          <a:lstStyle/>
          <a:p>
            <a:pPr algn="ctr" indent="0" marL="0">
              <a:buNone/>
            </a:pPr>
            <a:r>
              <a:rPr lang="en-US" sz="900" b="1" dirty="0">
                <a:solidFill>
                  <a:srgbClr val="0F2D56"/>
                </a:solidFill>
                <a:latin typeface="Calibri" pitchFamily="34" charset="0"/>
                <a:ea typeface="Calibri" pitchFamily="34" charset="-122"/>
                <a:cs typeface="Calibri" pitchFamily="34" charset="-120"/>
              </a:rPr>
              <a:t>Scenario Range</a:t>
            </a:r>
            <a:endParaRPr lang="en-US" sz="900" dirty="0"/>
          </a:p>
        </p:txBody>
      </p:sp>
      <p:sp>
        <p:nvSpPr>
          <p:cNvPr id="20" name="Text 17"/>
          <p:cNvSpPr txBox="1"/>
          <p:nvPr/>
        </p:nvSpPr>
        <p:spPr>
          <a:xfrm>
            <a:off x="8046720" y="5303520"/>
            <a:ext cx="3794760" cy="320040"/>
          </a:xfrm>
          <a:prstGeom prst="rect">
            <a:avLst/>
          </a:prstGeom>
          <a:noFill/>
          <a:ln/>
        </p:spPr>
        <p:txBody>
          <a:bodyPr wrap="square" lIns="0" tIns="0" rIns="0" bIns="0" rtlCol="0" anchor="ctr"/>
          <a:lstStyle/>
          <a:p>
            <a:pPr algn="ctr" indent="0" marL="0">
              <a:buNone/>
            </a:pPr>
            <a:r>
              <a:rPr lang="en-US" sz="900" dirty="0">
                <a:solidFill>
                  <a:srgbClr val="3A4A5C"/>
                </a:solidFill>
                <a:latin typeface="Calibri" pitchFamily="34" charset="0"/>
                <a:ea typeface="Calibri" pitchFamily="34" charset="-122"/>
                <a:cs typeface="Calibri" pitchFamily="34" charset="-120"/>
              </a:rPr>
              <a:t>Worst: $31,375.79   Expected: $51,677.71   Best: $53,903.64</a:t>
            </a:r>
            <a:endParaRPr lang="en-US" sz="900" dirty="0"/>
          </a:p>
        </p:txBody>
      </p:sp>
      <p:sp>
        <p:nvSpPr>
          <p:cNvPr id="21" name="Text 18"/>
          <p:cNvSpPr txBox="1"/>
          <p:nvPr/>
        </p:nvSpPr>
        <p:spPr>
          <a:xfrm>
            <a:off x="8046720" y="5641848"/>
            <a:ext cx="3794760" cy="274320"/>
          </a:xfrm>
          <a:prstGeom prst="rect">
            <a:avLst/>
          </a:prstGeom>
          <a:noFill/>
          <a:ln/>
        </p:spPr>
        <p:txBody>
          <a:bodyPr wrap="square" lIns="0" tIns="0" rIns="0" bIns="0" rtlCol="0" anchor="ctr"/>
          <a:lstStyle/>
          <a:p>
            <a:pPr algn="ctr" indent="0" marL="0">
              <a:buNone/>
            </a:pPr>
            <a:r>
              <a:rPr lang="en-US" sz="1000" b="1" dirty="0">
                <a:solidFill>
                  <a:srgbClr val="1A5FA8"/>
                </a:solidFill>
                <a:latin typeface="Calibri" pitchFamily="34" charset="0"/>
                <a:ea typeface="Calibri" pitchFamily="34" charset="-122"/>
                <a:cs typeface="Calibri" pitchFamily="34" charset="-120"/>
              </a:rPr>
              <a:t>CFO Target: $60,000/month</a:t>
            </a:r>
            <a:endParaRPr lang="en-US" sz="1000" dirty="0"/>
          </a:p>
        </p:txBody>
      </p:sp>
      <p:sp>
        <p:nvSpPr>
          <p:cNvPr id="22" name="Text 19"/>
          <p:cNvSpPr txBox="1"/>
          <p:nvPr/>
        </p:nvSpPr>
        <p:spPr>
          <a:xfrm>
            <a:off x="274320" y="6327648"/>
            <a:ext cx="7498080" cy="228600"/>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 Database right-sizing is conditional — dependent on detailed DB metrics validation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Weeks 1–2: Quick Wins</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High-confidence, low-disruption actions with immediate savings impact</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7 / 18</a:t>
            </a:r>
            <a:endParaRPr lang="en-US" sz="700" dirty="0"/>
          </a:p>
        </p:txBody>
      </p:sp>
      <p:sp>
        <p:nvSpPr>
          <p:cNvPr id="8" name="Shape 6"/>
          <p:cNvSpPr/>
          <p:nvPr/>
        </p:nvSpPr>
        <p:spPr>
          <a:xfrm>
            <a:off x="274320" y="1170432"/>
            <a:ext cx="2377440" cy="347472"/>
          </a:xfrm>
          <a:prstGeom prst="rect">
            <a:avLst/>
          </a:prstGeom>
          <a:solidFill>
            <a:srgbClr val="0F2D56"/>
          </a:solidFill>
          <a:ln w="12700">
            <a:solidFill>
              <a:srgbClr val="0F2D56"/>
            </a:solidFill>
            <a:prstDash val="solid"/>
          </a:ln>
        </p:spPr>
      </p:sp>
      <p:sp>
        <p:nvSpPr>
          <p:cNvPr id="9" name="Text 7"/>
          <p:cNvSpPr txBox="1"/>
          <p:nvPr/>
        </p:nvSpPr>
        <p:spPr>
          <a:xfrm>
            <a:off x="320040" y="1170432"/>
            <a:ext cx="228600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10" name="Shape 8"/>
          <p:cNvSpPr/>
          <p:nvPr/>
        </p:nvSpPr>
        <p:spPr>
          <a:xfrm>
            <a:off x="2651760" y="1170432"/>
            <a:ext cx="1143000" cy="347472"/>
          </a:xfrm>
          <a:prstGeom prst="rect">
            <a:avLst/>
          </a:prstGeom>
          <a:solidFill>
            <a:srgbClr val="0F2D56"/>
          </a:solidFill>
          <a:ln w="12700">
            <a:solidFill>
              <a:srgbClr val="0F2D56"/>
            </a:solidFill>
            <a:prstDash val="solid"/>
          </a:ln>
        </p:spPr>
      </p:sp>
      <p:sp>
        <p:nvSpPr>
          <p:cNvPr id="11" name="Text 9"/>
          <p:cNvSpPr txBox="1"/>
          <p:nvPr/>
        </p:nvSpPr>
        <p:spPr>
          <a:xfrm>
            <a:off x="2697480" y="1170432"/>
            <a:ext cx="105156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Monthly Savings</a:t>
            </a:r>
            <a:endParaRPr lang="en-US" sz="800" dirty="0"/>
          </a:p>
        </p:txBody>
      </p:sp>
      <p:sp>
        <p:nvSpPr>
          <p:cNvPr id="12" name="Shape 10"/>
          <p:cNvSpPr/>
          <p:nvPr/>
        </p:nvSpPr>
        <p:spPr>
          <a:xfrm>
            <a:off x="3794760" y="1170432"/>
            <a:ext cx="1234440" cy="347472"/>
          </a:xfrm>
          <a:prstGeom prst="rect">
            <a:avLst/>
          </a:prstGeom>
          <a:solidFill>
            <a:srgbClr val="0F2D56"/>
          </a:solidFill>
          <a:ln w="12700">
            <a:solidFill>
              <a:srgbClr val="0F2D56"/>
            </a:solidFill>
            <a:prstDash val="solid"/>
          </a:ln>
        </p:spPr>
      </p:sp>
      <p:sp>
        <p:nvSpPr>
          <p:cNvPr id="13" name="Text 11"/>
          <p:cNvSpPr txBox="1"/>
          <p:nvPr/>
        </p:nvSpPr>
        <p:spPr>
          <a:xfrm>
            <a:off x="3840480" y="1170432"/>
            <a:ext cx="114300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Range</a:t>
            </a:r>
            <a:endParaRPr lang="en-US" sz="800" dirty="0"/>
          </a:p>
        </p:txBody>
      </p:sp>
      <p:sp>
        <p:nvSpPr>
          <p:cNvPr id="14" name="Shape 12"/>
          <p:cNvSpPr/>
          <p:nvPr/>
        </p:nvSpPr>
        <p:spPr>
          <a:xfrm>
            <a:off x="5029200" y="1170432"/>
            <a:ext cx="822960" cy="347472"/>
          </a:xfrm>
          <a:prstGeom prst="rect">
            <a:avLst/>
          </a:prstGeom>
          <a:solidFill>
            <a:srgbClr val="0F2D56"/>
          </a:solidFill>
          <a:ln w="12700">
            <a:solidFill>
              <a:srgbClr val="0F2D56"/>
            </a:solidFill>
            <a:prstDash val="solid"/>
          </a:ln>
        </p:spPr>
      </p:sp>
      <p:sp>
        <p:nvSpPr>
          <p:cNvPr id="15" name="Text 13"/>
          <p:cNvSpPr txBox="1"/>
          <p:nvPr/>
        </p:nvSpPr>
        <p:spPr>
          <a:xfrm>
            <a:off x="5074920" y="1170432"/>
            <a:ext cx="73152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Effort</a:t>
            </a:r>
            <a:endParaRPr lang="en-US" sz="800" dirty="0"/>
          </a:p>
        </p:txBody>
      </p:sp>
      <p:sp>
        <p:nvSpPr>
          <p:cNvPr id="16" name="Shape 14"/>
          <p:cNvSpPr/>
          <p:nvPr/>
        </p:nvSpPr>
        <p:spPr>
          <a:xfrm>
            <a:off x="5852160" y="1170432"/>
            <a:ext cx="822960" cy="347472"/>
          </a:xfrm>
          <a:prstGeom prst="rect">
            <a:avLst/>
          </a:prstGeom>
          <a:solidFill>
            <a:srgbClr val="0F2D56"/>
          </a:solidFill>
          <a:ln w="12700">
            <a:solidFill>
              <a:srgbClr val="0F2D56"/>
            </a:solidFill>
            <a:prstDash val="solid"/>
          </a:ln>
        </p:spPr>
      </p:sp>
      <p:sp>
        <p:nvSpPr>
          <p:cNvPr id="17" name="Text 15"/>
          <p:cNvSpPr txBox="1"/>
          <p:nvPr/>
        </p:nvSpPr>
        <p:spPr>
          <a:xfrm>
            <a:off x="5897880" y="1170432"/>
            <a:ext cx="73152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Impl. Cost</a:t>
            </a:r>
            <a:endParaRPr lang="en-US" sz="800" dirty="0"/>
          </a:p>
        </p:txBody>
      </p:sp>
      <p:sp>
        <p:nvSpPr>
          <p:cNvPr id="18" name="Shape 16"/>
          <p:cNvSpPr/>
          <p:nvPr/>
        </p:nvSpPr>
        <p:spPr>
          <a:xfrm>
            <a:off x="6675120" y="1170432"/>
            <a:ext cx="731520" cy="347472"/>
          </a:xfrm>
          <a:prstGeom prst="rect">
            <a:avLst/>
          </a:prstGeom>
          <a:solidFill>
            <a:srgbClr val="0F2D56"/>
          </a:solidFill>
          <a:ln w="12700">
            <a:solidFill>
              <a:srgbClr val="0F2D56"/>
            </a:solidFill>
            <a:prstDash val="solid"/>
          </a:ln>
        </p:spPr>
      </p:sp>
      <p:sp>
        <p:nvSpPr>
          <p:cNvPr id="19" name="Text 17"/>
          <p:cNvSpPr txBox="1"/>
          <p:nvPr/>
        </p:nvSpPr>
        <p:spPr>
          <a:xfrm>
            <a:off x="6720840" y="1170432"/>
            <a:ext cx="64008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Risk</a:t>
            </a:r>
            <a:endParaRPr lang="en-US" sz="800" dirty="0"/>
          </a:p>
        </p:txBody>
      </p:sp>
      <p:sp>
        <p:nvSpPr>
          <p:cNvPr id="20" name="Shape 18"/>
          <p:cNvSpPr/>
          <p:nvPr/>
        </p:nvSpPr>
        <p:spPr>
          <a:xfrm>
            <a:off x="7406640" y="1170432"/>
            <a:ext cx="960120" cy="347472"/>
          </a:xfrm>
          <a:prstGeom prst="rect">
            <a:avLst/>
          </a:prstGeom>
          <a:solidFill>
            <a:srgbClr val="0F2D56"/>
          </a:solidFill>
          <a:ln w="12700">
            <a:solidFill>
              <a:srgbClr val="0F2D56"/>
            </a:solidFill>
            <a:prstDash val="solid"/>
          </a:ln>
        </p:spPr>
      </p:sp>
      <p:sp>
        <p:nvSpPr>
          <p:cNvPr id="21" name="Text 19"/>
          <p:cNvSpPr txBox="1"/>
          <p:nvPr/>
        </p:nvSpPr>
        <p:spPr>
          <a:xfrm>
            <a:off x="7452360" y="1170432"/>
            <a:ext cx="86868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Compliance</a:t>
            </a:r>
            <a:endParaRPr lang="en-US" sz="800" dirty="0"/>
          </a:p>
        </p:txBody>
      </p:sp>
      <p:sp>
        <p:nvSpPr>
          <p:cNvPr id="22" name="Shape 20"/>
          <p:cNvSpPr/>
          <p:nvPr/>
        </p:nvSpPr>
        <p:spPr>
          <a:xfrm>
            <a:off x="8366760" y="1170432"/>
            <a:ext cx="1005840" cy="347472"/>
          </a:xfrm>
          <a:prstGeom prst="rect">
            <a:avLst/>
          </a:prstGeom>
          <a:solidFill>
            <a:srgbClr val="0F2D56"/>
          </a:solidFill>
          <a:ln w="12700">
            <a:solidFill>
              <a:srgbClr val="0F2D56"/>
            </a:solidFill>
            <a:prstDash val="solid"/>
          </a:ln>
        </p:spPr>
      </p:sp>
      <p:sp>
        <p:nvSpPr>
          <p:cNvPr id="23" name="Text 21"/>
          <p:cNvSpPr txBox="1"/>
          <p:nvPr/>
        </p:nvSpPr>
        <p:spPr>
          <a:xfrm>
            <a:off x="8412480" y="1170432"/>
            <a:ext cx="914400" cy="34747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Confidence</a:t>
            </a:r>
            <a:endParaRPr lang="en-US" sz="800" dirty="0"/>
          </a:p>
        </p:txBody>
      </p:sp>
      <p:sp>
        <p:nvSpPr>
          <p:cNvPr id="24" name="Shape 22"/>
          <p:cNvSpPr/>
          <p:nvPr/>
        </p:nvSpPr>
        <p:spPr>
          <a:xfrm>
            <a:off x="274320" y="1536192"/>
            <a:ext cx="2377440" cy="576072"/>
          </a:xfrm>
          <a:prstGeom prst="rect">
            <a:avLst/>
          </a:prstGeom>
          <a:solidFill>
            <a:srgbClr val="FFFFFF"/>
          </a:solidFill>
          <a:ln w="12700">
            <a:solidFill>
              <a:srgbClr val="CBD5E1"/>
            </a:solidFill>
            <a:prstDash val="solid"/>
          </a:ln>
        </p:spPr>
      </p:sp>
      <p:sp>
        <p:nvSpPr>
          <p:cNvPr id="25" name="Text 23"/>
          <p:cNvSpPr txBox="1"/>
          <p:nvPr/>
        </p:nvSpPr>
        <p:spPr>
          <a:xfrm>
            <a:off x="320040" y="1581912"/>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Storage Lifecycle Policies</a:t>
            </a:r>
            <a:endParaRPr lang="en-US" sz="900" dirty="0"/>
          </a:p>
        </p:txBody>
      </p:sp>
      <p:sp>
        <p:nvSpPr>
          <p:cNvPr id="26" name="Shape 24"/>
          <p:cNvSpPr/>
          <p:nvPr/>
        </p:nvSpPr>
        <p:spPr>
          <a:xfrm>
            <a:off x="2651760" y="1536192"/>
            <a:ext cx="1143000" cy="576072"/>
          </a:xfrm>
          <a:prstGeom prst="rect">
            <a:avLst/>
          </a:prstGeom>
          <a:solidFill>
            <a:srgbClr val="FFFFFF"/>
          </a:solidFill>
          <a:ln w="12700">
            <a:solidFill>
              <a:srgbClr val="CBD5E1"/>
            </a:solidFill>
            <a:prstDash val="solid"/>
          </a:ln>
        </p:spPr>
      </p:sp>
      <p:sp>
        <p:nvSpPr>
          <p:cNvPr id="27" name="Text 25"/>
          <p:cNvSpPr txBox="1"/>
          <p:nvPr/>
        </p:nvSpPr>
        <p:spPr>
          <a:xfrm>
            <a:off x="2697480" y="1581912"/>
            <a:ext cx="105156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$5,549</a:t>
            </a:r>
            <a:endParaRPr lang="en-US" sz="900" dirty="0"/>
          </a:p>
        </p:txBody>
      </p:sp>
      <p:sp>
        <p:nvSpPr>
          <p:cNvPr id="28" name="Shape 26"/>
          <p:cNvSpPr/>
          <p:nvPr/>
        </p:nvSpPr>
        <p:spPr>
          <a:xfrm>
            <a:off x="3794760" y="1536192"/>
            <a:ext cx="1234440" cy="576072"/>
          </a:xfrm>
          <a:prstGeom prst="rect">
            <a:avLst/>
          </a:prstGeom>
          <a:solidFill>
            <a:srgbClr val="FFFFFF"/>
          </a:solidFill>
          <a:ln w="12700">
            <a:solidFill>
              <a:srgbClr val="CBD5E1"/>
            </a:solidFill>
            <a:prstDash val="solid"/>
          </a:ln>
        </p:spPr>
      </p:sp>
      <p:sp>
        <p:nvSpPr>
          <p:cNvPr id="29" name="Text 27"/>
          <p:cNvSpPr txBox="1"/>
          <p:nvPr/>
        </p:nvSpPr>
        <p:spPr>
          <a:xfrm>
            <a:off x="3840480" y="1581912"/>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$4,500–$6,200</a:t>
            </a:r>
            <a:endParaRPr lang="en-US" sz="900" dirty="0"/>
          </a:p>
        </p:txBody>
      </p:sp>
      <p:sp>
        <p:nvSpPr>
          <p:cNvPr id="30" name="Shape 28"/>
          <p:cNvSpPr/>
          <p:nvPr/>
        </p:nvSpPr>
        <p:spPr>
          <a:xfrm>
            <a:off x="5029200" y="1536192"/>
            <a:ext cx="822960" cy="576072"/>
          </a:xfrm>
          <a:prstGeom prst="rect">
            <a:avLst/>
          </a:prstGeom>
          <a:solidFill>
            <a:srgbClr val="FFFFFF"/>
          </a:solidFill>
          <a:ln w="12700">
            <a:solidFill>
              <a:srgbClr val="CBD5E1"/>
            </a:solidFill>
            <a:prstDash val="solid"/>
          </a:ln>
        </p:spPr>
      </p:sp>
      <p:sp>
        <p:nvSpPr>
          <p:cNvPr id="31" name="Text 29"/>
          <p:cNvSpPr txBox="1"/>
          <p:nvPr/>
        </p:nvSpPr>
        <p:spPr>
          <a:xfrm>
            <a:off x="5074920" y="1581912"/>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3–5 days</a:t>
            </a:r>
            <a:endParaRPr lang="en-US" sz="900" dirty="0"/>
          </a:p>
        </p:txBody>
      </p:sp>
      <p:sp>
        <p:nvSpPr>
          <p:cNvPr id="32" name="Shape 30"/>
          <p:cNvSpPr/>
          <p:nvPr/>
        </p:nvSpPr>
        <p:spPr>
          <a:xfrm>
            <a:off x="5852160" y="1536192"/>
            <a:ext cx="822960" cy="576072"/>
          </a:xfrm>
          <a:prstGeom prst="rect">
            <a:avLst/>
          </a:prstGeom>
          <a:solidFill>
            <a:srgbClr val="FFFFFF"/>
          </a:solidFill>
          <a:ln w="12700">
            <a:solidFill>
              <a:srgbClr val="CBD5E1"/>
            </a:solidFill>
            <a:prstDash val="solid"/>
          </a:ln>
        </p:spPr>
      </p:sp>
      <p:sp>
        <p:nvSpPr>
          <p:cNvPr id="33" name="Text 31"/>
          <p:cNvSpPr txBox="1"/>
          <p:nvPr/>
        </p:nvSpPr>
        <p:spPr>
          <a:xfrm>
            <a:off x="5897880" y="1581912"/>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34" name="Shape 32"/>
          <p:cNvSpPr/>
          <p:nvPr/>
        </p:nvSpPr>
        <p:spPr>
          <a:xfrm>
            <a:off x="6675120" y="1536192"/>
            <a:ext cx="731520" cy="576072"/>
          </a:xfrm>
          <a:prstGeom prst="rect">
            <a:avLst/>
          </a:prstGeom>
          <a:solidFill>
            <a:srgbClr val="FFFFFF"/>
          </a:solidFill>
          <a:ln w="12700">
            <a:solidFill>
              <a:srgbClr val="CBD5E1"/>
            </a:solidFill>
            <a:prstDash val="solid"/>
          </a:ln>
        </p:spPr>
      </p:sp>
      <p:sp>
        <p:nvSpPr>
          <p:cNvPr id="35" name="Text 33"/>
          <p:cNvSpPr txBox="1"/>
          <p:nvPr/>
        </p:nvSpPr>
        <p:spPr>
          <a:xfrm>
            <a:off x="6720840" y="1581912"/>
            <a:ext cx="64008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Low</a:t>
            </a:r>
            <a:endParaRPr lang="en-US" sz="900" dirty="0"/>
          </a:p>
        </p:txBody>
      </p:sp>
      <p:sp>
        <p:nvSpPr>
          <p:cNvPr id="36" name="Shape 34"/>
          <p:cNvSpPr/>
          <p:nvPr/>
        </p:nvSpPr>
        <p:spPr>
          <a:xfrm>
            <a:off x="7406640" y="1536192"/>
            <a:ext cx="960120" cy="576072"/>
          </a:xfrm>
          <a:prstGeom prst="rect">
            <a:avLst/>
          </a:prstGeom>
          <a:solidFill>
            <a:srgbClr val="FFFFFF"/>
          </a:solidFill>
          <a:ln w="12700">
            <a:solidFill>
              <a:srgbClr val="CBD5E1"/>
            </a:solidFill>
            <a:prstDash val="solid"/>
          </a:ln>
        </p:spPr>
      </p:sp>
      <p:sp>
        <p:nvSpPr>
          <p:cNvPr id="37" name="Text 35"/>
          <p:cNvSpPr txBox="1"/>
          <p:nvPr/>
        </p:nvSpPr>
        <p:spPr>
          <a:xfrm>
            <a:off x="7452360" y="1581912"/>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Required</a:t>
            </a:r>
            <a:endParaRPr lang="en-US" sz="900" dirty="0"/>
          </a:p>
        </p:txBody>
      </p:sp>
      <p:sp>
        <p:nvSpPr>
          <p:cNvPr id="38" name="Shape 36"/>
          <p:cNvSpPr/>
          <p:nvPr/>
        </p:nvSpPr>
        <p:spPr>
          <a:xfrm>
            <a:off x="8366760" y="1536192"/>
            <a:ext cx="1005840" cy="576072"/>
          </a:xfrm>
          <a:prstGeom prst="rect">
            <a:avLst/>
          </a:prstGeom>
          <a:solidFill>
            <a:srgbClr val="FFFFFF"/>
          </a:solidFill>
          <a:ln w="12700">
            <a:solidFill>
              <a:srgbClr val="CBD5E1"/>
            </a:solidFill>
            <a:prstDash val="solid"/>
          </a:ln>
        </p:spPr>
      </p:sp>
      <p:sp>
        <p:nvSpPr>
          <p:cNvPr id="39" name="Text 37"/>
          <p:cNvSpPr txBox="1"/>
          <p:nvPr/>
        </p:nvSpPr>
        <p:spPr>
          <a:xfrm>
            <a:off x="8412480" y="1581912"/>
            <a:ext cx="91440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High</a:t>
            </a:r>
            <a:endParaRPr lang="en-US" sz="900" dirty="0"/>
          </a:p>
        </p:txBody>
      </p:sp>
      <p:sp>
        <p:nvSpPr>
          <p:cNvPr id="40" name="Shape 38"/>
          <p:cNvSpPr/>
          <p:nvPr/>
        </p:nvSpPr>
        <p:spPr>
          <a:xfrm>
            <a:off x="274320" y="2157984"/>
            <a:ext cx="2377440" cy="576072"/>
          </a:xfrm>
          <a:prstGeom prst="rect">
            <a:avLst/>
          </a:prstGeom>
          <a:solidFill>
            <a:srgbClr val="F2F4F5"/>
          </a:solidFill>
          <a:ln w="12700">
            <a:solidFill>
              <a:srgbClr val="CBD5E1"/>
            </a:solidFill>
            <a:prstDash val="solid"/>
          </a:ln>
        </p:spPr>
      </p:sp>
      <p:sp>
        <p:nvSpPr>
          <p:cNvPr id="41" name="Text 39"/>
          <p:cNvSpPr txBox="1"/>
          <p:nvPr/>
        </p:nvSpPr>
        <p:spPr>
          <a:xfrm>
            <a:off x="320040" y="2203704"/>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EC2 Right-Sizing (Phase 1)</a:t>
            </a:r>
            <a:endParaRPr lang="en-US" sz="900" dirty="0"/>
          </a:p>
        </p:txBody>
      </p:sp>
      <p:sp>
        <p:nvSpPr>
          <p:cNvPr id="42" name="Shape 40"/>
          <p:cNvSpPr/>
          <p:nvPr/>
        </p:nvSpPr>
        <p:spPr>
          <a:xfrm>
            <a:off x="2651760" y="2157984"/>
            <a:ext cx="1143000" cy="576072"/>
          </a:xfrm>
          <a:prstGeom prst="rect">
            <a:avLst/>
          </a:prstGeom>
          <a:solidFill>
            <a:srgbClr val="F2F4F5"/>
          </a:solidFill>
          <a:ln w="12700">
            <a:solidFill>
              <a:srgbClr val="CBD5E1"/>
            </a:solidFill>
            <a:prstDash val="solid"/>
          </a:ln>
        </p:spPr>
      </p:sp>
      <p:sp>
        <p:nvSpPr>
          <p:cNvPr id="43" name="Text 41"/>
          <p:cNvSpPr txBox="1"/>
          <p:nvPr/>
        </p:nvSpPr>
        <p:spPr>
          <a:xfrm>
            <a:off x="2697480" y="2203704"/>
            <a:ext cx="105156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$4,500</a:t>
            </a:r>
            <a:endParaRPr lang="en-US" sz="900" dirty="0"/>
          </a:p>
        </p:txBody>
      </p:sp>
      <p:sp>
        <p:nvSpPr>
          <p:cNvPr id="44" name="Shape 42"/>
          <p:cNvSpPr/>
          <p:nvPr/>
        </p:nvSpPr>
        <p:spPr>
          <a:xfrm>
            <a:off x="3794760" y="2157984"/>
            <a:ext cx="1234440" cy="576072"/>
          </a:xfrm>
          <a:prstGeom prst="rect">
            <a:avLst/>
          </a:prstGeom>
          <a:solidFill>
            <a:srgbClr val="F2F4F5"/>
          </a:solidFill>
          <a:ln w="12700">
            <a:solidFill>
              <a:srgbClr val="CBD5E1"/>
            </a:solidFill>
            <a:prstDash val="solid"/>
          </a:ln>
        </p:spPr>
      </p:sp>
      <p:sp>
        <p:nvSpPr>
          <p:cNvPr id="45" name="Text 43"/>
          <p:cNvSpPr txBox="1"/>
          <p:nvPr/>
        </p:nvSpPr>
        <p:spPr>
          <a:xfrm>
            <a:off x="3840480" y="2203704"/>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$3,200–$5,500</a:t>
            </a:r>
            <a:endParaRPr lang="en-US" sz="900" dirty="0"/>
          </a:p>
        </p:txBody>
      </p:sp>
      <p:sp>
        <p:nvSpPr>
          <p:cNvPr id="46" name="Shape 44"/>
          <p:cNvSpPr/>
          <p:nvPr/>
        </p:nvSpPr>
        <p:spPr>
          <a:xfrm>
            <a:off x="5029200" y="2157984"/>
            <a:ext cx="822960" cy="576072"/>
          </a:xfrm>
          <a:prstGeom prst="rect">
            <a:avLst/>
          </a:prstGeom>
          <a:solidFill>
            <a:srgbClr val="F2F4F5"/>
          </a:solidFill>
          <a:ln w="12700">
            <a:solidFill>
              <a:srgbClr val="CBD5E1"/>
            </a:solidFill>
            <a:prstDash val="solid"/>
          </a:ln>
        </p:spPr>
      </p:sp>
      <p:sp>
        <p:nvSpPr>
          <p:cNvPr id="47" name="Text 45"/>
          <p:cNvSpPr txBox="1"/>
          <p:nvPr/>
        </p:nvSpPr>
        <p:spPr>
          <a:xfrm>
            <a:off x="5074920" y="2203704"/>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5–8 days</a:t>
            </a:r>
            <a:endParaRPr lang="en-US" sz="900" dirty="0"/>
          </a:p>
        </p:txBody>
      </p:sp>
      <p:sp>
        <p:nvSpPr>
          <p:cNvPr id="48" name="Shape 46"/>
          <p:cNvSpPr/>
          <p:nvPr/>
        </p:nvSpPr>
        <p:spPr>
          <a:xfrm>
            <a:off x="5852160" y="2157984"/>
            <a:ext cx="822960" cy="576072"/>
          </a:xfrm>
          <a:prstGeom prst="rect">
            <a:avLst/>
          </a:prstGeom>
          <a:solidFill>
            <a:srgbClr val="F2F4F5"/>
          </a:solidFill>
          <a:ln w="12700">
            <a:solidFill>
              <a:srgbClr val="CBD5E1"/>
            </a:solidFill>
            <a:prstDash val="solid"/>
          </a:ln>
        </p:spPr>
      </p:sp>
      <p:sp>
        <p:nvSpPr>
          <p:cNvPr id="49" name="Text 47"/>
          <p:cNvSpPr txBox="1"/>
          <p:nvPr/>
        </p:nvSpPr>
        <p:spPr>
          <a:xfrm>
            <a:off x="5897880" y="2203704"/>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50" name="Shape 48"/>
          <p:cNvSpPr/>
          <p:nvPr/>
        </p:nvSpPr>
        <p:spPr>
          <a:xfrm>
            <a:off x="6675120" y="2157984"/>
            <a:ext cx="731520" cy="576072"/>
          </a:xfrm>
          <a:prstGeom prst="rect">
            <a:avLst/>
          </a:prstGeom>
          <a:solidFill>
            <a:srgbClr val="F2F4F5"/>
          </a:solidFill>
          <a:ln w="12700">
            <a:solidFill>
              <a:srgbClr val="CBD5E1"/>
            </a:solidFill>
            <a:prstDash val="solid"/>
          </a:ln>
        </p:spPr>
      </p:sp>
      <p:sp>
        <p:nvSpPr>
          <p:cNvPr id="51" name="Text 49"/>
          <p:cNvSpPr txBox="1"/>
          <p:nvPr/>
        </p:nvSpPr>
        <p:spPr>
          <a:xfrm>
            <a:off x="6720840" y="2203704"/>
            <a:ext cx="640080" cy="4846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Low–Med</a:t>
            </a:r>
            <a:endParaRPr lang="en-US" sz="900" dirty="0"/>
          </a:p>
        </p:txBody>
      </p:sp>
      <p:sp>
        <p:nvSpPr>
          <p:cNvPr id="52" name="Shape 50"/>
          <p:cNvSpPr/>
          <p:nvPr/>
        </p:nvSpPr>
        <p:spPr>
          <a:xfrm>
            <a:off x="7406640" y="2157984"/>
            <a:ext cx="960120" cy="576072"/>
          </a:xfrm>
          <a:prstGeom prst="rect">
            <a:avLst/>
          </a:prstGeom>
          <a:solidFill>
            <a:srgbClr val="F2F4F5"/>
          </a:solidFill>
          <a:ln w="12700">
            <a:solidFill>
              <a:srgbClr val="CBD5E1"/>
            </a:solidFill>
            <a:prstDash val="solid"/>
          </a:ln>
        </p:spPr>
      </p:sp>
      <p:sp>
        <p:nvSpPr>
          <p:cNvPr id="53" name="Text 51"/>
          <p:cNvSpPr txBox="1"/>
          <p:nvPr/>
        </p:nvSpPr>
        <p:spPr>
          <a:xfrm>
            <a:off x="7452360" y="2203704"/>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Required</a:t>
            </a:r>
            <a:endParaRPr lang="en-US" sz="900" dirty="0"/>
          </a:p>
        </p:txBody>
      </p:sp>
      <p:sp>
        <p:nvSpPr>
          <p:cNvPr id="54" name="Shape 52"/>
          <p:cNvSpPr/>
          <p:nvPr/>
        </p:nvSpPr>
        <p:spPr>
          <a:xfrm>
            <a:off x="8366760" y="2157984"/>
            <a:ext cx="1005840" cy="576072"/>
          </a:xfrm>
          <a:prstGeom prst="rect">
            <a:avLst/>
          </a:prstGeom>
          <a:solidFill>
            <a:srgbClr val="F2F4F5"/>
          </a:solidFill>
          <a:ln w="12700">
            <a:solidFill>
              <a:srgbClr val="CBD5E1"/>
            </a:solidFill>
            <a:prstDash val="solid"/>
          </a:ln>
        </p:spPr>
      </p:sp>
      <p:sp>
        <p:nvSpPr>
          <p:cNvPr id="55" name="Text 53"/>
          <p:cNvSpPr txBox="1"/>
          <p:nvPr/>
        </p:nvSpPr>
        <p:spPr>
          <a:xfrm>
            <a:off x="8412480" y="2203704"/>
            <a:ext cx="91440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High</a:t>
            </a:r>
            <a:endParaRPr lang="en-US" sz="900" dirty="0"/>
          </a:p>
        </p:txBody>
      </p:sp>
      <p:sp>
        <p:nvSpPr>
          <p:cNvPr id="56" name="Shape 54"/>
          <p:cNvSpPr/>
          <p:nvPr/>
        </p:nvSpPr>
        <p:spPr>
          <a:xfrm>
            <a:off x="274320" y="2779776"/>
            <a:ext cx="2377440" cy="576072"/>
          </a:xfrm>
          <a:prstGeom prst="rect">
            <a:avLst/>
          </a:prstGeom>
          <a:solidFill>
            <a:srgbClr val="FFFFFF"/>
          </a:solidFill>
          <a:ln w="12700">
            <a:solidFill>
              <a:srgbClr val="CBD5E1"/>
            </a:solidFill>
            <a:prstDash val="solid"/>
          </a:ln>
        </p:spPr>
      </p:sp>
      <p:sp>
        <p:nvSpPr>
          <p:cNvPr id="57" name="Text 55"/>
          <p:cNvSpPr txBox="1"/>
          <p:nvPr/>
        </p:nvSpPr>
        <p:spPr>
          <a:xfrm>
            <a:off x="320040" y="2825496"/>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Non-Prod Scheduled Shutdown</a:t>
            </a:r>
            <a:endParaRPr lang="en-US" sz="900" dirty="0"/>
          </a:p>
        </p:txBody>
      </p:sp>
      <p:sp>
        <p:nvSpPr>
          <p:cNvPr id="58" name="Shape 56"/>
          <p:cNvSpPr/>
          <p:nvPr/>
        </p:nvSpPr>
        <p:spPr>
          <a:xfrm>
            <a:off x="2651760" y="2779776"/>
            <a:ext cx="1143000" cy="576072"/>
          </a:xfrm>
          <a:prstGeom prst="rect">
            <a:avLst/>
          </a:prstGeom>
          <a:solidFill>
            <a:srgbClr val="FFFFFF"/>
          </a:solidFill>
          <a:ln w="12700">
            <a:solidFill>
              <a:srgbClr val="CBD5E1"/>
            </a:solidFill>
            <a:prstDash val="solid"/>
          </a:ln>
        </p:spPr>
      </p:sp>
      <p:sp>
        <p:nvSpPr>
          <p:cNvPr id="59" name="Text 57"/>
          <p:cNvSpPr txBox="1"/>
          <p:nvPr/>
        </p:nvSpPr>
        <p:spPr>
          <a:xfrm>
            <a:off x="2697480" y="2825496"/>
            <a:ext cx="105156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$836*</a:t>
            </a:r>
            <a:endParaRPr lang="en-US" sz="900" dirty="0"/>
          </a:p>
        </p:txBody>
      </p:sp>
      <p:sp>
        <p:nvSpPr>
          <p:cNvPr id="60" name="Shape 58"/>
          <p:cNvSpPr/>
          <p:nvPr/>
        </p:nvSpPr>
        <p:spPr>
          <a:xfrm>
            <a:off x="3794760" y="2779776"/>
            <a:ext cx="1234440" cy="576072"/>
          </a:xfrm>
          <a:prstGeom prst="rect">
            <a:avLst/>
          </a:prstGeom>
          <a:solidFill>
            <a:srgbClr val="FFFFFF"/>
          </a:solidFill>
          <a:ln w="12700">
            <a:solidFill>
              <a:srgbClr val="CBD5E1"/>
            </a:solidFill>
            <a:prstDash val="solid"/>
          </a:ln>
        </p:spPr>
      </p:sp>
      <p:sp>
        <p:nvSpPr>
          <p:cNvPr id="61" name="Text 59"/>
          <p:cNvSpPr txBox="1"/>
          <p:nvPr/>
        </p:nvSpPr>
        <p:spPr>
          <a:xfrm>
            <a:off x="3840480" y="2825496"/>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$600–$1,000</a:t>
            </a:r>
            <a:endParaRPr lang="en-US" sz="900" dirty="0"/>
          </a:p>
        </p:txBody>
      </p:sp>
      <p:sp>
        <p:nvSpPr>
          <p:cNvPr id="62" name="Shape 60"/>
          <p:cNvSpPr/>
          <p:nvPr/>
        </p:nvSpPr>
        <p:spPr>
          <a:xfrm>
            <a:off x="5029200" y="2779776"/>
            <a:ext cx="822960" cy="576072"/>
          </a:xfrm>
          <a:prstGeom prst="rect">
            <a:avLst/>
          </a:prstGeom>
          <a:solidFill>
            <a:srgbClr val="FFFFFF"/>
          </a:solidFill>
          <a:ln w="12700">
            <a:solidFill>
              <a:srgbClr val="CBD5E1"/>
            </a:solidFill>
            <a:prstDash val="solid"/>
          </a:ln>
        </p:spPr>
      </p:sp>
      <p:sp>
        <p:nvSpPr>
          <p:cNvPr id="63" name="Text 61"/>
          <p:cNvSpPr txBox="1"/>
          <p:nvPr/>
        </p:nvSpPr>
        <p:spPr>
          <a:xfrm>
            <a:off x="5074920" y="2825496"/>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2–3 days</a:t>
            </a:r>
            <a:endParaRPr lang="en-US" sz="900" dirty="0"/>
          </a:p>
        </p:txBody>
      </p:sp>
      <p:sp>
        <p:nvSpPr>
          <p:cNvPr id="64" name="Shape 62"/>
          <p:cNvSpPr/>
          <p:nvPr/>
        </p:nvSpPr>
        <p:spPr>
          <a:xfrm>
            <a:off x="5852160" y="2779776"/>
            <a:ext cx="822960" cy="576072"/>
          </a:xfrm>
          <a:prstGeom prst="rect">
            <a:avLst/>
          </a:prstGeom>
          <a:solidFill>
            <a:srgbClr val="FFFFFF"/>
          </a:solidFill>
          <a:ln w="12700">
            <a:solidFill>
              <a:srgbClr val="CBD5E1"/>
            </a:solidFill>
            <a:prstDash val="solid"/>
          </a:ln>
        </p:spPr>
      </p:sp>
      <p:sp>
        <p:nvSpPr>
          <p:cNvPr id="65" name="Text 63"/>
          <p:cNvSpPr txBox="1"/>
          <p:nvPr/>
        </p:nvSpPr>
        <p:spPr>
          <a:xfrm>
            <a:off x="5897880" y="2825496"/>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66" name="Shape 64"/>
          <p:cNvSpPr/>
          <p:nvPr/>
        </p:nvSpPr>
        <p:spPr>
          <a:xfrm>
            <a:off x="6675120" y="2779776"/>
            <a:ext cx="731520" cy="576072"/>
          </a:xfrm>
          <a:prstGeom prst="rect">
            <a:avLst/>
          </a:prstGeom>
          <a:solidFill>
            <a:srgbClr val="FFFFFF"/>
          </a:solidFill>
          <a:ln w="12700">
            <a:solidFill>
              <a:srgbClr val="CBD5E1"/>
            </a:solidFill>
            <a:prstDash val="solid"/>
          </a:ln>
        </p:spPr>
      </p:sp>
      <p:sp>
        <p:nvSpPr>
          <p:cNvPr id="67" name="Text 65"/>
          <p:cNvSpPr txBox="1"/>
          <p:nvPr/>
        </p:nvSpPr>
        <p:spPr>
          <a:xfrm>
            <a:off x="6720840" y="2825496"/>
            <a:ext cx="64008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Low</a:t>
            </a:r>
            <a:endParaRPr lang="en-US" sz="900" dirty="0"/>
          </a:p>
        </p:txBody>
      </p:sp>
      <p:sp>
        <p:nvSpPr>
          <p:cNvPr id="68" name="Shape 66"/>
          <p:cNvSpPr/>
          <p:nvPr/>
        </p:nvSpPr>
        <p:spPr>
          <a:xfrm>
            <a:off x="7406640" y="2779776"/>
            <a:ext cx="960120" cy="576072"/>
          </a:xfrm>
          <a:prstGeom prst="rect">
            <a:avLst/>
          </a:prstGeom>
          <a:solidFill>
            <a:srgbClr val="FFFFFF"/>
          </a:solidFill>
          <a:ln w="12700">
            <a:solidFill>
              <a:srgbClr val="CBD5E1"/>
            </a:solidFill>
            <a:prstDash val="solid"/>
          </a:ln>
        </p:spPr>
      </p:sp>
      <p:sp>
        <p:nvSpPr>
          <p:cNvPr id="69" name="Text 67"/>
          <p:cNvSpPr txBox="1"/>
          <p:nvPr/>
        </p:nvSpPr>
        <p:spPr>
          <a:xfrm>
            <a:off x="7452360" y="2825496"/>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Required</a:t>
            </a:r>
            <a:endParaRPr lang="en-US" sz="900" dirty="0"/>
          </a:p>
        </p:txBody>
      </p:sp>
      <p:sp>
        <p:nvSpPr>
          <p:cNvPr id="70" name="Shape 68"/>
          <p:cNvSpPr/>
          <p:nvPr/>
        </p:nvSpPr>
        <p:spPr>
          <a:xfrm>
            <a:off x="8366760" y="2779776"/>
            <a:ext cx="1005840" cy="576072"/>
          </a:xfrm>
          <a:prstGeom prst="rect">
            <a:avLst/>
          </a:prstGeom>
          <a:solidFill>
            <a:srgbClr val="FFFFFF"/>
          </a:solidFill>
          <a:ln w="12700">
            <a:solidFill>
              <a:srgbClr val="CBD5E1"/>
            </a:solidFill>
            <a:prstDash val="solid"/>
          </a:ln>
        </p:spPr>
      </p:sp>
      <p:sp>
        <p:nvSpPr>
          <p:cNvPr id="71" name="Text 69"/>
          <p:cNvSpPr txBox="1"/>
          <p:nvPr/>
        </p:nvSpPr>
        <p:spPr>
          <a:xfrm>
            <a:off x="8412480" y="2825496"/>
            <a:ext cx="914400" cy="4846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Medium</a:t>
            </a:r>
            <a:endParaRPr lang="en-US" sz="900" dirty="0"/>
          </a:p>
        </p:txBody>
      </p:sp>
      <p:sp>
        <p:nvSpPr>
          <p:cNvPr id="72" name="Shape 70"/>
          <p:cNvSpPr/>
          <p:nvPr/>
        </p:nvSpPr>
        <p:spPr>
          <a:xfrm>
            <a:off x="274320" y="3401568"/>
            <a:ext cx="2377440" cy="576072"/>
          </a:xfrm>
          <a:prstGeom prst="rect">
            <a:avLst/>
          </a:prstGeom>
          <a:solidFill>
            <a:srgbClr val="F2F4F5"/>
          </a:solidFill>
          <a:ln w="12700">
            <a:solidFill>
              <a:srgbClr val="CBD5E1"/>
            </a:solidFill>
            <a:prstDash val="solid"/>
          </a:ln>
        </p:spPr>
      </p:sp>
      <p:sp>
        <p:nvSpPr>
          <p:cNvPr id="73" name="Text 71"/>
          <p:cNvSpPr txBox="1"/>
          <p:nvPr/>
        </p:nvSpPr>
        <p:spPr>
          <a:xfrm>
            <a:off x="320040" y="3447288"/>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Tagging Remediation</a:t>
            </a:r>
            <a:endParaRPr lang="en-US" sz="900" dirty="0"/>
          </a:p>
        </p:txBody>
      </p:sp>
      <p:sp>
        <p:nvSpPr>
          <p:cNvPr id="74" name="Shape 72"/>
          <p:cNvSpPr/>
          <p:nvPr/>
        </p:nvSpPr>
        <p:spPr>
          <a:xfrm>
            <a:off x="2651760" y="3401568"/>
            <a:ext cx="1143000" cy="576072"/>
          </a:xfrm>
          <a:prstGeom prst="rect">
            <a:avLst/>
          </a:prstGeom>
          <a:solidFill>
            <a:srgbClr val="F2F4F5"/>
          </a:solidFill>
          <a:ln w="12700">
            <a:solidFill>
              <a:srgbClr val="CBD5E1"/>
            </a:solidFill>
            <a:prstDash val="solid"/>
          </a:ln>
        </p:spPr>
      </p:sp>
      <p:sp>
        <p:nvSpPr>
          <p:cNvPr id="75" name="Text 73"/>
          <p:cNvSpPr txBox="1"/>
          <p:nvPr/>
        </p:nvSpPr>
        <p:spPr>
          <a:xfrm>
            <a:off x="2697480" y="3447288"/>
            <a:ext cx="105156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Governance</a:t>
            </a:r>
            <a:endParaRPr lang="en-US" sz="900" dirty="0"/>
          </a:p>
        </p:txBody>
      </p:sp>
      <p:sp>
        <p:nvSpPr>
          <p:cNvPr id="76" name="Shape 74"/>
          <p:cNvSpPr/>
          <p:nvPr/>
        </p:nvSpPr>
        <p:spPr>
          <a:xfrm>
            <a:off x="3794760" y="3401568"/>
            <a:ext cx="1234440" cy="576072"/>
          </a:xfrm>
          <a:prstGeom prst="rect">
            <a:avLst/>
          </a:prstGeom>
          <a:solidFill>
            <a:srgbClr val="F2F4F5"/>
          </a:solidFill>
          <a:ln w="12700">
            <a:solidFill>
              <a:srgbClr val="CBD5E1"/>
            </a:solidFill>
            <a:prstDash val="solid"/>
          </a:ln>
        </p:spPr>
      </p:sp>
      <p:sp>
        <p:nvSpPr>
          <p:cNvPr id="77" name="Text 75"/>
          <p:cNvSpPr txBox="1"/>
          <p:nvPr/>
        </p:nvSpPr>
        <p:spPr>
          <a:xfrm>
            <a:off x="3840480" y="3447288"/>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N/A</a:t>
            </a:r>
            <a:endParaRPr lang="en-US" sz="900" dirty="0"/>
          </a:p>
        </p:txBody>
      </p:sp>
      <p:sp>
        <p:nvSpPr>
          <p:cNvPr id="78" name="Shape 76"/>
          <p:cNvSpPr/>
          <p:nvPr/>
        </p:nvSpPr>
        <p:spPr>
          <a:xfrm>
            <a:off x="5029200" y="3401568"/>
            <a:ext cx="822960" cy="576072"/>
          </a:xfrm>
          <a:prstGeom prst="rect">
            <a:avLst/>
          </a:prstGeom>
          <a:solidFill>
            <a:srgbClr val="F2F4F5"/>
          </a:solidFill>
          <a:ln w="12700">
            <a:solidFill>
              <a:srgbClr val="CBD5E1"/>
            </a:solidFill>
            <a:prstDash val="solid"/>
          </a:ln>
        </p:spPr>
      </p:sp>
      <p:sp>
        <p:nvSpPr>
          <p:cNvPr id="79" name="Text 77"/>
          <p:cNvSpPr txBox="1"/>
          <p:nvPr/>
        </p:nvSpPr>
        <p:spPr>
          <a:xfrm>
            <a:off x="5074920" y="3447288"/>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3–5 days</a:t>
            </a:r>
            <a:endParaRPr lang="en-US" sz="900" dirty="0"/>
          </a:p>
        </p:txBody>
      </p:sp>
      <p:sp>
        <p:nvSpPr>
          <p:cNvPr id="80" name="Shape 78"/>
          <p:cNvSpPr/>
          <p:nvPr/>
        </p:nvSpPr>
        <p:spPr>
          <a:xfrm>
            <a:off x="5852160" y="3401568"/>
            <a:ext cx="822960" cy="576072"/>
          </a:xfrm>
          <a:prstGeom prst="rect">
            <a:avLst/>
          </a:prstGeom>
          <a:solidFill>
            <a:srgbClr val="F2F4F5"/>
          </a:solidFill>
          <a:ln w="12700">
            <a:solidFill>
              <a:srgbClr val="CBD5E1"/>
            </a:solidFill>
            <a:prstDash val="solid"/>
          </a:ln>
        </p:spPr>
      </p:sp>
      <p:sp>
        <p:nvSpPr>
          <p:cNvPr id="81" name="Text 79"/>
          <p:cNvSpPr txBox="1"/>
          <p:nvPr/>
        </p:nvSpPr>
        <p:spPr>
          <a:xfrm>
            <a:off x="5897880" y="3447288"/>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82" name="Shape 80"/>
          <p:cNvSpPr/>
          <p:nvPr/>
        </p:nvSpPr>
        <p:spPr>
          <a:xfrm>
            <a:off x="6675120" y="3401568"/>
            <a:ext cx="731520" cy="576072"/>
          </a:xfrm>
          <a:prstGeom prst="rect">
            <a:avLst/>
          </a:prstGeom>
          <a:solidFill>
            <a:srgbClr val="F2F4F5"/>
          </a:solidFill>
          <a:ln w="12700">
            <a:solidFill>
              <a:srgbClr val="CBD5E1"/>
            </a:solidFill>
            <a:prstDash val="solid"/>
          </a:ln>
        </p:spPr>
      </p:sp>
      <p:sp>
        <p:nvSpPr>
          <p:cNvPr id="83" name="Text 81"/>
          <p:cNvSpPr txBox="1"/>
          <p:nvPr/>
        </p:nvSpPr>
        <p:spPr>
          <a:xfrm>
            <a:off x="6720840" y="3447288"/>
            <a:ext cx="64008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Low</a:t>
            </a:r>
            <a:endParaRPr lang="en-US" sz="900" dirty="0"/>
          </a:p>
        </p:txBody>
      </p:sp>
      <p:sp>
        <p:nvSpPr>
          <p:cNvPr id="84" name="Shape 82"/>
          <p:cNvSpPr/>
          <p:nvPr/>
        </p:nvSpPr>
        <p:spPr>
          <a:xfrm>
            <a:off x="7406640" y="3401568"/>
            <a:ext cx="960120" cy="576072"/>
          </a:xfrm>
          <a:prstGeom prst="rect">
            <a:avLst/>
          </a:prstGeom>
          <a:solidFill>
            <a:srgbClr val="F2F4F5"/>
          </a:solidFill>
          <a:ln w="12700">
            <a:solidFill>
              <a:srgbClr val="CBD5E1"/>
            </a:solidFill>
            <a:prstDash val="solid"/>
          </a:ln>
        </p:spPr>
      </p:sp>
      <p:sp>
        <p:nvSpPr>
          <p:cNvPr id="85" name="Text 83"/>
          <p:cNvSpPr txBox="1"/>
          <p:nvPr/>
        </p:nvSpPr>
        <p:spPr>
          <a:xfrm>
            <a:off x="7452360" y="3447288"/>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None</a:t>
            </a:r>
            <a:endParaRPr lang="en-US" sz="900" dirty="0"/>
          </a:p>
        </p:txBody>
      </p:sp>
      <p:sp>
        <p:nvSpPr>
          <p:cNvPr id="86" name="Shape 84"/>
          <p:cNvSpPr/>
          <p:nvPr/>
        </p:nvSpPr>
        <p:spPr>
          <a:xfrm>
            <a:off x="8366760" y="3401568"/>
            <a:ext cx="1005840" cy="576072"/>
          </a:xfrm>
          <a:prstGeom prst="rect">
            <a:avLst/>
          </a:prstGeom>
          <a:solidFill>
            <a:srgbClr val="F2F4F5"/>
          </a:solidFill>
          <a:ln w="12700">
            <a:solidFill>
              <a:srgbClr val="CBD5E1"/>
            </a:solidFill>
            <a:prstDash val="solid"/>
          </a:ln>
        </p:spPr>
      </p:sp>
      <p:sp>
        <p:nvSpPr>
          <p:cNvPr id="87" name="Text 85"/>
          <p:cNvSpPr txBox="1"/>
          <p:nvPr/>
        </p:nvSpPr>
        <p:spPr>
          <a:xfrm>
            <a:off x="8412480" y="3447288"/>
            <a:ext cx="91440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High</a:t>
            </a:r>
            <a:endParaRPr lang="en-US" sz="900" dirty="0"/>
          </a:p>
        </p:txBody>
      </p:sp>
      <p:sp>
        <p:nvSpPr>
          <p:cNvPr id="88" name="Shape 86"/>
          <p:cNvSpPr/>
          <p:nvPr/>
        </p:nvSpPr>
        <p:spPr>
          <a:xfrm>
            <a:off x="274320" y="4023360"/>
            <a:ext cx="2377440" cy="576072"/>
          </a:xfrm>
          <a:prstGeom prst="rect">
            <a:avLst/>
          </a:prstGeom>
          <a:solidFill>
            <a:srgbClr val="FFFFFF"/>
          </a:solidFill>
          <a:ln w="12700">
            <a:solidFill>
              <a:srgbClr val="CBD5E1"/>
            </a:solidFill>
            <a:prstDash val="solid"/>
          </a:ln>
        </p:spPr>
      </p:sp>
      <p:sp>
        <p:nvSpPr>
          <p:cNvPr id="89" name="Text 87"/>
          <p:cNvSpPr txBox="1"/>
          <p:nvPr/>
        </p:nvSpPr>
        <p:spPr>
          <a:xfrm>
            <a:off x="320040" y="4069080"/>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Anomaly Alert Routing</a:t>
            </a:r>
            <a:endParaRPr lang="en-US" sz="900" dirty="0"/>
          </a:p>
        </p:txBody>
      </p:sp>
      <p:sp>
        <p:nvSpPr>
          <p:cNvPr id="90" name="Shape 88"/>
          <p:cNvSpPr/>
          <p:nvPr/>
        </p:nvSpPr>
        <p:spPr>
          <a:xfrm>
            <a:off x="2651760" y="4023360"/>
            <a:ext cx="1143000" cy="576072"/>
          </a:xfrm>
          <a:prstGeom prst="rect">
            <a:avLst/>
          </a:prstGeom>
          <a:solidFill>
            <a:srgbClr val="FFFFFF"/>
          </a:solidFill>
          <a:ln w="12700">
            <a:solidFill>
              <a:srgbClr val="CBD5E1"/>
            </a:solidFill>
            <a:prstDash val="solid"/>
          </a:ln>
        </p:spPr>
      </p:sp>
      <p:sp>
        <p:nvSpPr>
          <p:cNvPr id="91" name="Text 89"/>
          <p:cNvSpPr txBox="1"/>
          <p:nvPr/>
        </p:nvSpPr>
        <p:spPr>
          <a:xfrm>
            <a:off x="2697480" y="4069080"/>
            <a:ext cx="105156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Prevention</a:t>
            </a:r>
            <a:endParaRPr lang="en-US" sz="900" dirty="0"/>
          </a:p>
        </p:txBody>
      </p:sp>
      <p:sp>
        <p:nvSpPr>
          <p:cNvPr id="92" name="Shape 90"/>
          <p:cNvSpPr/>
          <p:nvPr/>
        </p:nvSpPr>
        <p:spPr>
          <a:xfrm>
            <a:off x="3794760" y="4023360"/>
            <a:ext cx="1234440" cy="576072"/>
          </a:xfrm>
          <a:prstGeom prst="rect">
            <a:avLst/>
          </a:prstGeom>
          <a:solidFill>
            <a:srgbClr val="FFFFFF"/>
          </a:solidFill>
          <a:ln w="12700">
            <a:solidFill>
              <a:srgbClr val="CBD5E1"/>
            </a:solidFill>
            <a:prstDash val="solid"/>
          </a:ln>
        </p:spPr>
      </p:sp>
      <p:sp>
        <p:nvSpPr>
          <p:cNvPr id="93" name="Text 91"/>
          <p:cNvSpPr txBox="1"/>
          <p:nvPr/>
        </p:nvSpPr>
        <p:spPr>
          <a:xfrm>
            <a:off x="3840480" y="4069080"/>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N/A</a:t>
            </a:r>
            <a:endParaRPr lang="en-US" sz="900" dirty="0"/>
          </a:p>
        </p:txBody>
      </p:sp>
      <p:sp>
        <p:nvSpPr>
          <p:cNvPr id="94" name="Shape 92"/>
          <p:cNvSpPr/>
          <p:nvPr/>
        </p:nvSpPr>
        <p:spPr>
          <a:xfrm>
            <a:off x="5029200" y="4023360"/>
            <a:ext cx="822960" cy="576072"/>
          </a:xfrm>
          <a:prstGeom prst="rect">
            <a:avLst/>
          </a:prstGeom>
          <a:solidFill>
            <a:srgbClr val="FFFFFF"/>
          </a:solidFill>
          <a:ln w="12700">
            <a:solidFill>
              <a:srgbClr val="CBD5E1"/>
            </a:solidFill>
            <a:prstDash val="solid"/>
          </a:ln>
        </p:spPr>
      </p:sp>
      <p:sp>
        <p:nvSpPr>
          <p:cNvPr id="95" name="Text 93"/>
          <p:cNvSpPr txBox="1"/>
          <p:nvPr/>
        </p:nvSpPr>
        <p:spPr>
          <a:xfrm>
            <a:off x="5074920" y="4069080"/>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2–3 days</a:t>
            </a:r>
            <a:endParaRPr lang="en-US" sz="900" dirty="0"/>
          </a:p>
        </p:txBody>
      </p:sp>
      <p:sp>
        <p:nvSpPr>
          <p:cNvPr id="96" name="Shape 94"/>
          <p:cNvSpPr/>
          <p:nvPr/>
        </p:nvSpPr>
        <p:spPr>
          <a:xfrm>
            <a:off x="5852160" y="4023360"/>
            <a:ext cx="822960" cy="576072"/>
          </a:xfrm>
          <a:prstGeom prst="rect">
            <a:avLst/>
          </a:prstGeom>
          <a:solidFill>
            <a:srgbClr val="FFFFFF"/>
          </a:solidFill>
          <a:ln w="12700">
            <a:solidFill>
              <a:srgbClr val="CBD5E1"/>
            </a:solidFill>
            <a:prstDash val="solid"/>
          </a:ln>
        </p:spPr>
      </p:sp>
      <p:sp>
        <p:nvSpPr>
          <p:cNvPr id="97" name="Text 95"/>
          <p:cNvSpPr txBox="1"/>
          <p:nvPr/>
        </p:nvSpPr>
        <p:spPr>
          <a:xfrm>
            <a:off x="5897880" y="4069080"/>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98" name="Shape 96"/>
          <p:cNvSpPr/>
          <p:nvPr/>
        </p:nvSpPr>
        <p:spPr>
          <a:xfrm>
            <a:off x="6675120" y="4023360"/>
            <a:ext cx="731520" cy="576072"/>
          </a:xfrm>
          <a:prstGeom prst="rect">
            <a:avLst/>
          </a:prstGeom>
          <a:solidFill>
            <a:srgbClr val="FFFFFF"/>
          </a:solidFill>
          <a:ln w="12700">
            <a:solidFill>
              <a:srgbClr val="CBD5E1"/>
            </a:solidFill>
            <a:prstDash val="solid"/>
          </a:ln>
        </p:spPr>
      </p:sp>
      <p:sp>
        <p:nvSpPr>
          <p:cNvPr id="99" name="Text 97"/>
          <p:cNvSpPr txBox="1"/>
          <p:nvPr/>
        </p:nvSpPr>
        <p:spPr>
          <a:xfrm>
            <a:off x="6720840" y="4069080"/>
            <a:ext cx="64008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Low</a:t>
            </a:r>
            <a:endParaRPr lang="en-US" sz="900" dirty="0"/>
          </a:p>
        </p:txBody>
      </p:sp>
      <p:sp>
        <p:nvSpPr>
          <p:cNvPr id="100" name="Shape 98"/>
          <p:cNvSpPr/>
          <p:nvPr/>
        </p:nvSpPr>
        <p:spPr>
          <a:xfrm>
            <a:off x="7406640" y="4023360"/>
            <a:ext cx="960120" cy="576072"/>
          </a:xfrm>
          <a:prstGeom prst="rect">
            <a:avLst/>
          </a:prstGeom>
          <a:solidFill>
            <a:srgbClr val="FFFFFF"/>
          </a:solidFill>
          <a:ln w="12700">
            <a:solidFill>
              <a:srgbClr val="CBD5E1"/>
            </a:solidFill>
            <a:prstDash val="solid"/>
          </a:ln>
        </p:spPr>
      </p:sp>
      <p:sp>
        <p:nvSpPr>
          <p:cNvPr id="101" name="Text 99"/>
          <p:cNvSpPr txBox="1"/>
          <p:nvPr/>
        </p:nvSpPr>
        <p:spPr>
          <a:xfrm>
            <a:off x="7452360" y="4069080"/>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None</a:t>
            </a:r>
            <a:endParaRPr lang="en-US" sz="900" dirty="0"/>
          </a:p>
        </p:txBody>
      </p:sp>
      <p:sp>
        <p:nvSpPr>
          <p:cNvPr id="102" name="Shape 100"/>
          <p:cNvSpPr/>
          <p:nvPr/>
        </p:nvSpPr>
        <p:spPr>
          <a:xfrm>
            <a:off x="8366760" y="4023360"/>
            <a:ext cx="1005840" cy="576072"/>
          </a:xfrm>
          <a:prstGeom prst="rect">
            <a:avLst/>
          </a:prstGeom>
          <a:solidFill>
            <a:srgbClr val="FFFFFF"/>
          </a:solidFill>
          <a:ln w="12700">
            <a:solidFill>
              <a:srgbClr val="CBD5E1"/>
            </a:solidFill>
            <a:prstDash val="solid"/>
          </a:ln>
        </p:spPr>
      </p:sp>
      <p:sp>
        <p:nvSpPr>
          <p:cNvPr id="103" name="Text 101"/>
          <p:cNvSpPr txBox="1"/>
          <p:nvPr/>
        </p:nvSpPr>
        <p:spPr>
          <a:xfrm>
            <a:off x="8412480" y="4069080"/>
            <a:ext cx="91440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High</a:t>
            </a:r>
            <a:endParaRPr lang="en-US" sz="900" dirty="0"/>
          </a:p>
        </p:txBody>
      </p:sp>
      <p:sp>
        <p:nvSpPr>
          <p:cNvPr id="104" name="Shape 102"/>
          <p:cNvSpPr/>
          <p:nvPr/>
        </p:nvSpPr>
        <p:spPr>
          <a:xfrm>
            <a:off x="274320" y="4645152"/>
            <a:ext cx="2377440" cy="576072"/>
          </a:xfrm>
          <a:prstGeom prst="rect">
            <a:avLst/>
          </a:prstGeom>
          <a:solidFill>
            <a:srgbClr val="F2F4F5"/>
          </a:solidFill>
          <a:ln w="12700">
            <a:solidFill>
              <a:srgbClr val="CBD5E1"/>
            </a:solidFill>
            <a:prstDash val="solid"/>
          </a:ln>
        </p:spPr>
      </p:sp>
      <p:sp>
        <p:nvSpPr>
          <p:cNvPr id="105" name="Text 103"/>
          <p:cNvSpPr txBox="1"/>
          <p:nvPr/>
        </p:nvSpPr>
        <p:spPr>
          <a:xfrm>
            <a:off x="320040" y="4690872"/>
            <a:ext cx="2286000" cy="484632"/>
          </a:xfrm>
          <a:prstGeom prst="rect">
            <a:avLst/>
          </a:prstGeom>
          <a:noFill/>
          <a:ln/>
        </p:spPr>
        <p:txBody>
          <a:bodyPr wrap="square" lIns="0" tIns="0" rIns="0" bIns="0" rtlCol="0" anchor="ctr"/>
          <a:lstStyle/>
          <a:p>
            <a:pPr indent="0" marL="0">
              <a:buNone/>
            </a:pPr>
            <a:r>
              <a:rPr lang="en-US" sz="900" b="1" dirty="0">
                <a:solidFill>
                  <a:srgbClr val="3A4A5C"/>
                </a:solidFill>
                <a:latin typeface="Calibri" pitchFamily="34" charset="0"/>
                <a:ea typeface="Calibri" pitchFamily="34" charset="-122"/>
                <a:cs typeface="Calibri" pitchFamily="34" charset="-120"/>
              </a:rPr>
              <a:t>NAT Gateway Quick Fixes</a:t>
            </a:r>
            <a:endParaRPr lang="en-US" sz="900" dirty="0"/>
          </a:p>
        </p:txBody>
      </p:sp>
      <p:sp>
        <p:nvSpPr>
          <p:cNvPr id="106" name="Shape 104"/>
          <p:cNvSpPr/>
          <p:nvPr/>
        </p:nvSpPr>
        <p:spPr>
          <a:xfrm>
            <a:off x="2651760" y="4645152"/>
            <a:ext cx="1143000" cy="576072"/>
          </a:xfrm>
          <a:prstGeom prst="rect">
            <a:avLst/>
          </a:prstGeom>
          <a:solidFill>
            <a:srgbClr val="F2F4F5"/>
          </a:solidFill>
          <a:ln w="12700">
            <a:solidFill>
              <a:srgbClr val="CBD5E1"/>
            </a:solidFill>
            <a:prstDash val="solid"/>
          </a:ln>
        </p:spPr>
      </p:sp>
      <p:sp>
        <p:nvSpPr>
          <p:cNvPr id="107" name="Text 105"/>
          <p:cNvSpPr txBox="1"/>
          <p:nvPr/>
        </p:nvSpPr>
        <p:spPr>
          <a:xfrm>
            <a:off x="2697480" y="4690872"/>
            <a:ext cx="105156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$1,500–$3,000</a:t>
            </a:r>
            <a:endParaRPr lang="en-US" sz="900" dirty="0"/>
          </a:p>
        </p:txBody>
      </p:sp>
      <p:sp>
        <p:nvSpPr>
          <p:cNvPr id="108" name="Shape 106"/>
          <p:cNvSpPr/>
          <p:nvPr/>
        </p:nvSpPr>
        <p:spPr>
          <a:xfrm>
            <a:off x="3794760" y="4645152"/>
            <a:ext cx="1234440" cy="576072"/>
          </a:xfrm>
          <a:prstGeom prst="rect">
            <a:avLst/>
          </a:prstGeom>
          <a:solidFill>
            <a:srgbClr val="F2F4F5"/>
          </a:solidFill>
          <a:ln w="12700">
            <a:solidFill>
              <a:srgbClr val="CBD5E1"/>
            </a:solidFill>
            <a:prstDash val="solid"/>
          </a:ln>
        </p:spPr>
      </p:sp>
      <p:sp>
        <p:nvSpPr>
          <p:cNvPr id="109" name="Text 107"/>
          <p:cNvSpPr txBox="1"/>
          <p:nvPr/>
        </p:nvSpPr>
        <p:spPr>
          <a:xfrm>
            <a:off x="3840480" y="4690872"/>
            <a:ext cx="114300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Scenario</a:t>
            </a:r>
            <a:endParaRPr lang="en-US" sz="900" dirty="0"/>
          </a:p>
        </p:txBody>
      </p:sp>
      <p:sp>
        <p:nvSpPr>
          <p:cNvPr id="110" name="Shape 108"/>
          <p:cNvSpPr/>
          <p:nvPr/>
        </p:nvSpPr>
        <p:spPr>
          <a:xfrm>
            <a:off x="5029200" y="4645152"/>
            <a:ext cx="822960" cy="576072"/>
          </a:xfrm>
          <a:prstGeom prst="rect">
            <a:avLst/>
          </a:prstGeom>
          <a:solidFill>
            <a:srgbClr val="F2F4F5"/>
          </a:solidFill>
          <a:ln w="12700">
            <a:solidFill>
              <a:srgbClr val="CBD5E1"/>
            </a:solidFill>
            <a:prstDash val="solid"/>
          </a:ln>
        </p:spPr>
      </p:sp>
      <p:sp>
        <p:nvSpPr>
          <p:cNvPr id="111" name="Text 109"/>
          <p:cNvSpPr txBox="1"/>
          <p:nvPr/>
        </p:nvSpPr>
        <p:spPr>
          <a:xfrm>
            <a:off x="5074920" y="4690872"/>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3–5 days</a:t>
            </a:r>
            <a:endParaRPr lang="en-US" sz="900" dirty="0"/>
          </a:p>
        </p:txBody>
      </p:sp>
      <p:sp>
        <p:nvSpPr>
          <p:cNvPr id="112" name="Shape 110"/>
          <p:cNvSpPr/>
          <p:nvPr/>
        </p:nvSpPr>
        <p:spPr>
          <a:xfrm>
            <a:off x="5852160" y="4645152"/>
            <a:ext cx="822960" cy="576072"/>
          </a:xfrm>
          <a:prstGeom prst="rect">
            <a:avLst/>
          </a:prstGeom>
          <a:solidFill>
            <a:srgbClr val="F2F4F5"/>
          </a:solidFill>
          <a:ln w="12700">
            <a:solidFill>
              <a:srgbClr val="CBD5E1"/>
            </a:solidFill>
            <a:prstDash val="solid"/>
          </a:ln>
        </p:spPr>
      </p:sp>
      <p:sp>
        <p:nvSpPr>
          <p:cNvPr id="113" name="Text 111"/>
          <p:cNvSpPr txBox="1"/>
          <p:nvPr/>
        </p:nvSpPr>
        <p:spPr>
          <a:xfrm>
            <a:off x="5897880" y="4690872"/>
            <a:ext cx="73152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TBD†</a:t>
            </a:r>
            <a:endParaRPr lang="en-US" sz="900" dirty="0"/>
          </a:p>
        </p:txBody>
      </p:sp>
      <p:sp>
        <p:nvSpPr>
          <p:cNvPr id="114" name="Shape 112"/>
          <p:cNvSpPr/>
          <p:nvPr/>
        </p:nvSpPr>
        <p:spPr>
          <a:xfrm>
            <a:off x="6675120" y="4645152"/>
            <a:ext cx="731520" cy="576072"/>
          </a:xfrm>
          <a:prstGeom prst="rect">
            <a:avLst/>
          </a:prstGeom>
          <a:solidFill>
            <a:srgbClr val="F2F4F5"/>
          </a:solidFill>
          <a:ln w="12700">
            <a:solidFill>
              <a:srgbClr val="CBD5E1"/>
            </a:solidFill>
            <a:prstDash val="solid"/>
          </a:ln>
        </p:spPr>
      </p:sp>
      <p:sp>
        <p:nvSpPr>
          <p:cNvPr id="115" name="Text 113"/>
          <p:cNvSpPr txBox="1"/>
          <p:nvPr/>
        </p:nvSpPr>
        <p:spPr>
          <a:xfrm>
            <a:off x="6720840" y="4690872"/>
            <a:ext cx="640080" cy="484632"/>
          </a:xfrm>
          <a:prstGeom prst="rect">
            <a:avLst/>
          </a:prstGeom>
          <a:noFill/>
          <a:ln/>
        </p:spPr>
        <p:txBody>
          <a:bodyPr wrap="square" lIns="0" tIns="0" rIns="0" bIns="0" rtlCol="0" anchor="ctr"/>
          <a:lstStyle/>
          <a:p>
            <a:pPr indent="0" marL="0">
              <a:buNone/>
            </a:pPr>
            <a:r>
              <a:rPr lang="en-US" sz="900" dirty="0">
                <a:solidFill>
                  <a:srgbClr val="1A8A4A"/>
                </a:solidFill>
                <a:latin typeface="Calibri" pitchFamily="34" charset="0"/>
                <a:ea typeface="Calibri" pitchFamily="34" charset="-122"/>
                <a:cs typeface="Calibri" pitchFamily="34" charset="-120"/>
              </a:rPr>
              <a:t>Low</a:t>
            </a:r>
            <a:endParaRPr lang="en-US" sz="900" dirty="0"/>
          </a:p>
        </p:txBody>
      </p:sp>
      <p:sp>
        <p:nvSpPr>
          <p:cNvPr id="116" name="Shape 114"/>
          <p:cNvSpPr/>
          <p:nvPr/>
        </p:nvSpPr>
        <p:spPr>
          <a:xfrm>
            <a:off x="7406640" y="4645152"/>
            <a:ext cx="960120" cy="576072"/>
          </a:xfrm>
          <a:prstGeom prst="rect">
            <a:avLst/>
          </a:prstGeom>
          <a:solidFill>
            <a:srgbClr val="F2F4F5"/>
          </a:solidFill>
          <a:ln w="12700">
            <a:solidFill>
              <a:srgbClr val="CBD5E1"/>
            </a:solidFill>
            <a:prstDash val="solid"/>
          </a:ln>
        </p:spPr>
      </p:sp>
      <p:sp>
        <p:nvSpPr>
          <p:cNvPr id="117" name="Text 115"/>
          <p:cNvSpPr txBox="1"/>
          <p:nvPr/>
        </p:nvSpPr>
        <p:spPr>
          <a:xfrm>
            <a:off x="7452360" y="4690872"/>
            <a:ext cx="868680" cy="484632"/>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Required</a:t>
            </a:r>
            <a:endParaRPr lang="en-US" sz="900" dirty="0"/>
          </a:p>
        </p:txBody>
      </p:sp>
      <p:sp>
        <p:nvSpPr>
          <p:cNvPr id="118" name="Shape 116"/>
          <p:cNvSpPr/>
          <p:nvPr/>
        </p:nvSpPr>
        <p:spPr>
          <a:xfrm>
            <a:off x="8366760" y="4645152"/>
            <a:ext cx="1005840" cy="576072"/>
          </a:xfrm>
          <a:prstGeom prst="rect">
            <a:avLst/>
          </a:prstGeom>
          <a:solidFill>
            <a:srgbClr val="F2F4F5"/>
          </a:solidFill>
          <a:ln w="12700">
            <a:solidFill>
              <a:srgbClr val="CBD5E1"/>
            </a:solidFill>
            <a:prstDash val="solid"/>
          </a:ln>
        </p:spPr>
      </p:sp>
      <p:sp>
        <p:nvSpPr>
          <p:cNvPr id="119" name="Text 117"/>
          <p:cNvSpPr txBox="1"/>
          <p:nvPr/>
        </p:nvSpPr>
        <p:spPr>
          <a:xfrm>
            <a:off x="8412480" y="4690872"/>
            <a:ext cx="914400" cy="4846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Medium</a:t>
            </a:r>
            <a:endParaRPr lang="en-US" sz="900" dirty="0"/>
          </a:p>
        </p:txBody>
      </p:sp>
      <p:sp>
        <p:nvSpPr>
          <p:cNvPr id="120" name="Text 118"/>
          <p:cNvSpPr txBox="1"/>
          <p:nvPr/>
        </p:nvSpPr>
        <p:spPr>
          <a:xfrm>
            <a:off x="274320" y="6236208"/>
            <a:ext cx="11612880" cy="411480"/>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 Non-production scheduled shutdown: planning estimate only. Actual savings depend on environment configuration validation.</a:t>
            </a:r>
            <a:endParaRPr lang="en-US" sz="800" dirty="0"/>
          </a:p>
          <a:p>
            <a:pPr indent="0" marL="0">
              <a:buNone/>
            </a:pPr>
            <a:r>
              <a:rPr lang="en-US" sz="800" dirty="0">
                <a:solidFill>
                  <a:srgbClr val="7F8C8D"/>
                </a:solidFill>
                <a:latin typeface="Calibri" pitchFamily="34" charset="0"/>
                <a:ea typeface="Calibri" pitchFamily="34" charset="-122"/>
                <a:cs typeface="Calibri" pitchFamily="34" charset="-120"/>
              </a:rPr>
              <a:t>† Implementation costs: TBD during detailed implementation planning. Estimating without validated scope would be misleading.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Weeks 3–8: Medium-Term Optimisation</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Architecture, commitments, and scaling — higher savings, higher complexity</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8 / 18</a:t>
            </a:r>
            <a:endParaRPr lang="en-US" sz="700" dirty="0"/>
          </a:p>
        </p:txBody>
      </p:sp>
      <p:sp>
        <p:nvSpPr>
          <p:cNvPr id="8" name="Text 6"/>
          <p:cNvSpPr txBox="1"/>
          <p:nvPr/>
        </p:nvSpPr>
        <p:spPr>
          <a:xfrm>
            <a:off x="274320" y="1188720"/>
            <a:ext cx="3657600" cy="201168"/>
          </a:xfrm>
          <a:prstGeom prst="rect">
            <a:avLst/>
          </a:prstGeom>
          <a:noFill/>
          <a:ln/>
        </p:spPr>
        <p:txBody>
          <a:bodyPr wrap="square" lIns="0" tIns="0" rIns="0" bIns="0" rtlCol="0" anchor="ctr"/>
          <a:lstStyle/>
          <a:p>
            <a:pPr indent="0" marL="0">
              <a:buNone/>
            </a:pPr>
            <a:r>
              <a:rPr lang="en-US" sz="800" b="1" spc="200" kern="0" dirty="0">
                <a:solidFill>
                  <a:srgbClr val="E07B00"/>
                </a:solidFill>
                <a:latin typeface="Calibri" pitchFamily="34" charset="0"/>
                <a:ea typeface="Calibri" pitchFamily="34" charset="-122"/>
                <a:cs typeface="Calibri" pitchFamily="34" charset="-120"/>
              </a:rPr>
              <a:t>NOTE: NETWORK/TRANSFER ITEMS ARE NOT ADDITIVE TO SLIDE 6 DATA TRANSFER TOTAL — THEY ARE COMPONENT BREAKDOWNS</a:t>
            </a:r>
            <a:endParaRPr lang="en-US" sz="800" dirty="0"/>
          </a:p>
        </p:txBody>
      </p:sp>
      <p:sp>
        <p:nvSpPr>
          <p:cNvPr id="9" name="Shape 7"/>
          <p:cNvSpPr/>
          <p:nvPr/>
        </p:nvSpPr>
        <p:spPr>
          <a:xfrm>
            <a:off x="274320" y="1426464"/>
            <a:ext cx="11612880" cy="603504"/>
          </a:xfrm>
          <a:prstGeom prst="roundRect">
            <a:avLst>
              <a:gd name="adj" fmla="val 9091"/>
            </a:avLst>
          </a:prstGeom>
          <a:solidFill>
            <a:srgbClr val="F2F4F5"/>
          </a:solidFill>
          <a:ln w="12700">
            <a:solidFill>
              <a:srgbClr val="CBD5E1"/>
            </a:solidFill>
            <a:prstDash val="solid"/>
          </a:ln>
        </p:spPr>
      </p:sp>
      <p:sp>
        <p:nvSpPr>
          <p:cNvPr id="10" name="Shape 8"/>
          <p:cNvSpPr/>
          <p:nvPr/>
        </p:nvSpPr>
        <p:spPr>
          <a:xfrm>
            <a:off x="274320" y="1426464"/>
            <a:ext cx="1005840" cy="603504"/>
          </a:xfrm>
          <a:prstGeom prst="rect">
            <a:avLst/>
          </a:prstGeom>
          <a:solidFill>
            <a:srgbClr val="E07B00"/>
          </a:solidFill>
          <a:ln w="12700">
            <a:solidFill>
              <a:srgbClr val="E07B00"/>
            </a:solidFill>
            <a:prstDash val="solid"/>
          </a:ln>
        </p:spPr>
      </p:sp>
      <p:sp>
        <p:nvSpPr>
          <p:cNvPr id="11" name="Text 9"/>
          <p:cNvSpPr txBox="1"/>
          <p:nvPr/>
        </p:nvSpPr>
        <p:spPr>
          <a:xfrm>
            <a:off x="274320" y="1591056"/>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DATABASE</a:t>
            </a:r>
            <a:endParaRPr lang="en-US" sz="700" dirty="0"/>
          </a:p>
        </p:txBody>
      </p:sp>
      <p:sp>
        <p:nvSpPr>
          <p:cNvPr id="12" name="Text 10"/>
          <p:cNvSpPr txBox="1"/>
          <p:nvPr/>
        </p:nvSpPr>
        <p:spPr>
          <a:xfrm>
            <a:off x="1371600" y="1536192"/>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RDS Right-Sizing &amp; Replica Optimisation</a:t>
            </a:r>
            <a:endParaRPr lang="en-US" sz="1000" dirty="0"/>
          </a:p>
        </p:txBody>
      </p:sp>
      <p:sp>
        <p:nvSpPr>
          <p:cNvPr id="13" name="Text 11"/>
          <p:cNvSpPr txBox="1"/>
          <p:nvPr/>
        </p:nvSpPr>
        <p:spPr>
          <a:xfrm>
            <a:off x="6492240" y="1481328"/>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$2,800</a:t>
            </a:r>
            <a:endParaRPr lang="en-US" sz="900" dirty="0"/>
          </a:p>
        </p:txBody>
      </p:sp>
      <p:sp>
        <p:nvSpPr>
          <p:cNvPr id="14" name="Text 12"/>
          <p:cNvSpPr txBox="1"/>
          <p:nvPr/>
        </p:nvSpPr>
        <p:spPr>
          <a:xfrm>
            <a:off x="6492240" y="1719072"/>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$4,672</a:t>
            </a:r>
            <a:endParaRPr lang="en-US" sz="900" dirty="0"/>
          </a:p>
        </p:txBody>
      </p:sp>
      <p:sp>
        <p:nvSpPr>
          <p:cNvPr id="15" name="Text 13"/>
          <p:cNvSpPr txBox="1"/>
          <p:nvPr/>
        </p:nvSpPr>
        <p:spPr>
          <a:xfrm>
            <a:off x="7955280" y="1481328"/>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$5,200</a:t>
            </a:r>
            <a:endParaRPr lang="en-US" sz="900" dirty="0"/>
          </a:p>
        </p:txBody>
      </p:sp>
      <p:sp>
        <p:nvSpPr>
          <p:cNvPr id="16" name="Shape 14"/>
          <p:cNvSpPr/>
          <p:nvPr/>
        </p:nvSpPr>
        <p:spPr>
          <a:xfrm>
            <a:off x="9464040" y="1554480"/>
            <a:ext cx="2194560" cy="347472"/>
          </a:xfrm>
          <a:prstGeom prst="roundRect">
            <a:avLst>
              <a:gd name="adj" fmla="val 13158"/>
            </a:avLst>
          </a:prstGeom>
          <a:solidFill>
            <a:srgbClr val="FFFFFF"/>
          </a:solidFill>
          <a:ln w="12700">
            <a:solidFill>
              <a:srgbClr val="CBD5E1"/>
            </a:solidFill>
            <a:prstDash val="solid"/>
          </a:ln>
        </p:spPr>
      </p:sp>
      <p:sp>
        <p:nvSpPr>
          <p:cNvPr id="17" name="Text 15"/>
          <p:cNvSpPr txBox="1"/>
          <p:nvPr/>
        </p:nvSpPr>
        <p:spPr>
          <a:xfrm>
            <a:off x="9491472" y="1563624"/>
            <a:ext cx="2103120" cy="310896"/>
          </a:xfrm>
          <a:prstGeom prst="rect">
            <a:avLst/>
          </a:prstGeom>
          <a:noFill/>
          <a:ln/>
        </p:spPr>
        <p:txBody>
          <a:bodyPr wrap="square" lIns="0" tIns="0" rIns="0" bIns="0" rtlCol="0" anchor="ctr"/>
          <a:lstStyle/>
          <a:p>
            <a:pPr algn="ctr" indent="0" marL="0">
              <a:buNone/>
            </a:pPr>
            <a:r>
              <a:rPr lang="en-US" sz="800" b="1" dirty="0">
                <a:solidFill>
                  <a:srgbClr val="E07B00"/>
                </a:solidFill>
                <a:latin typeface="Calibri" pitchFamily="34" charset="0"/>
                <a:ea typeface="Calibri" pitchFamily="34" charset="-122"/>
                <a:cs typeface="Calibri" pitchFamily="34" charset="-120"/>
              </a:rPr>
              <a:t>Confidence: Conditional*</a:t>
            </a:r>
            <a:endParaRPr lang="en-US" sz="800" dirty="0"/>
          </a:p>
        </p:txBody>
      </p:sp>
      <p:sp>
        <p:nvSpPr>
          <p:cNvPr id="18" name="Shape 16"/>
          <p:cNvSpPr/>
          <p:nvPr/>
        </p:nvSpPr>
        <p:spPr>
          <a:xfrm>
            <a:off x="274320" y="2084832"/>
            <a:ext cx="11612880" cy="603504"/>
          </a:xfrm>
          <a:prstGeom prst="roundRect">
            <a:avLst>
              <a:gd name="adj" fmla="val 9091"/>
            </a:avLst>
          </a:prstGeom>
          <a:solidFill>
            <a:srgbClr val="F2F4F5"/>
          </a:solidFill>
          <a:ln w="12700">
            <a:solidFill>
              <a:srgbClr val="CBD5E1"/>
            </a:solidFill>
            <a:prstDash val="solid"/>
          </a:ln>
        </p:spPr>
      </p:sp>
      <p:sp>
        <p:nvSpPr>
          <p:cNvPr id="19" name="Shape 17"/>
          <p:cNvSpPr/>
          <p:nvPr/>
        </p:nvSpPr>
        <p:spPr>
          <a:xfrm>
            <a:off x="274320" y="2084832"/>
            <a:ext cx="1005840" cy="603504"/>
          </a:xfrm>
          <a:prstGeom prst="rect">
            <a:avLst/>
          </a:prstGeom>
          <a:solidFill>
            <a:srgbClr val="1A5FA8"/>
          </a:solidFill>
          <a:ln w="12700">
            <a:solidFill>
              <a:srgbClr val="1A5FA8"/>
            </a:solidFill>
            <a:prstDash val="solid"/>
          </a:ln>
        </p:spPr>
      </p:sp>
      <p:sp>
        <p:nvSpPr>
          <p:cNvPr id="20" name="Text 18"/>
          <p:cNvSpPr txBox="1"/>
          <p:nvPr/>
        </p:nvSpPr>
        <p:spPr>
          <a:xfrm>
            <a:off x="274320" y="2249424"/>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NETWORK</a:t>
            </a:r>
            <a:endParaRPr lang="en-US" sz="700" dirty="0"/>
          </a:p>
        </p:txBody>
      </p:sp>
      <p:sp>
        <p:nvSpPr>
          <p:cNvPr id="21" name="Text 19"/>
          <p:cNvSpPr txBox="1"/>
          <p:nvPr/>
        </p:nvSpPr>
        <p:spPr>
          <a:xfrm>
            <a:off x="1371600" y="2194560"/>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Cross-AZ Traffic Architecture Optimisation</a:t>
            </a:r>
            <a:endParaRPr lang="en-US" sz="1000" dirty="0"/>
          </a:p>
        </p:txBody>
      </p:sp>
      <p:sp>
        <p:nvSpPr>
          <p:cNvPr id="22" name="Text 20"/>
          <p:cNvSpPr txBox="1"/>
          <p:nvPr/>
        </p:nvSpPr>
        <p:spPr>
          <a:xfrm>
            <a:off x="6492240" y="2139696"/>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$8,000</a:t>
            </a:r>
            <a:endParaRPr lang="en-US" sz="900" dirty="0"/>
          </a:p>
        </p:txBody>
      </p:sp>
      <p:sp>
        <p:nvSpPr>
          <p:cNvPr id="23" name="Text 21"/>
          <p:cNvSpPr txBox="1"/>
          <p:nvPr/>
        </p:nvSpPr>
        <p:spPr>
          <a:xfrm>
            <a:off x="6492240" y="2377440"/>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$15,000</a:t>
            </a:r>
            <a:endParaRPr lang="en-US" sz="900" dirty="0"/>
          </a:p>
        </p:txBody>
      </p:sp>
      <p:sp>
        <p:nvSpPr>
          <p:cNvPr id="24" name="Text 22"/>
          <p:cNvSpPr txBox="1"/>
          <p:nvPr/>
        </p:nvSpPr>
        <p:spPr>
          <a:xfrm>
            <a:off x="7955280" y="2139696"/>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$20,000</a:t>
            </a:r>
            <a:endParaRPr lang="en-US" sz="900" dirty="0"/>
          </a:p>
        </p:txBody>
      </p:sp>
      <p:sp>
        <p:nvSpPr>
          <p:cNvPr id="25" name="Shape 23"/>
          <p:cNvSpPr/>
          <p:nvPr/>
        </p:nvSpPr>
        <p:spPr>
          <a:xfrm>
            <a:off x="9464040" y="2212848"/>
            <a:ext cx="2194560" cy="347472"/>
          </a:xfrm>
          <a:prstGeom prst="roundRect">
            <a:avLst>
              <a:gd name="adj" fmla="val 13158"/>
            </a:avLst>
          </a:prstGeom>
          <a:solidFill>
            <a:srgbClr val="FFFFFF"/>
          </a:solidFill>
          <a:ln w="12700">
            <a:solidFill>
              <a:srgbClr val="CBD5E1"/>
            </a:solidFill>
            <a:prstDash val="solid"/>
          </a:ln>
        </p:spPr>
      </p:sp>
      <p:sp>
        <p:nvSpPr>
          <p:cNvPr id="26" name="Text 24"/>
          <p:cNvSpPr txBox="1"/>
          <p:nvPr/>
        </p:nvSpPr>
        <p:spPr>
          <a:xfrm>
            <a:off x="9491472" y="2221992"/>
            <a:ext cx="2103120" cy="310896"/>
          </a:xfrm>
          <a:prstGeom prst="rect">
            <a:avLst/>
          </a:prstGeom>
          <a:noFill/>
          <a:ln/>
        </p:spPr>
        <p:txBody>
          <a:bodyPr wrap="square" lIns="0" tIns="0" rIns="0" bIns="0" rtlCol="0" anchor="ctr"/>
          <a:lstStyle/>
          <a:p>
            <a:pPr algn="ctr" indent="0" marL="0">
              <a:buNone/>
            </a:pPr>
            <a:r>
              <a:rPr lang="en-US" sz="800" b="1" dirty="0">
                <a:solidFill>
                  <a:srgbClr val="1A5FA8"/>
                </a:solidFill>
                <a:latin typeface="Calibri" pitchFamily="34" charset="0"/>
                <a:ea typeface="Calibri" pitchFamily="34" charset="-122"/>
                <a:cs typeface="Calibri" pitchFamily="34" charset="-120"/>
              </a:rPr>
              <a:t>Confidence: Medium</a:t>
            </a:r>
            <a:endParaRPr lang="en-US" sz="800" dirty="0"/>
          </a:p>
        </p:txBody>
      </p:sp>
      <p:sp>
        <p:nvSpPr>
          <p:cNvPr id="27" name="Shape 25"/>
          <p:cNvSpPr/>
          <p:nvPr/>
        </p:nvSpPr>
        <p:spPr>
          <a:xfrm>
            <a:off x="274320" y="2743200"/>
            <a:ext cx="11612880" cy="603504"/>
          </a:xfrm>
          <a:prstGeom prst="roundRect">
            <a:avLst>
              <a:gd name="adj" fmla="val 9091"/>
            </a:avLst>
          </a:prstGeom>
          <a:solidFill>
            <a:srgbClr val="F2F4F5"/>
          </a:solidFill>
          <a:ln w="12700">
            <a:solidFill>
              <a:srgbClr val="CBD5E1"/>
            </a:solidFill>
            <a:prstDash val="solid"/>
          </a:ln>
        </p:spPr>
      </p:sp>
      <p:sp>
        <p:nvSpPr>
          <p:cNvPr id="28" name="Shape 26"/>
          <p:cNvSpPr/>
          <p:nvPr/>
        </p:nvSpPr>
        <p:spPr>
          <a:xfrm>
            <a:off x="274320" y="2743200"/>
            <a:ext cx="1005840" cy="603504"/>
          </a:xfrm>
          <a:prstGeom prst="rect">
            <a:avLst/>
          </a:prstGeom>
          <a:solidFill>
            <a:srgbClr val="1A5FA8"/>
          </a:solidFill>
          <a:ln w="12700">
            <a:solidFill>
              <a:srgbClr val="1A5FA8"/>
            </a:solidFill>
            <a:prstDash val="solid"/>
          </a:ln>
        </p:spPr>
      </p:sp>
      <p:sp>
        <p:nvSpPr>
          <p:cNvPr id="29" name="Text 27"/>
          <p:cNvSpPr txBox="1"/>
          <p:nvPr/>
        </p:nvSpPr>
        <p:spPr>
          <a:xfrm>
            <a:off x="274320" y="2907792"/>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NETWORK</a:t>
            </a:r>
            <a:endParaRPr lang="en-US" sz="700" dirty="0"/>
          </a:p>
        </p:txBody>
      </p:sp>
      <p:sp>
        <p:nvSpPr>
          <p:cNvPr id="30" name="Text 28"/>
          <p:cNvSpPr txBox="1"/>
          <p:nvPr/>
        </p:nvSpPr>
        <p:spPr>
          <a:xfrm>
            <a:off x="1371600" y="2852928"/>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Cross-Region Transfer Reduction</a:t>
            </a:r>
            <a:endParaRPr lang="en-US" sz="1000" dirty="0"/>
          </a:p>
        </p:txBody>
      </p:sp>
      <p:sp>
        <p:nvSpPr>
          <p:cNvPr id="31" name="Text 29"/>
          <p:cNvSpPr txBox="1"/>
          <p:nvPr/>
        </p:nvSpPr>
        <p:spPr>
          <a:xfrm>
            <a:off x="6492240" y="2798064"/>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$5,000</a:t>
            </a:r>
            <a:endParaRPr lang="en-US" sz="900" dirty="0"/>
          </a:p>
        </p:txBody>
      </p:sp>
      <p:sp>
        <p:nvSpPr>
          <p:cNvPr id="32" name="Text 30"/>
          <p:cNvSpPr txBox="1"/>
          <p:nvPr/>
        </p:nvSpPr>
        <p:spPr>
          <a:xfrm>
            <a:off x="6492240" y="3035808"/>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$10,000</a:t>
            </a:r>
            <a:endParaRPr lang="en-US" sz="900" dirty="0"/>
          </a:p>
        </p:txBody>
      </p:sp>
      <p:sp>
        <p:nvSpPr>
          <p:cNvPr id="33" name="Text 31"/>
          <p:cNvSpPr txBox="1"/>
          <p:nvPr/>
        </p:nvSpPr>
        <p:spPr>
          <a:xfrm>
            <a:off x="7955280" y="2798064"/>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$15,000</a:t>
            </a:r>
            <a:endParaRPr lang="en-US" sz="900" dirty="0"/>
          </a:p>
        </p:txBody>
      </p:sp>
      <p:sp>
        <p:nvSpPr>
          <p:cNvPr id="34" name="Shape 32"/>
          <p:cNvSpPr/>
          <p:nvPr/>
        </p:nvSpPr>
        <p:spPr>
          <a:xfrm>
            <a:off x="9464040" y="2871216"/>
            <a:ext cx="2194560" cy="347472"/>
          </a:xfrm>
          <a:prstGeom prst="roundRect">
            <a:avLst>
              <a:gd name="adj" fmla="val 13158"/>
            </a:avLst>
          </a:prstGeom>
          <a:solidFill>
            <a:srgbClr val="FFFFFF"/>
          </a:solidFill>
          <a:ln w="12700">
            <a:solidFill>
              <a:srgbClr val="CBD5E1"/>
            </a:solidFill>
            <a:prstDash val="solid"/>
          </a:ln>
        </p:spPr>
      </p:sp>
      <p:sp>
        <p:nvSpPr>
          <p:cNvPr id="35" name="Text 33"/>
          <p:cNvSpPr txBox="1"/>
          <p:nvPr/>
        </p:nvSpPr>
        <p:spPr>
          <a:xfrm>
            <a:off x="9491472" y="2880360"/>
            <a:ext cx="2103120" cy="310896"/>
          </a:xfrm>
          <a:prstGeom prst="rect">
            <a:avLst/>
          </a:prstGeom>
          <a:noFill/>
          <a:ln/>
        </p:spPr>
        <p:txBody>
          <a:bodyPr wrap="square" lIns="0" tIns="0" rIns="0" bIns="0" rtlCol="0" anchor="ctr"/>
          <a:lstStyle/>
          <a:p>
            <a:pPr algn="ctr" indent="0" marL="0">
              <a:buNone/>
            </a:pPr>
            <a:r>
              <a:rPr lang="en-US" sz="800" b="1" dirty="0">
                <a:solidFill>
                  <a:srgbClr val="1A5FA8"/>
                </a:solidFill>
                <a:latin typeface="Calibri" pitchFamily="34" charset="0"/>
                <a:ea typeface="Calibri" pitchFamily="34" charset="-122"/>
                <a:cs typeface="Calibri" pitchFamily="34" charset="-120"/>
              </a:rPr>
              <a:t>Confidence: Medium</a:t>
            </a:r>
            <a:endParaRPr lang="en-US" sz="800" dirty="0"/>
          </a:p>
        </p:txBody>
      </p:sp>
      <p:sp>
        <p:nvSpPr>
          <p:cNvPr id="36" name="Shape 34"/>
          <p:cNvSpPr/>
          <p:nvPr/>
        </p:nvSpPr>
        <p:spPr>
          <a:xfrm>
            <a:off x="274320" y="3401568"/>
            <a:ext cx="11612880" cy="603504"/>
          </a:xfrm>
          <a:prstGeom prst="roundRect">
            <a:avLst>
              <a:gd name="adj" fmla="val 9091"/>
            </a:avLst>
          </a:prstGeom>
          <a:solidFill>
            <a:srgbClr val="F2F4F5"/>
          </a:solidFill>
          <a:ln w="12700">
            <a:solidFill>
              <a:srgbClr val="CBD5E1"/>
            </a:solidFill>
            <a:prstDash val="solid"/>
          </a:ln>
        </p:spPr>
      </p:sp>
      <p:sp>
        <p:nvSpPr>
          <p:cNvPr id="37" name="Shape 35"/>
          <p:cNvSpPr/>
          <p:nvPr/>
        </p:nvSpPr>
        <p:spPr>
          <a:xfrm>
            <a:off x="274320" y="3401568"/>
            <a:ext cx="1005840" cy="603504"/>
          </a:xfrm>
          <a:prstGeom prst="rect">
            <a:avLst/>
          </a:prstGeom>
          <a:solidFill>
            <a:srgbClr val="1A5FA8"/>
          </a:solidFill>
          <a:ln w="12700">
            <a:solidFill>
              <a:srgbClr val="1A5FA8"/>
            </a:solidFill>
            <a:prstDash val="solid"/>
          </a:ln>
        </p:spPr>
      </p:sp>
      <p:sp>
        <p:nvSpPr>
          <p:cNvPr id="38" name="Text 36"/>
          <p:cNvSpPr txBox="1"/>
          <p:nvPr/>
        </p:nvSpPr>
        <p:spPr>
          <a:xfrm>
            <a:off x="274320" y="3566160"/>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NETWORK</a:t>
            </a:r>
            <a:endParaRPr lang="en-US" sz="700" dirty="0"/>
          </a:p>
        </p:txBody>
      </p:sp>
      <p:sp>
        <p:nvSpPr>
          <p:cNvPr id="39" name="Text 37"/>
          <p:cNvSpPr txBox="1"/>
          <p:nvPr/>
        </p:nvSpPr>
        <p:spPr>
          <a:xfrm>
            <a:off x="1371600" y="3511296"/>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Egress Optimisation (CDN, Caching)</a:t>
            </a:r>
            <a:endParaRPr lang="en-US" sz="1000" dirty="0"/>
          </a:p>
        </p:txBody>
      </p:sp>
      <p:sp>
        <p:nvSpPr>
          <p:cNvPr id="40" name="Text 38"/>
          <p:cNvSpPr txBox="1"/>
          <p:nvPr/>
        </p:nvSpPr>
        <p:spPr>
          <a:xfrm>
            <a:off x="6492240" y="3456432"/>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$2,000</a:t>
            </a:r>
            <a:endParaRPr lang="en-US" sz="900" dirty="0"/>
          </a:p>
        </p:txBody>
      </p:sp>
      <p:sp>
        <p:nvSpPr>
          <p:cNvPr id="41" name="Text 39"/>
          <p:cNvSpPr txBox="1"/>
          <p:nvPr/>
        </p:nvSpPr>
        <p:spPr>
          <a:xfrm>
            <a:off x="6492240" y="3694176"/>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$5,574</a:t>
            </a:r>
            <a:endParaRPr lang="en-US" sz="900" dirty="0"/>
          </a:p>
        </p:txBody>
      </p:sp>
      <p:sp>
        <p:nvSpPr>
          <p:cNvPr id="42" name="Text 40"/>
          <p:cNvSpPr txBox="1"/>
          <p:nvPr/>
        </p:nvSpPr>
        <p:spPr>
          <a:xfrm>
            <a:off x="7955280" y="3456432"/>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$8,000</a:t>
            </a:r>
            <a:endParaRPr lang="en-US" sz="900" dirty="0"/>
          </a:p>
        </p:txBody>
      </p:sp>
      <p:sp>
        <p:nvSpPr>
          <p:cNvPr id="43" name="Shape 41"/>
          <p:cNvSpPr/>
          <p:nvPr/>
        </p:nvSpPr>
        <p:spPr>
          <a:xfrm>
            <a:off x="9464040" y="3529584"/>
            <a:ext cx="2194560" cy="347472"/>
          </a:xfrm>
          <a:prstGeom prst="roundRect">
            <a:avLst>
              <a:gd name="adj" fmla="val 13158"/>
            </a:avLst>
          </a:prstGeom>
          <a:solidFill>
            <a:srgbClr val="FFFFFF"/>
          </a:solidFill>
          <a:ln w="12700">
            <a:solidFill>
              <a:srgbClr val="CBD5E1"/>
            </a:solidFill>
            <a:prstDash val="solid"/>
          </a:ln>
        </p:spPr>
      </p:sp>
      <p:sp>
        <p:nvSpPr>
          <p:cNvPr id="44" name="Text 42"/>
          <p:cNvSpPr txBox="1"/>
          <p:nvPr/>
        </p:nvSpPr>
        <p:spPr>
          <a:xfrm>
            <a:off x="9491472" y="3538728"/>
            <a:ext cx="2103120" cy="310896"/>
          </a:xfrm>
          <a:prstGeom prst="rect">
            <a:avLst/>
          </a:prstGeom>
          <a:noFill/>
          <a:ln/>
        </p:spPr>
        <p:txBody>
          <a:bodyPr wrap="square" lIns="0" tIns="0" rIns="0" bIns="0" rtlCol="0" anchor="ctr"/>
          <a:lstStyle/>
          <a:p>
            <a:pPr algn="ctr" indent="0" marL="0">
              <a:buNone/>
            </a:pPr>
            <a:r>
              <a:rPr lang="en-US" sz="800" b="1" dirty="0">
                <a:solidFill>
                  <a:srgbClr val="1A5FA8"/>
                </a:solidFill>
                <a:latin typeface="Calibri" pitchFamily="34" charset="0"/>
                <a:ea typeface="Calibri" pitchFamily="34" charset="-122"/>
                <a:cs typeface="Calibri" pitchFamily="34" charset="-120"/>
              </a:rPr>
              <a:t>Confidence: Medium</a:t>
            </a:r>
            <a:endParaRPr lang="en-US" sz="800" dirty="0"/>
          </a:p>
        </p:txBody>
      </p:sp>
      <p:sp>
        <p:nvSpPr>
          <p:cNvPr id="45" name="Shape 43"/>
          <p:cNvSpPr/>
          <p:nvPr/>
        </p:nvSpPr>
        <p:spPr>
          <a:xfrm>
            <a:off x="274320" y="4059936"/>
            <a:ext cx="11612880" cy="603504"/>
          </a:xfrm>
          <a:prstGeom prst="roundRect">
            <a:avLst>
              <a:gd name="adj" fmla="val 9091"/>
            </a:avLst>
          </a:prstGeom>
          <a:solidFill>
            <a:srgbClr val="F2F4F5"/>
          </a:solidFill>
          <a:ln w="12700">
            <a:solidFill>
              <a:srgbClr val="CBD5E1"/>
            </a:solidFill>
            <a:prstDash val="solid"/>
          </a:ln>
        </p:spPr>
      </p:sp>
      <p:sp>
        <p:nvSpPr>
          <p:cNvPr id="46" name="Shape 44"/>
          <p:cNvSpPr/>
          <p:nvPr/>
        </p:nvSpPr>
        <p:spPr>
          <a:xfrm>
            <a:off x="274320" y="4059936"/>
            <a:ext cx="1005840" cy="603504"/>
          </a:xfrm>
          <a:prstGeom prst="rect">
            <a:avLst/>
          </a:prstGeom>
          <a:solidFill>
            <a:srgbClr val="0E7C87"/>
          </a:solidFill>
          <a:ln w="12700">
            <a:solidFill>
              <a:srgbClr val="0E7C87"/>
            </a:solidFill>
            <a:prstDash val="solid"/>
          </a:ln>
        </p:spPr>
      </p:sp>
      <p:sp>
        <p:nvSpPr>
          <p:cNvPr id="47" name="Text 45"/>
          <p:cNvSpPr txBox="1"/>
          <p:nvPr/>
        </p:nvSpPr>
        <p:spPr>
          <a:xfrm>
            <a:off x="274320" y="4224528"/>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COMMITMENTS</a:t>
            </a:r>
            <a:endParaRPr lang="en-US" sz="700" dirty="0"/>
          </a:p>
        </p:txBody>
      </p:sp>
      <p:sp>
        <p:nvSpPr>
          <p:cNvPr id="48" name="Text 46"/>
          <p:cNvSpPr txBox="1"/>
          <p:nvPr/>
        </p:nvSpPr>
        <p:spPr>
          <a:xfrm>
            <a:off x="1371600" y="4169664"/>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RI / Savings Plans Strategy (1-yr Partial Upfront)</a:t>
            </a:r>
            <a:endParaRPr lang="en-US" sz="1000" dirty="0"/>
          </a:p>
        </p:txBody>
      </p:sp>
      <p:sp>
        <p:nvSpPr>
          <p:cNvPr id="49" name="Text 47"/>
          <p:cNvSpPr txBox="1"/>
          <p:nvPr/>
        </p:nvSpPr>
        <p:spPr>
          <a:xfrm>
            <a:off x="6492240" y="4114800"/>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$100</a:t>
            </a:r>
            <a:endParaRPr lang="en-US" sz="900" dirty="0"/>
          </a:p>
        </p:txBody>
      </p:sp>
      <p:sp>
        <p:nvSpPr>
          <p:cNvPr id="50" name="Text 48"/>
          <p:cNvSpPr txBox="1"/>
          <p:nvPr/>
        </p:nvSpPr>
        <p:spPr>
          <a:xfrm>
            <a:off x="6492240" y="4352544"/>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$173</a:t>
            </a:r>
            <a:endParaRPr lang="en-US" sz="900" dirty="0"/>
          </a:p>
        </p:txBody>
      </p:sp>
      <p:sp>
        <p:nvSpPr>
          <p:cNvPr id="51" name="Text 49"/>
          <p:cNvSpPr txBox="1"/>
          <p:nvPr/>
        </p:nvSpPr>
        <p:spPr>
          <a:xfrm>
            <a:off x="7955280" y="4114800"/>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$350</a:t>
            </a:r>
            <a:endParaRPr lang="en-US" sz="900" dirty="0"/>
          </a:p>
        </p:txBody>
      </p:sp>
      <p:sp>
        <p:nvSpPr>
          <p:cNvPr id="52" name="Shape 50"/>
          <p:cNvSpPr/>
          <p:nvPr/>
        </p:nvSpPr>
        <p:spPr>
          <a:xfrm>
            <a:off x="9464040" y="4187952"/>
            <a:ext cx="2194560" cy="347472"/>
          </a:xfrm>
          <a:prstGeom prst="roundRect">
            <a:avLst>
              <a:gd name="adj" fmla="val 13158"/>
            </a:avLst>
          </a:prstGeom>
          <a:solidFill>
            <a:srgbClr val="FFFFFF"/>
          </a:solidFill>
          <a:ln w="12700">
            <a:solidFill>
              <a:srgbClr val="CBD5E1"/>
            </a:solidFill>
            <a:prstDash val="solid"/>
          </a:ln>
        </p:spPr>
      </p:sp>
      <p:sp>
        <p:nvSpPr>
          <p:cNvPr id="53" name="Text 51"/>
          <p:cNvSpPr txBox="1"/>
          <p:nvPr/>
        </p:nvSpPr>
        <p:spPr>
          <a:xfrm>
            <a:off x="9491472" y="4197096"/>
            <a:ext cx="2103120" cy="310896"/>
          </a:xfrm>
          <a:prstGeom prst="rect">
            <a:avLst/>
          </a:prstGeom>
          <a:noFill/>
          <a:ln/>
        </p:spPr>
        <p:txBody>
          <a:bodyPr wrap="square" lIns="0" tIns="0" rIns="0" bIns="0" rtlCol="0" anchor="ctr"/>
          <a:lstStyle/>
          <a:p>
            <a:pPr algn="ctr" indent="0" marL="0">
              <a:buNone/>
            </a:pPr>
            <a:r>
              <a:rPr lang="en-US" sz="800" b="1" dirty="0">
                <a:solidFill>
                  <a:srgbClr val="7F8C8D"/>
                </a:solidFill>
                <a:latin typeface="Calibri" pitchFamily="34" charset="0"/>
                <a:ea typeface="Calibri" pitchFamily="34" charset="-122"/>
                <a:cs typeface="Calibri" pitchFamily="34" charset="-120"/>
              </a:rPr>
              <a:t>Confidence: Low†</a:t>
            </a:r>
            <a:endParaRPr lang="en-US" sz="800" dirty="0"/>
          </a:p>
        </p:txBody>
      </p:sp>
      <p:sp>
        <p:nvSpPr>
          <p:cNvPr id="54" name="Shape 52"/>
          <p:cNvSpPr/>
          <p:nvPr/>
        </p:nvSpPr>
        <p:spPr>
          <a:xfrm>
            <a:off x="274320" y="4718304"/>
            <a:ext cx="11612880" cy="603504"/>
          </a:xfrm>
          <a:prstGeom prst="roundRect">
            <a:avLst>
              <a:gd name="adj" fmla="val 9091"/>
            </a:avLst>
          </a:prstGeom>
          <a:solidFill>
            <a:srgbClr val="F2F4F5"/>
          </a:solidFill>
          <a:ln w="12700">
            <a:solidFill>
              <a:srgbClr val="CBD5E1"/>
            </a:solidFill>
            <a:prstDash val="solid"/>
          </a:ln>
        </p:spPr>
      </p:sp>
      <p:sp>
        <p:nvSpPr>
          <p:cNvPr id="55" name="Shape 53"/>
          <p:cNvSpPr/>
          <p:nvPr/>
        </p:nvSpPr>
        <p:spPr>
          <a:xfrm>
            <a:off x="274320" y="4718304"/>
            <a:ext cx="1005840" cy="603504"/>
          </a:xfrm>
          <a:prstGeom prst="rect">
            <a:avLst/>
          </a:prstGeom>
          <a:solidFill>
            <a:srgbClr val="1A8A4A"/>
          </a:solidFill>
          <a:ln w="12700">
            <a:solidFill>
              <a:srgbClr val="1A8A4A"/>
            </a:solidFill>
            <a:prstDash val="solid"/>
          </a:ln>
        </p:spPr>
      </p:sp>
      <p:sp>
        <p:nvSpPr>
          <p:cNvPr id="56" name="Text 54"/>
          <p:cNvSpPr txBox="1"/>
          <p:nvPr/>
        </p:nvSpPr>
        <p:spPr>
          <a:xfrm>
            <a:off x="274320" y="4882896"/>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COMPUTE</a:t>
            </a:r>
            <a:endParaRPr lang="en-US" sz="700" dirty="0"/>
          </a:p>
        </p:txBody>
      </p:sp>
      <p:sp>
        <p:nvSpPr>
          <p:cNvPr id="57" name="Text 55"/>
          <p:cNvSpPr txBox="1"/>
          <p:nvPr/>
        </p:nvSpPr>
        <p:spPr>
          <a:xfrm>
            <a:off x="1371600" y="4828032"/>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Spot Instance Adoption (Interruption-Tolerant Workloads)</a:t>
            </a:r>
            <a:endParaRPr lang="en-US" sz="1000" dirty="0"/>
          </a:p>
        </p:txBody>
      </p:sp>
      <p:sp>
        <p:nvSpPr>
          <p:cNvPr id="58" name="Text 56"/>
          <p:cNvSpPr txBox="1"/>
          <p:nvPr/>
        </p:nvSpPr>
        <p:spPr>
          <a:xfrm>
            <a:off x="6492240" y="4773168"/>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$250</a:t>
            </a:r>
            <a:endParaRPr lang="en-US" sz="900" dirty="0"/>
          </a:p>
        </p:txBody>
      </p:sp>
      <p:sp>
        <p:nvSpPr>
          <p:cNvPr id="59" name="Text 57"/>
          <p:cNvSpPr txBox="1"/>
          <p:nvPr/>
        </p:nvSpPr>
        <p:spPr>
          <a:xfrm>
            <a:off x="6492240" y="5010912"/>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$509</a:t>
            </a:r>
            <a:endParaRPr lang="en-US" sz="900" dirty="0"/>
          </a:p>
        </p:txBody>
      </p:sp>
      <p:sp>
        <p:nvSpPr>
          <p:cNvPr id="60" name="Text 58"/>
          <p:cNvSpPr txBox="1"/>
          <p:nvPr/>
        </p:nvSpPr>
        <p:spPr>
          <a:xfrm>
            <a:off x="7955280" y="4773168"/>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$900</a:t>
            </a:r>
            <a:endParaRPr lang="en-US" sz="900" dirty="0"/>
          </a:p>
        </p:txBody>
      </p:sp>
      <p:sp>
        <p:nvSpPr>
          <p:cNvPr id="61" name="Shape 59"/>
          <p:cNvSpPr/>
          <p:nvPr/>
        </p:nvSpPr>
        <p:spPr>
          <a:xfrm>
            <a:off x="9464040" y="4846320"/>
            <a:ext cx="2194560" cy="347472"/>
          </a:xfrm>
          <a:prstGeom prst="roundRect">
            <a:avLst>
              <a:gd name="adj" fmla="val 13158"/>
            </a:avLst>
          </a:prstGeom>
          <a:solidFill>
            <a:srgbClr val="FFFFFF"/>
          </a:solidFill>
          <a:ln w="12700">
            <a:solidFill>
              <a:srgbClr val="CBD5E1"/>
            </a:solidFill>
            <a:prstDash val="solid"/>
          </a:ln>
        </p:spPr>
      </p:sp>
      <p:sp>
        <p:nvSpPr>
          <p:cNvPr id="62" name="Text 60"/>
          <p:cNvSpPr txBox="1"/>
          <p:nvPr/>
        </p:nvSpPr>
        <p:spPr>
          <a:xfrm>
            <a:off x="9491472" y="4855464"/>
            <a:ext cx="2103120" cy="310896"/>
          </a:xfrm>
          <a:prstGeom prst="rect">
            <a:avLst/>
          </a:prstGeom>
          <a:noFill/>
          <a:ln/>
        </p:spPr>
        <p:txBody>
          <a:bodyPr wrap="square" lIns="0" tIns="0" rIns="0" bIns="0" rtlCol="0" anchor="ctr"/>
          <a:lstStyle/>
          <a:p>
            <a:pPr algn="ctr" indent="0" marL="0">
              <a:buNone/>
            </a:pPr>
            <a:r>
              <a:rPr lang="en-US" sz="800" b="1" dirty="0">
                <a:solidFill>
                  <a:srgbClr val="1A5FA8"/>
                </a:solidFill>
                <a:latin typeface="Calibri" pitchFamily="34" charset="0"/>
                <a:ea typeface="Calibri" pitchFamily="34" charset="-122"/>
                <a:cs typeface="Calibri" pitchFamily="34" charset="-120"/>
              </a:rPr>
              <a:t>Confidence: Medium</a:t>
            </a:r>
            <a:endParaRPr lang="en-US" sz="800" dirty="0"/>
          </a:p>
        </p:txBody>
      </p:sp>
      <p:sp>
        <p:nvSpPr>
          <p:cNvPr id="63" name="Shape 61"/>
          <p:cNvSpPr/>
          <p:nvPr/>
        </p:nvSpPr>
        <p:spPr>
          <a:xfrm>
            <a:off x="274320" y="5376672"/>
            <a:ext cx="11612880" cy="603504"/>
          </a:xfrm>
          <a:prstGeom prst="roundRect">
            <a:avLst>
              <a:gd name="adj" fmla="val 9091"/>
            </a:avLst>
          </a:prstGeom>
          <a:solidFill>
            <a:srgbClr val="F2F4F5"/>
          </a:solidFill>
          <a:ln w="12700">
            <a:solidFill>
              <a:srgbClr val="CBD5E1"/>
            </a:solidFill>
            <a:prstDash val="solid"/>
          </a:ln>
        </p:spPr>
      </p:sp>
      <p:sp>
        <p:nvSpPr>
          <p:cNvPr id="64" name="Shape 62"/>
          <p:cNvSpPr/>
          <p:nvPr/>
        </p:nvSpPr>
        <p:spPr>
          <a:xfrm>
            <a:off x="274320" y="5376672"/>
            <a:ext cx="1005840" cy="603504"/>
          </a:xfrm>
          <a:prstGeom prst="rect">
            <a:avLst/>
          </a:prstGeom>
          <a:solidFill>
            <a:srgbClr val="1A8A4A"/>
          </a:solidFill>
          <a:ln w="12700">
            <a:solidFill>
              <a:srgbClr val="1A8A4A"/>
            </a:solidFill>
            <a:prstDash val="solid"/>
          </a:ln>
        </p:spPr>
      </p:sp>
      <p:sp>
        <p:nvSpPr>
          <p:cNvPr id="65" name="Text 63"/>
          <p:cNvSpPr txBox="1"/>
          <p:nvPr/>
        </p:nvSpPr>
        <p:spPr>
          <a:xfrm>
            <a:off x="274320" y="5541264"/>
            <a:ext cx="1005840" cy="274320"/>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SCALING</a:t>
            </a:r>
            <a:endParaRPr lang="en-US" sz="700" dirty="0"/>
          </a:p>
        </p:txBody>
      </p:sp>
      <p:sp>
        <p:nvSpPr>
          <p:cNvPr id="66" name="Text 64"/>
          <p:cNvSpPr txBox="1"/>
          <p:nvPr/>
        </p:nvSpPr>
        <p:spPr>
          <a:xfrm>
            <a:off x="1371600" y="5486400"/>
            <a:ext cx="4937760" cy="384048"/>
          </a:xfrm>
          <a:prstGeom prst="rect">
            <a:avLst/>
          </a:prstGeom>
          <a:noFill/>
          <a:ln/>
        </p:spPr>
        <p:txBody>
          <a:bodyPr wrap="square" lIns="0" tIns="0" rIns="0" bIns="0" rtlCol="0" anchor="ctr"/>
          <a:lstStyle/>
          <a:p>
            <a:pPr indent="0" marL="0">
              <a:buNone/>
            </a:pPr>
            <a:r>
              <a:rPr lang="en-US" sz="1000" b="1" dirty="0">
                <a:solidFill>
                  <a:srgbClr val="0F2D56"/>
                </a:solidFill>
                <a:latin typeface="Calibri" pitchFamily="34" charset="0"/>
                <a:ea typeface="Calibri" pitchFamily="34" charset="-122"/>
                <a:cs typeface="Calibri" pitchFamily="34" charset="-120"/>
              </a:rPr>
              <a:t>Auto-Scaling Policy Rollout (6 services)</a:t>
            </a:r>
            <a:endParaRPr lang="en-US" sz="1000" dirty="0"/>
          </a:p>
        </p:txBody>
      </p:sp>
      <p:sp>
        <p:nvSpPr>
          <p:cNvPr id="67" name="Text 65"/>
          <p:cNvSpPr txBox="1"/>
          <p:nvPr/>
        </p:nvSpPr>
        <p:spPr>
          <a:xfrm>
            <a:off x="6492240" y="5431536"/>
            <a:ext cx="1371600" cy="256032"/>
          </a:xfrm>
          <a:prstGeom prst="rect">
            <a:avLst/>
          </a:prstGeom>
          <a:noFill/>
          <a:ln/>
        </p:spPr>
        <p:txBody>
          <a:bodyPr wrap="square" lIns="0" tIns="0" rIns="0" bIns="0" rtlCol="0" anchor="ctr"/>
          <a:lstStyle/>
          <a:p>
            <a:pPr indent="0" marL="0">
              <a:buNone/>
            </a:pPr>
            <a:r>
              <a:rPr lang="en-US" sz="900" dirty="0">
                <a:solidFill>
                  <a:srgbClr val="E07B00"/>
                </a:solidFill>
                <a:latin typeface="Calibri" pitchFamily="34" charset="0"/>
                <a:ea typeface="Calibri" pitchFamily="34" charset="-122"/>
                <a:cs typeface="Calibri" pitchFamily="34" charset="-120"/>
              </a:rPr>
              <a:t>Low: $400</a:t>
            </a:r>
            <a:endParaRPr lang="en-US" sz="900" dirty="0"/>
          </a:p>
        </p:txBody>
      </p:sp>
      <p:sp>
        <p:nvSpPr>
          <p:cNvPr id="68" name="Text 66"/>
          <p:cNvSpPr txBox="1"/>
          <p:nvPr/>
        </p:nvSpPr>
        <p:spPr>
          <a:xfrm>
            <a:off x="6492240" y="5669280"/>
            <a:ext cx="1371600" cy="256032"/>
          </a:xfrm>
          <a:prstGeom prst="rect">
            <a:avLst/>
          </a:prstGeom>
          <a:noFill/>
          <a:ln/>
        </p:spPr>
        <p:txBody>
          <a:bodyPr wrap="square" lIns="0" tIns="0" rIns="0" bIns="0" rtlCol="0" anchor="ctr"/>
          <a:lstStyle/>
          <a:p>
            <a:pPr indent="0" marL="0">
              <a:buNone/>
            </a:pPr>
            <a:r>
              <a:rPr lang="en-US" sz="900" b="1" dirty="0">
                <a:solidFill>
                  <a:srgbClr val="1A8A4A"/>
                </a:solidFill>
                <a:latin typeface="Calibri" pitchFamily="34" charset="0"/>
                <a:ea typeface="Calibri" pitchFamily="34" charset="-122"/>
                <a:cs typeface="Calibri" pitchFamily="34" charset="-120"/>
              </a:rPr>
              <a:t>Exp: $836</a:t>
            </a:r>
            <a:endParaRPr lang="en-US" sz="900" dirty="0"/>
          </a:p>
        </p:txBody>
      </p:sp>
      <p:sp>
        <p:nvSpPr>
          <p:cNvPr id="69" name="Text 67"/>
          <p:cNvSpPr txBox="1"/>
          <p:nvPr/>
        </p:nvSpPr>
        <p:spPr>
          <a:xfrm>
            <a:off x="7955280" y="5431536"/>
            <a:ext cx="1371600" cy="256032"/>
          </a:xfrm>
          <a:prstGeom prst="rect">
            <a:avLst/>
          </a:prstGeom>
          <a:noFill/>
          <a:ln/>
        </p:spPr>
        <p:txBody>
          <a:bodyPr wrap="square" lIns="0" tIns="0" rIns="0" bIns="0" rtlCol="0" anchor="ctr"/>
          <a:lstStyle/>
          <a:p>
            <a:pPr indent="0" marL="0">
              <a:buNone/>
            </a:pPr>
            <a:r>
              <a:rPr lang="en-US" sz="900" dirty="0">
                <a:solidFill>
                  <a:srgbClr val="0E7C87"/>
                </a:solidFill>
                <a:latin typeface="Calibri" pitchFamily="34" charset="0"/>
                <a:ea typeface="Calibri" pitchFamily="34" charset="-122"/>
                <a:cs typeface="Calibri" pitchFamily="34" charset="-120"/>
              </a:rPr>
              <a:t>High: $1,200</a:t>
            </a:r>
            <a:endParaRPr lang="en-US" sz="900" dirty="0"/>
          </a:p>
        </p:txBody>
      </p:sp>
      <p:sp>
        <p:nvSpPr>
          <p:cNvPr id="70" name="Shape 68"/>
          <p:cNvSpPr/>
          <p:nvPr/>
        </p:nvSpPr>
        <p:spPr>
          <a:xfrm>
            <a:off x="9464040" y="5504688"/>
            <a:ext cx="2194560" cy="347472"/>
          </a:xfrm>
          <a:prstGeom prst="roundRect">
            <a:avLst>
              <a:gd name="adj" fmla="val 13158"/>
            </a:avLst>
          </a:prstGeom>
          <a:solidFill>
            <a:srgbClr val="FFFFFF"/>
          </a:solidFill>
          <a:ln w="12700">
            <a:solidFill>
              <a:srgbClr val="CBD5E1"/>
            </a:solidFill>
            <a:prstDash val="solid"/>
          </a:ln>
        </p:spPr>
      </p:sp>
      <p:sp>
        <p:nvSpPr>
          <p:cNvPr id="71" name="Text 69"/>
          <p:cNvSpPr txBox="1"/>
          <p:nvPr/>
        </p:nvSpPr>
        <p:spPr>
          <a:xfrm>
            <a:off x="9491472" y="5513832"/>
            <a:ext cx="2103120" cy="310896"/>
          </a:xfrm>
          <a:prstGeom prst="rect">
            <a:avLst/>
          </a:prstGeom>
          <a:noFill/>
          <a:ln/>
        </p:spPr>
        <p:txBody>
          <a:bodyPr wrap="square" lIns="0" tIns="0" rIns="0" bIns="0" rtlCol="0" anchor="ctr"/>
          <a:lstStyle/>
          <a:p>
            <a:pPr algn="ctr" indent="0" marL="0">
              <a:buNone/>
            </a:pPr>
            <a:r>
              <a:rPr lang="en-US" sz="800" b="1" dirty="0">
                <a:solidFill>
                  <a:srgbClr val="1A5FA8"/>
                </a:solidFill>
                <a:latin typeface="Calibri" pitchFamily="34" charset="0"/>
                <a:ea typeface="Calibri" pitchFamily="34" charset="-122"/>
                <a:cs typeface="Calibri" pitchFamily="34" charset="-120"/>
              </a:rPr>
              <a:t>Confidence: Medium</a:t>
            </a:r>
            <a:endParaRPr lang="en-US" sz="800" dirty="0"/>
          </a:p>
        </p:txBody>
      </p:sp>
      <p:sp>
        <p:nvSpPr>
          <p:cNvPr id="72" name="Text 70"/>
          <p:cNvSpPr txBox="1"/>
          <p:nvPr/>
        </p:nvSpPr>
        <p:spPr>
          <a:xfrm>
            <a:off x="274320" y="6126480"/>
            <a:ext cx="11612880" cy="438912"/>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 Database right-sizing requires detailed DB metrics validation before implementation.</a:t>
            </a:r>
            <a:endParaRPr lang="en-US" sz="800" dirty="0"/>
          </a:p>
          <a:p>
            <a:pPr indent="0" marL="0">
              <a:buNone/>
            </a:pPr>
            <a:r>
              <a:rPr lang="en-US" sz="800" dirty="0">
                <a:solidFill>
                  <a:srgbClr val="7F8C8D"/>
                </a:solidFill>
                <a:latin typeface="Calibri" pitchFamily="34" charset="0"/>
                <a:ea typeface="Calibri" pitchFamily="34" charset="-122"/>
                <a:cs typeface="Calibri" pitchFamily="34" charset="-120"/>
              </a:rPr>
              <a:t>† RI/SP savings are risk-adjusted net figures. Pricing assumptions are planning estimates — refresh before procurement.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Weeks 9–12+: Long-Term Strategy</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Structural prevention of cost creep — FinOps maturity and automation</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9 / 18</a:t>
            </a:r>
            <a:endParaRPr lang="en-US" sz="700" dirty="0"/>
          </a:p>
        </p:txBody>
      </p:sp>
      <p:sp>
        <p:nvSpPr>
          <p:cNvPr id="8" name="Shape 6"/>
          <p:cNvSpPr/>
          <p:nvPr/>
        </p:nvSpPr>
        <p:spPr>
          <a:xfrm>
            <a:off x="274320" y="1170432"/>
            <a:ext cx="3749040" cy="5394960"/>
          </a:xfrm>
          <a:prstGeom prst="roundRect">
            <a:avLst>
              <a:gd name="adj" fmla="val 2439"/>
            </a:avLst>
          </a:prstGeom>
          <a:solidFill>
            <a:srgbClr val="F2F4F5"/>
          </a:solidFill>
          <a:ln w="12700">
            <a:solidFill>
              <a:srgbClr val="CBD5E1"/>
            </a:solidFill>
            <a:prstDash val="solid"/>
          </a:ln>
        </p:spPr>
      </p:sp>
      <p:sp>
        <p:nvSpPr>
          <p:cNvPr id="9" name="Shape 7"/>
          <p:cNvSpPr/>
          <p:nvPr/>
        </p:nvSpPr>
        <p:spPr>
          <a:xfrm>
            <a:off x="274320" y="1170432"/>
            <a:ext cx="3749040" cy="502920"/>
          </a:xfrm>
          <a:prstGeom prst="rect">
            <a:avLst/>
          </a:prstGeom>
          <a:solidFill>
            <a:srgbClr val="0F2D56"/>
          </a:solidFill>
          <a:ln w="12700">
            <a:solidFill>
              <a:srgbClr val="0F2D56"/>
            </a:solidFill>
            <a:prstDash val="solid"/>
          </a:ln>
        </p:spPr>
      </p:sp>
      <p:sp>
        <p:nvSpPr>
          <p:cNvPr id="10" name="Text 8"/>
          <p:cNvSpPr txBox="1"/>
          <p:nvPr/>
        </p:nvSpPr>
        <p:spPr>
          <a:xfrm>
            <a:off x="365760" y="1188720"/>
            <a:ext cx="3566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Architecture Optimisation</a:t>
            </a:r>
            <a:endParaRPr lang="en-US" sz="1200" dirty="0"/>
          </a:p>
        </p:txBody>
      </p:sp>
      <p:sp>
        <p:nvSpPr>
          <p:cNvPr id="11" name="Shape 9"/>
          <p:cNvSpPr/>
          <p:nvPr/>
        </p:nvSpPr>
        <p:spPr>
          <a:xfrm>
            <a:off x="438912" y="1801368"/>
            <a:ext cx="91440" cy="91440"/>
          </a:xfrm>
          <a:prstGeom prst="ellipse">
            <a:avLst/>
          </a:prstGeom>
          <a:solidFill>
            <a:srgbClr val="0F2D56"/>
          </a:solidFill>
          <a:ln w="12700">
            <a:solidFill>
              <a:srgbClr val="0F2D56"/>
            </a:solidFill>
            <a:prstDash val="solid"/>
          </a:ln>
        </p:spPr>
      </p:sp>
      <p:sp>
        <p:nvSpPr>
          <p:cNvPr id="12" name="Text 10"/>
          <p:cNvSpPr txBox="1"/>
          <p:nvPr/>
        </p:nvSpPr>
        <p:spPr>
          <a:xfrm>
            <a:off x="594360" y="173736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Unit economics by service and transaction</a:t>
            </a:r>
            <a:endParaRPr lang="en-US" sz="950" dirty="0"/>
          </a:p>
        </p:txBody>
      </p:sp>
      <p:sp>
        <p:nvSpPr>
          <p:cNvPr id="13" name="Shape 11"/>
          <p:cNvSpPr/>
          <p:nvPr/>
        </p:nvSpPr>
        <p:spPr>
          <a:xfrm>
            <a:off x="438912" y="2395728"/>
            <a:ext cx="91440" cy="91440"/>
          </a:xfrm>
          <a:prstGeom prst="ellipse">
            <a:avLst/>
          </a:prstGeom>
          <a:solidFill>
            <a:srgbClr val="0F2D56"/>
          </a:solidFill>
          <a:ln w="12700">
            <a:solidFill>
              <a:srgbClr val="0F2D56"/>
            </a:solidFill>
            <a:prstDash val="solid"/>
          </a:ln>
        </p:spPr>
      </p:sp>
      <p:sp>
        <p:nvSpPr>
          <p:cNvPr id="14" name="Text 12"/>
          <p:cNvSpPr txBox="1"/>
          <p:nvPr/>
        </p:nvSpPr>
        <p:spPr>
          <a:xfrm>
            <a:off x="594360" y="233172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Predictive scaling (month-end, salary days, campaigns)</a:t>
            </a:r>
            <a:endParaRPr lang="en-US" sz="950" dirty="0"/>
          </a:p>
        </p:txBody>
      </p:sp>
      <p:sp>
        <p:nvSpPr>
          <p:cNvPr id="15" name="Shape 13"/>
          <p:cNvSpPr/>
          <p:nvPr/>
        </p:nvSpPr>
        <p:spPr>
          <a:xfrm>
            <a:off x="438912" y="2990088"/>
            <a:ext cx="91440" cy="91440"/>
          </a:xfrm>
          <a:prstGeom prst="ellipse">
            <a:avLst/>
          </a:prstGeom>
          <a:solidFill>
            <a:srgbClr val="0F2D56"/>
          </a:solidFill>
          <a:ln w="12700">
            <a:solidFill>
              <a:srgbClr val="0F2D56"/>
            </a:solidFill>
            <a:prstDash val="solid"/>
          </a:ln>
        </p:spPr>
      </p:sp>
      <p:sp>
        <p:nvSpPr>
          <p:cNvPr id="16" name="Text 14"/>
          <p:cNvSpPr txBox="1"/>
          <p:nvPr/>
        </p:nvSpPr>
        <p:spPr>
          <a:xfrm>
            <a:off x="594360" y="292608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SageMaker lifecycle policies &amp; auto-shutdown</a:t>
            </a:r>
            <a:endParaRPr lang="en-US" sz="950" dirty="0"/>
          </a:p>
        </p:txBody>
      </p:sp>
      <p:sp>
        <p:nvSpPr>
          <p:cNvPr id="17" name="Shape 15"/>
          <p:cNvSpPr/>
          <p:nvPr/>
        </p:nvSpPr>
        <p:spPr>
          <a:xfrm>
            <a:off x="438912" y="3584448"/>
            <a:ext cx="91440" cy="91440"/>
          </a:xfrm>
          <a:prstGeom prst="ellipse">
            <a:avLst/>
          </a:prstGeom>
          <a:solidFill>
            <a:srgbClr val="0F2D56"/>
          </a:solidFill>
          <a:ln w="12700">
            <a:solidFill>
              <a:srgbClr val="0F2D56"/>
            </a:solidFill>
            <a:prstDash val="solid"/>
          </a:ln>
        </p:spPr>
      </p:sp>
      <p:sp>
        <p:nvSpPr>
          <p:cNvPr id="18" name="Text 16"/>
          <p:cNvSpPr txBox="1"/>
          <p:nvPr/>
        </p:nvSpPr>
        <p:spPr>
          <a:xfrm>
            <a:off x="594360" y="352044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EKS Karpenter / node right-sizing</a:t>
            </a:r>
            <a:endParaRPr lang="en-US" sz="950" dirty="0"/>
          </a:p>
        </p:txBody>
      </p:sp>
      <p:sp>
        <p:nvSpPr>
          <p:cNvPr id="19" name="Shape 17"/>
          <p:cNvSpPr/>
          <p:nvPr/>
        </p:nvSpPr>
        <p:spPr>
          <a:xfrm>
            <a:off x="438912" y="4178808"/>
            <a:ext cx="91440" cy="91440"/>
          </a:xfrm>
          <a:prstGeom prst="ellipse">
            <a:avLst/>
          </a:prstGeom>
          <a:solidFill>
            <a:srgbClr val="0F2D56"/>
          </a:solidFill>
          <a:ln w="12700">
            <a:solidFill>
              <a:srgbClr val="0F2D56"/>
            </a:solidFill>
            <a:prstDash val="solid"/>
          </a:ln>
        </p:spPr>
      </p:sp>
      <p:sp>
        <p:nvSpPr>
          <p:cNvPr id="20" name="Text 18"/>
          <p:cNvSpPr txBox="1"/>
          <p:nvPr/>
        </p:nvSpPr>
        <p:spPr>
          <a:xfrm>
            <a:off x="594360" y="411480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Quarterly architecture cost reviews</a:t>
            </a:r>
            <a:endParaRPr lang="en-US" sz="950" dirty="0"/>
          </a:p>
        </p:txBody>
      </p:sp>
      <p:sp>
        <p:nvSpPr>
          <p:cNvPr id="21" name="Shape 19"/>
          <p:cNvSpPr/>
          <p:nvPr/>
        </p:nvSpPr>
        <p:spPr>
          <a:xfrm>
            <a:off x="4251960" y="1170432"/>
            <a:ext cx="3749040" cy="5394960"/>
          </a:xfrm>
          <a:prstGeom prst="roundRect">
            <a:avLst>
              <a:gd name="adj" fmla="val 2439"/>
            </a:avLst>
          </a:prstGeom>
          <a:solidFill>
            <a:srgbClr val="F2F4F5"/>
          </a:solidFill>
          <a:ln w="12700">
            <a:solidFill>
              <a:srgbClr val="CBD5E1"/>
            </a:solidFill>
            <a:prstDash val="solid"/>
          </a:ln>
        </p:spPr>
      </p:sp>
      <p:sp>
        <p:nvSpPr>
          <p:cNvPr id="22" name="Shape 20"/>
          <p:cNvSpPr/>
          <p:nvPr/>
        </p:nvSpPr>
        <p:spPr>
          <a:xfrm>
            <a:off x="4251960" y="1170432"/>
            <a:ext cx="3749040" cy="502920"/>
          </a:xfrm>
          <a:prstGeom prst="rect">
            <a:avLst/>
          </a:prstGeom>
          <a:solidFill>
            <a:srgbClr val="1A5FA8"/>
          </a:solidFill>
          <a:ln w="12700">
            <a:solidFill>
              <a:srgbClr val="1A5FA8"/>
            </a:solidFill>
            <a:prstDash val="solid"/>
          </a:ln>
        </p:spPr>
      </p:sp>
      <p:sp>
        <p:nvSpPr>
          <p:cNvPr id="23" name="Text 21"/>
          <p:cNvSpPr txBox="1"/>
          <p:nvPr/>
        </p:nvSpPr>
        <p:spPr>
          <a:xfrm>
            <a:off x="4343400" y="1188720"/>
            <a:ext cx="3566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Policy-as-Code &amp; Automation</a:t>
            </a:r>
            <a:endParaRPr lang="en-US" sz="1200" dirty="0"/>
          </a:p>
        </p:txBody>
      </p:sp>
      <p:sp>
        <p:nvSpPr>
          <p:cNvPr id="24" name="Shape 22"/>
          <p:cNvSpPr/>
          <p:nvPr/>
        </p:nvSpPr>
        <p:spPr>
          <a:xfrm>
            <a:off x="4416552" y="1801368"/>
            <a:ext cx="91440" cy="91440"/>
          </a:xfrm>
          <a:prstGeom prst="ellipse">
            <a:avLst/>
          </a:prstGeom>
          <a:solidFill>
            <a:srgbClr val="1A5FA8"/>
          </a:solidFill>
          <a:ln w="12700">
            <a:solidFill>
              <a:srgbClr val="1A5FA8"/>
            </a:solidFill>
            <a:prstDash val="solid"/>
          </a:ln>
        </p:spPr>
      </p:sp>
      <p:sp>
        <p:nvSpPr>
          <p:cNvPr id="25" name="Text 23"/>
          <p:cNvSpPr txBox="1"/>
          <p:nvPr/>
        </p:nvSpPr>
        <p:spPr>
          <a:xfrm>
            <a:off x="4572000" y="173736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Mandatory tagging SCP enforcement</a:t>
            </a:r>
            <a:endParaRPr lang="en-US" sz="950" dirty="0"/>
          </a:p>
        </p:txBody>
      </p:sp>
      <p:sp>
        <p:nvSpPr>
          <p:cNvPr id="26" name="Shape 24"/>
          <p:cNvSpPr/>
          <p:nvPr/>
        </p:nvSpPr>
        <p:spPr>
          <a:xfrm>
            <a:off x="4416552" y="2395728"/>
            <a:ext cx="91440" cy="91440"/>
          </a:xfrm>
          <a:prstGeom prst="ellipse">
            <a:avLst/>
          </a:prstGeom>
          <a:solidFill>
            <a:srgbClr val="1A5FA8"/>
          </a:solidFill>
          <a:ln w="12700">
            <a:solidFill>
              <a:srgbClr val="1A5FA8"/>
            </a:solidFill>
            <a:prstDash val="solid"/>
          </a:ln>
        </p:spPr>
      </p:sp>
      <p:sp>
        <p:nvSpPr>
          <p:cNvPr id="27" name="Text 25"/>
          <p:cNvSpPr txBox="1"/>
          <p:nvPr/>
        </p:nvSpPr>
        <p:spPr>
          <a:xfrm>
            <a:off x="4572000" y="233172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GPU launch restrictions</a:t>
            </a:r>
            <a:endParaRPr lang="en-US" sz="950" dirty="0"/>
          </a:p>
        </p:txBody>
      </p:sp>
      <p:sp>
        <p:nvSpPr>
          <p:cNvPr id="28" name="Shape 26"/>
          <p:cNvSpPr/>
          <p:nvPr/>
        </p:nvSpPr>
        <p:spPr>
          <a:xfrm>
            <a:off x="4416552" y="2990088"/>
            <a:ext cx="91440" cy="91440"/>
          </a:xfrm>
          <a:prstGeom prst="ellipse">
            <a:avLst/>
          </a:prstGeom>
          <a:solidFill>
            <a:srgbClr val="1A5FA8"/>
          </a:solidFill>
          <a:ln w="12700">
            <a:solidFill>
              <a:srgbClr val="1A5FA8"/>
            </a:solidFill>
            <a:prstDash val="solid"/>
          </a:ln>
        </p:spPr>
      </p:sp>
      <p:sp>
        <p:nvSpPr>
          <p:cNvPr id="29" name="Text 27"/>
          <p:cNvSpPr txBox="1"/>
          <p:nvPr/>
        </p:nvSpPr>
        <p:spPr>
          <a:xfrm>
            <a:off x="4572000" y="292608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Approved-region SCP</a:t>
            </a:r>
            <a:endParaRPr lang="en-US" sz="950" dirty="0"/>
          </a:p>
        </p:txBody>
      </p:sp>
      <p:sp>
        <p:nvSpPr>
          <p:cNvPr id="30" name="Shape 28"/>
          <p:cNvSpPr/>
          <p:nvPr/>
        </p:nvSpPr>
        <p:spPr>
          <a:xfrm>
            <a:off x="4416552" y="3584448"/>
            <a:ext cx="91440" cy="91440"/>
          </a:xfrm>
          <a:prstGeom prst="ellipse">
            <a:avLst/>
          </a:prstGeom>
          <a:solidFill>
            <a:srgbClr val="1A5FA8"/>
          </a:solidFill>
          <a:ln w="12700">
            <a:solidFill>
              <a:srgbClr val="1A5FA8"/>
            </a:solidFill>
            <a:prstDash val="solid"/>
          </a:ln>
        </p:spPr>
      </p:sp>
      <p:sp>
        <p:nvSpPr>
          <p:cNvPr id="31" name="Text 29"/>
          <p:cNvSpPr txBox="1"/>
          <p:nvPr/>
        </p:nvSpPr>
        <p:spPr>
          <a:xfrm>
            <a:off x="4572000" y="352044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EC2 launch guardrails</a:t>
            </a:r>
            <a:endParaRPr lang="en-US" sz="950" dirty="0"/>
          </a:p>
        </p:txBody>
      </p:sp>
      <p:sp>
        <p:nvSpPr>
          <p:cNvPr id="32" name="Shape 30"/>
          <p:cNvSpPr/>
          <p:nvPr/>
        </p:nvSpPr>
        <p:spPr>
          <a:xfrm>
            <a:off x="4416552" y="4178808"/>
            <a:ext cx="91440" cy="91440"/>
          </a:xfrm>
          <a:prstGeom prst="ellipse">
            <a:avLst/>
          </a:prstGeom>
          <a:solidFill>
            <a:srgbClr val="1A5FA8"/>
          </a:solidFill>
          <a:ln w="12700">
            <a:solidFill>
              <a:srgbClr val="1A5FA8"/>
            </a:solidFill>
            <a:prstDash val="solid"/>
          </a:ln>
        </p:spPr>
      </p:sp>
      <p:sp>
        <p:nvSpPr>
          <p:cNvPr id="33" name="Text 31"/>
          <p:cNvSpPr txBox="1"/>
          <p:nvPr/>
        </p:nvSpPr>
        <p:spPr>
          <a:xfrm>
            <a:off x="4572000" y="411480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AWS Config rules + automated remediation</a:t>
            </a:r>
            <a:endParaRPr lang="en-US" sz="950" dirty="0"/>
          </a:p>
        </p:txBody>
      </p:sp>
      <p:sp>
        <p:nvSpPr>
          <p:cNvPr id="34" name="Shape 32"/>
          <p:cNvSpPr/>
          <p:nvPr/>
        </p:nvSpPr>
        <p:spPr>
          <a:xfrm>
            <a:off x="4416552" y="4773168"/>
            <a:ext cx="91440" cy="91440"/>
          </a:xfrm>
          <a:prstGeom prst="ellipse">
            <a:avLst/>
          </a:prstGeom>
          <a:solidFill>
            <a:srgbClr val="1A5FA8"/>
          </a:solidFill>
          <a:ln w="12700">
            <a:solidFill>
              <a:srgbClr val="1A5FA8"/>
            </a:solidFill>
            <a:prstDash val="solid"/>
          </a:ln>
        </p:spPr>
      </p:sp>
      <p:sp>
        <p:nvSpPr>
          <p:cNvPr id="35" name="Text 33"/>
          <p:cNvSpPr txBox="1"/>
          <p:nvPr/>
        </p:nvSpPr>
        <p:spPr>
          <a:xfrm>
            <a:off x="4572000" y="470916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Infracost in CI/CD pipeline</a:t>
            </a:r>
            <a:endParaRPr lang="en-US" sz="950" dirty="0"/>
          </a:p>
        </p:txBody>
      </p:sp>
      <p:sp>
        <p:nvSpPr>
          <p:cNvPr id="36" name="Shape 34"/>
          <p:cNvSpPr/>
          <p:nvPr/>
        </p:nvSpPr>
        <p:spPr>
          <a:xfrm>
            <a:off x="4416552" y="5367528"/>
            <a:ext cx="91440" cy="91440"/>
          </a:xfrm>
          <a:prstGeom prst="ellipse">
            <a:avLst/>
          </a:prstGeom>
          <a:solidFill>
            <a:srgbClr val="1A5FA8"/>
          </a:solidFill>
          <a:ln w="12700">
            <a:solidFill>
              <a:srgbClr val="1A5FA8"/>
            </a:solidFill>
            <a:prstDash val="solid"/>
          </a:ln>
        </p:spPr>
      </p:sp>
      <p:sp>
        <p:nvSpPr>
          <p:cNvPr id="37" name="Text 35"/>
          <p:cNvSpPr txBox="1"/>
          <p:nvPr/>
        </p:nvSpPr>
        <p:spPr>
          <a:xfrm>
            <a:off x="4572000" y="530352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Cost threshold gate — blocks over-budget PRs</a:t>
            </a:r>
            <a:endParaRPr lang="en-US" sz="950" dirty="0"/>
          </a:p>
        </p:txBody>
      </p:sp>
      <p:sp>
        <p:nvSpPr>
          <p:cNvPr id="38" name="Shape 36"/>
          <p:cNvSpPr/>
          <p:nvPr/>
        </p:nvSpPr>
        <p:spPr>
          <a:xfrm>
            <a:off x="8229600" y="1170432"/>
            <a:ext cx="3749040" cy="5394960"/>
          </a:xfrm>
          <a:prstGeom prst="roundRect">
            <a:avLst>
              <a:gd name="adj" fmla="val 2439"/>
            </a:avLst>
          </a:prstGeom>
          <a:solidFill>
            <a:srgbClr val="F2F4F5"/>
          </a:solidFill>
          <a:ln w="12700">
            <a:solidFill>
              <a:srgbClr val="CBD5E1"/>
            </a:solidFill>
            <a:prstDash val="solid"/>
          </a:ln>
        </p:spPr>
      </p:sp>
      <p:sp>
        <p:nvSpPr>
          <p:cNvPr id="39" name="Shape 37"/>
          <p:cNvSpPr/>
          <p:nvPr/>
        </p:nvSpPr>
        <p:spPr>
          <a:xfrm>
            <a:off x="8229600" y="1170432"/>
            <a:ext cx="3749040" cy="502920"/>
          </a:xfrm>
          <a:prstGeom prst="rect">
            <a:avLst/>
          </a:prstGeom>
          <a:solidFill>
            <a:srgbClr val="0E7C87"/>
          </a:solidFill>
          <a:ln w="12700">
            <a:solidFill>
              <a:srgbClr val="0E7C87"/>
            </a:solidFill>
            <a:prstDash val="solid"/>
          </a:ln>
        </p:spPr>
      </p:sp>
      <p:sp>
        <p:nvSpPr>
          <p:cNvPr id="40" name="Text 38"/>
          <p:cNvSpPr txBox="1"/>
          <p:nvPr/>
        </p:nvSpPr>
        <p:spPr>
          <a:xfrm>
            <a:off x="8321040" y="1188720"/>
            <a:ext cx="3566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FinOps Operating Model</a:t>
            </a:r>
            <a:endParaRPr lang="en-US" sz="1200" dirty="0"/>
          </a:p>
        </p:txBody>
      </p:sp>
      <p:sp>
        <p:nvSpPr>
          <p:cNvPr id="41" name="Shape 39"/>
          <p:cNvSpPr/>
          <p:nvPr/>
        </p:nvSpPr>
        <p:spPr>
          <a:xfrm>
            <a:off x="8394192" y="1801368"/>
            <a:ext cx="91440" cy="91440"/>
          </a:xfrm>
          <a:prstGeom prst="ellipse">
            <a:avLst/>
          </a:prstGeom>
          <a:solidFill>
            <a:srgbClr val="0E7C87"/>
          </a:solidFill>
          <a:ln w="12700">
            <a:solidFill>
              <a:srgbClr val="0E7C87"/>
            </a:solidFill>
            <a:prstDash val="solid"/>
          </a:ln>
        </p:spPr>
      </p:sp>
      <p:sp>
        <p:nvSpPr>
          <p:cNvPr id="42" name="Text 40"/>
          <p:cNvSpPr txBox="1"/>
          <p:nvPr/>
        </p:nvSpPr>
        <p:spPr>
          <a:xfrm>
            <a:off x="8549640" y="173736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Monthly FinOps reporting cadence</a:t>
            </a:r>
            <a:endParaRPr lang="en-US" sz="950" dirty="0"/>
          </a:p>
        </p:txBody>
      </p:sp>
      <p:sp>
        <p:nvSpPr>
          <p:cNvPr id="43" name="Shape 41"/>
          <p:cNvSpPr/>
          <p:nvPr/>
        </p:nvSpPr>
        <p:spPr>
          <a:xfrm>
            <a:off x="8394192" y="2395728"/>
            <a:ext cx="91440" cy="91440"/>
          </a:xfrm>
          <a:prstGeom prst="ellipse">
            <a:avLst/>
          </a:prstGeom>
          <a:solidFill>
            <a:srgbClr val="0E7C87"/>
          </a:solidFill>
          <a:ln w="12700">
            <a:solidFill>
              <a:srgbClr val="0E7C87"/>
            </a:solidFill>
            <a:prstDash val="solid"/>
          </a:ln>
        </p:spPr>
      </p:sp>
      <p:sp>
        <p:nvSpPr>
          <p:cNvPr id="44" name="Text 42"/>
          <p:cNvSpPr txBox="1"/>
          <p:nvPr/>
        </p:nvSpPr>
        <p:spPr>
          <a:xfrm>
            <a:off x="8549640" y="233172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Quarterly strategic review cycle</a:t>
            </a:r>
            <a:endParaRPr lang="en-US" sz="950" dirty="0"/>
          </a:p>
        </p:txBody>
      </p:sp>
      <p:sp>
        <p:nvSpPr>
          <p:cNvPr id="45" name="Shape 43"/>
          <p:cNvSpPr/>
          <p:nvPr/>
        </p:nvSpPr>
        <p:spPr>
          <a:xfrm>
            <a:off x="8394192" y="2990088"/>
            <a:ext cx="91440" cy="91440"/>
          </a:xfrm>
          <a:prstGeom prst="ellipse">
            <a:avLst/>
          </a:prstGeom>
          <a:solidFill>
            <a:srgbClr val="0E7C87"/>
          </a:solidFill>
          <a:ln w="12700">
            <a:solidFill>
              <a:srgbClr val="0E7C87"/>
            </a:solidFill>
            <a:prstDash val="solid"/>
          </a:ln>
        </p:spPr>
      </p:sp>
      <p:sp>
        <p:nvSpPr>
          <p:cNvPr id="46" name="Text 44"/>
          <p:cNvSpPr txBox="1"/>
          <p:nvPr/>
        </p:nvSpPr>
        <p:spPr>
          <a:xfrm>
            <a:off x="8549640" y="292608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KPI/OKR tracking (cost/transaction, MTTD, RI utilisation)</a:t>
            </a:r>
            <a:endParaRPr lang="en-US" sz="950" dirty="0"/>
          </a:p>
        </p:txBody>
      </p:sp>
      <p:sp>
        <p:nvSpPr>
          <p:cNvPr id="47" name="Shape 45"/>
          <p:cNvSpPr/>
          <p:nvPr/>
        </p:nvSpPr>
        <p:spPr>
          <a:xfrm>
            <a:off x="8394192" y="3584448"/>
            <a:ext cx="91440" cy="91440"/>
          </a:xfrm>
          <a:prstGeom prst="ellipse">
            <a:avLst/>
          </a:prstGeom>
          <a:solidFill>
            <a:srgbClr val="0E7C87"/>
          </a:solidFill>
          <a:ln w="12700">
            <a:solidFill>
              <a:srgbClr val="0E7C87"/>
            </a:solidFill>
            <a:prstDash val="solid"/>
          </a:ln>
        </p:spPr>
      </p:sp>
      <p:sp>
        <p:nvSpPr>
          <p:cNvPr id="48" name="Text 46"/>
          <p:cNvSpPr txBox="1"/>
          <p:nvPr/>
        </p:nvSpPr>
        <p:spPr>
          <a:xfrm>
            <a:off x="8549640" y="352044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Crawl→Walk→Run maturity progression</a:t>
            </a:r>
            <a:endParaRPr lang="en-US" sz="950" dirty="0"/>
          </a:p>
        </p:txBody>
      </p:sp>
      <p:sp>
        <p:nvSpPr>
          <p:cNvPr id="49" name="Shape 47"/>
          <p:cNvSpPr/>
          <p:nvPr/>
        </p:nvSpPr>
        <p:spPr>
          <a:xfrm>
            <a:off x="8394192" y="4178808"/>
            <a:ext cx="91440" cy="91440"/>
          </a:xfrm>
          <a:prstGeom prst="ellipse">
            <a:avLst/>
          </a:prstGeom>
          <a:solidFill>
            <a:srgbClr val="0E7C87"/>
          </a:solidFill>
          <a:ln w="12700">
            <a:solidFill>
              <a:srgbClr val="0E7C87"/>
            </a:solidFill>
            <a:prstDash val="solid"/>
          </a:ln>
        </p:spPr>
      </p:sp>
      <p:sp>
        <p:nvSpPr>
          <p:cNvPr id="50" name="Text 48"/>
          <p:cNvSpPr txBox="1"/>
          <p:nvPr/>
        </p:nvSpPr>
        <p:spPr>
          <a:xfrm>
            <a:off x="8549640" y="411480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Continuous anomaly detection &amp; alerting</a:t>
            </a:r>
            <a:endParaRPr lang="en-US" sz="950" dirty="0"/>
          </a:p>
        </p:txBody>
      </p:sp>
      <p:sp>
        <p:nvSpPr>
          <p:cNvPr id="51" name="Shape 49"/>
          <p:cNvSpPr/>
          <p:nvPr/>
        </p:nvSpPr>
        <p:spPr>
          <a:xfrm>
            <a:off x="8394192" y="4773168"/>
            <a:ext cx="91440" cy="91440"/>
          </a:xfrm>
          <a:prstGeom prst="ellipse">
            <a:avLst/>
          </a:prstGeom>
          <a:solidFill>
            <a:srgbClr val="0E7C87"/>
          </a:solidFill>
          <a:ln w="12700">
            <a:solidFill>
              <a:srgbClr val="0E7C87"/>
            </a:solidFill>
            <a:prstDash val="solid"/>
          </a:ln>
        </p:spPr>
      </p:sp>
      <p:sp>
        <p:nvSpPr>
          <p:cNvPr id="52" name="Text 50"/>
          <p:cNvSpPr txBox="1"/>
          <p:nvPr/>
        </p:nvSpPr>
        <p:spPr>
          <a:xfrm>
            <a:off x="8549640" y="470916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&gt;85% RI utilisation target</a:t>
            </a:r>
            <a:endParaRPr lang="en-US" sz="950" dirty="0"/>
          </a:p>
        </p:txBody>
      </p:sp>
      <p:sp>
        <p:nvSpPr>
          <p:cNvPr id="53" name="Shape 51"/>
          <p:cNvSpPr/>
          <p:nvPr/>
        </p:nvSpPr>
        <p:spPr>
          <a:xfrm>
            <a:off x="8394192" y="5367528"/>
            <a:ext cx="91440" cy="91440"/>
          </a:xfrm>
          <a:prstGeom prst="ellipse">
            <a:avLst/>
          </a:prstGeom>
          <a:solidFill>
            <a:srgbClr val="0E7C87"/>
          </a:solidFill>
          <a:ln w="12700">
            <a:solidFill>
              <a:srgbClr val="0E7C87"/>
            </a:solidFill>
            <a:prstDash val="solid"/>
          </a:ln>
        </p:spPr>
      </p:sp>
      <p:sp>
        <p:nvSpPr>
          <p:cNvPr id="54" name="Text 52"/>
          <p:cNvSpPr txBox="1"/>
          <p:nvPr/>
        </p:nvSpPr>
        <p:spPr>
          <a:xfrm>
            <a:off x="8549640" y="5303520"/>
            <a:ext cx="3337560" cy="502920"/>
          </a:xfrm>
          <a:prstGeom prst="rect">
            <a:avLst/>
          </a:prstGeom>
          <a:noFill/>
          <a:ln/>
        </p:spPr>
        <p:txBody>
          <a:bodyPr wrap="square" lIns="0" tIns="0" rIns="0" bIns="0" rtlCol="0" anchor="ctr"/>
          <a:lstStyle/>
          <a:p>
            <a:pPr indent="0" marL="0">
              <a:buNone/>
            </a:pPr>
            <a:r>
              <a:rPr lang="en-US" sz="950" dirty="0">
                <a:solidFill>
                  <a:srgbClr val="3A4A5C"/>
                </a:solidFill>
                <a:latin typeface="Calibri" pitchFamily="34" charset="0"/>
                <a:ea typeface="Calibri" pitchFamily="34" charset="-122"/>
                <a:cs typeface="Calibri" pitchFamily="34" charset="-120"/>
              </a:rPr>
              <a:t>&gt;95% tag compliance target</a:t>
            </a:r>
            <a:endParaRPr lang="en-US" sz="950" dirty="0"/>
          </a:p>
        </p:txBody>
      </p:sp>
      <p:sp>
        <p:nvSpPr>
          <p:cNvPr id="55" name="Shape 53"/>
          <p:cNvSpPr/>
          <p:nvPr/>
        </p:nvSpPr>
        <p:spPr>
          <a:xfrm>
            <a:off x="274320" y="6263640"/>
            <a:ext cx="11612880" cy="384048"/>
          </a:xfrm>
          <a:prstGeom prst="roundRect">
            <a:avLst>
              <a:gd name="adj" fmla="val 16667"/>
            </a:avLst>
          </a:prstGeom>
          <a:solidFill>
            <a:srgbClr val="0F2D56"/>
          </a:solidFill>
          <a:ln w="12700">
            <a:solidFill>
              <a:srgbClr val="0F2D56"/>
            </a:solidFill>
            <a:prstDash val="solid"/>
          </a:ln>
        </p:spPr>
      </p:sp>
      <p:sp>
        <p:nvSpPr>
          <p:cNvPr id="56" name="Text 54"/>
          <p:cNvSpPr txBox="1"/>
          <p:nvPr/>
        </p:nvSpPr>
        <p:spPr>
          <a:xfrm>
            <a:off x="365760" y="6281928"/>
            <a:ext cx="114300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Goal: Move FinOps from periodic review to continuous, automated enforcement — preventing future cost creep before it appears on the bill.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 Scorecard</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CFO-level view: all major recommendations with confidence and risk ratings</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10 / 18</a:t>
            </a:r>
            <a:endParaRPr lang="en-US" sz="700" dirty="0"/>
          </a:p>
        </p:txBody>
      </p:sp>
      <p:sp>
        <p:nvSpPr>
          <p:cNvPr id="8" name="Shape 6"/>
          <p:cNvSpPr/>
          <p:nvPr/>
        </p:nvSpPr>
        <p:spPr>
          <a:xfrm>
            <a:off x="256032" y="1170432"/>
            <a:ext cx="2331720" cy="347472"/>
          </a:xfrm>
          <a:prstGeom prst="rect">
            <a:avLst/>
          </a:prstGeom>
          <a:solidFill>
            <a:srgbClr val="0F2D56"/>
          </a:solidFill>
          <a:ln w="12700">
            <a:solidFill>
              <a:srgbClr val="0F2D56"/>
            </a:solidFill>
            <a:prstDash val="solid"/>
          </a:ln>
        </p:spPr>
      </p:sp>
      <p:sp>
        <p:nvSpPr>
          <p:cNvPr id="9" name="Text 7"/>
          <p:cNvSpPr txBox="1"/>
          <p:nvPr/>
        </p:nvSpPr>
        <p:spPr>
          <a:xfrm>
            <a:off x="292608" y="1170432"/>
            <a:ext cx="225856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Recommendation</a:t>
            </a:r>
            <a:endParaRPr lang="en-US" sz="750" dirty="0"/>
          </a:p>
        </p:txBody>
      </p:sp>
      <p:sp>
        <p:nvSpPr>
          <p:cNvPr id="10" name="Shape 8"/>
          <p:cNvSpPr/>
          <p:nvPr/>
        </p:nvSpPr>
        <p:spPr>
          <a:xfrm>
            <a:off x="2587752" y="1170432"/>
            <a:ext cx="1051560" cy="347472"/>
          </a:xfrm>
          <a:prstGeom prst="rect">
            <a:avLst/>
          </a:prstGeom>
          <a:solidFill>
            <a:srgbClr val="0F2D56"/>
          </a:solidFill>
          <a:ln w="12700">
            <a:solidFill>
              <a:srgbClr val="0F2D56"/>
            </a:solidFill>
            <a:prstDash val="solid"/>
          </a:ln>
        </p:spPr>
      </p:sp>
      <p:sp>
        <p:nvSpPr>
          <p:cNvPr id="11" name="Text 9"/>
          <p:cNvSpPr txBox="1"/>
          <p:nvPr/>
        </p:nvSpPr>
        <p:spPr>
          <a:xfrm>
            <a:off x="2624328" y="1170432"/>
            <a:ext cx="97840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 Monthly</a:t>
            </a:r>
            <a:endParaRPr lang="en-US" sz="750" dirty="0"/>
          </a:p>
        </p:txBody>
      </p:sp>
      <p:sp>
        <p:nvSpPr>
          <p:cNvPr id="12" name="Shape 10"/>
          <p:cNvSpPr/>
          <p:nvPr/>
        </p:nvSpPr>
        <p:spPr>
          <a:xfrm>
            <a:off x="3639312" y="1170432"/>
            <a:ext cx="1005840" cy="347472"/>
          </a:xfrm>
          <a:prstGeom prst="rect">
            <a:avLst/>
          </a:prstGeom>
          <a:solidFill>
            <a:srgbClr val="0F2D56"/>
          </a:solidFill>
          <a:ln w="12700">
            <a:solidFill>
              <a:srgbClr val="0F2D56"/>
            </a:solidFill>
            <a:prstDash val="solid"/>
          </a:ln>
        </p:spPr>
      </p:sp>
      <p:sp>
        <p:nvSpPr>
          <p:cNvPr id="13" name="Text 11"/>
          <p:cNvSpPr txBox="1"/>
          <p:nvPr/>
        </p:nvSpPr>
        <p:spPr>
          <a:xfrm>
            <a:off x="3675888" y="1170432"/>
            <a:ext cx="93268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Worst</a:t>
            </a:r>
            <a:endParaRPr lang="en-US" sz="750" dirty="0"/>
          </a:p>
        </p:txBody>
      </p:sp>
      <p:sp>
        <p:nvSpPr>
          <p:cNvPr id="14" name="Shape 12"/>
          <p:cNvSpPr/>
          <p:nvPr/>
        </p:nvSpPr>
        <p:spPr>
          <a:xfrm>
            <a:off x="4645152" y="1170432"/>
            <a:ext cx="1005840" cy="347472"/>
          </a:xfrm>
          <a:prstGeom prst="rect">
            <a:avLst/>
          </a:prstGeom>
          <a:solidFill>
            <a:srgbClr val="0F2D56"/>
          </a:solidFill>
          <a:ln w="12700">
            <a:solidFill>
              <a:srgbClr val="0F2D56"/>
            </a:solidFill>
            <a:prstDash val="solid"/>
          </a:ln>
        </p:spPr>
      </p:sp>
      <p:sp>
        <p:nvSpPr>
          <p:cNvPr id="15" name="Text 13"/>
          <p:cNvSpPr txBox="1"/>
          <p:nvPr/>
        </p:nvSpPr>
        <p:spPr>
          <a:xfrm>
            <a:off x="4681728" y="1170432"/>
            <a:ext cx="93268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Best</a:t>
            </a:r>
            <a:endParaRPr lang="en-US" sz="750" dirty="0"/>
          </a:p>
        </p:txBody>
      </p:sp>
      <p:sp>
        <p:nvSpPr>
          <p:cNvPr id="16" name="Shape 14"/>
          <p:cNvSpPr/>
          <p:nvPr/>
        </p:nvSpPr>
        <p:spPr>
          <a:xfrm>
            <a:off x="5650992" y="1170432"/>
            <a:ext cx="640080" cy="347472"/>
          </a:xfrm>
          <a:prstGeom prst="rect">
            <a:avLst/>
          </a:prstGeom>
          <a:solidFill>
            <a:srgbClr val="0F2D56"/>
          </a:solidFill>
          <a:ln w="12700">
            <a:solidFill>
              <a:srgbClr val="0F2D56"/>
            </a:solidFill>
            <a:prstDash val="solid"/>
          </a:ln>
        </p:spPr>
      </p:sp>
      <p:sp>
        <p:nvSpPr>
          <p:cNvPr id="17" name="Text 15"/>
          <p:cNvSpPr txBox="1"/>
          <p:nvPr/>
        </p:nvSpPr>
        <p:spPr>
          <a:xfrm>
            <a:off x="5687568" y="1170432"/>
            <a:ext cx="56692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Effort</a:t>
            </a:r>
            <a:endParaRPr lang="en-US" sz="750" dirty="0"/>
          </a:p>
        </p:txBody>
      </p:sp>
      <p:sp>
        <p:nvSpPr>
          <p:cNvPr id="18" name="Shape 16"/>
          <p:cNvSpPr/>
          <p:nvPr/>
        </p:nvSpPr>
        <p:spPr>
          <a:xfrm>
            <a:off x="6291072" y="1170432"/>
            <a:ext cx="777240" cy="347472"/>
          </a:xfrm>
          <a:prstGeom prst="rect">
            <a:avLst/>
          </a:prstGeom>
          <a:solidFill>
            <a:srgbClr val="0F2D56"/>
          </a:solidFill>
          <a:ln w="12700">
            <a:solidFill>
              <a:srgbClr val="0F2D56"/>
            </a:solidFill>
            <a:prstDash val="solid"/>
          </a:ln>
        </p:spPr>
      </p:sp>
      <p:sp>
        <p:nvSpPr>
          <p:cNvPr id="19" name="Text 17"/>
          <p:cNvSpPr txBox="1"/>
          <p:nvPr/>
        </p:nvSpPr>
        <p:spPr>
          <a:xfrm>
            <a:off x="6327648" y="1170432"/>
            <a:ext cx="70408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Impl. Cost</a:t>
            </a:r>
            <a:endParaRPr lang="en-US" sz="750" dirty="0"/>
          </a:p>
        </p:txBody>
      </p:sp>
      <p:sp>
        <p:nvSpPr>
          <p:cNvPr id="20" name="Shape 18"/>
          <p:cNvSpPr/>
          <p:nvPr/>
        </p:nvSpPr>
        <p:spPr>
          <a:xfrm>
            <a:off x="7068312" y="1170432"/>
            <a:ext cx="685800" cy="347472"/>
          </a:xfrm>
          <a:prstGeom prst="rect">
            <a:avLst/>
          </a:prstGeom>
          <a:solidFill>
            <a:srgbClr val="0F2D56"/>
          </a:solidFill>
          <a:ln w="12700">
            <a:solidFill>
              <a:srgbClr val="0F2D56"/>
            </a:solidFill>
            <a:prstDash val="solid"/>
          </a:ln>
        </p:spPr>
      </p:sp>
      <p:sp>
        <p:nvSpPr>
          <p:cNvPr id="21" name="Text 19"/>
          <p:cNvSpPr txBox="1"/>
          <p:nvPr/>
        </p:nvSpPr>
        <p:spPr>
          <a:xfrm>
            <a:off x="7104888" y="1170432"/>
            <a:ext cx="61264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a:t>
            </a:r>
            <a:endParaRPr lang="en-US" sz="750" dirty="0"/>
          </a:p>
        </p:txBody>
      </p:sp>
      <p:sp>
        <p:nvSpPr>
          <p:cNvPr id="22" name="Shape 20"/>
          <p:cNvSpPr/>
          <p:nvPr/>
        </p:nvSpPr>
        <p:spPr>
          <a:xfrm>
            <a:off x="7754112" y="1170432"/>
            <a:ext cx="822960" cy="347472"/>
          </a:xfrm>
          <a:prstGeom prst="rect">
            <a:avLst/>
          </a:prstGeom>
          <a:solidFill>
            <a:srgbClr val="0F2D56"/>
          </a:solidFill>
          <a:ln w="12700">
            <a:solidFill>
              <a:srgbClr val="0F2D56"/>
            </a:solidFill>
            <a:prstDash val="solid"/>
          </a:ln>
        </p:spPr>
      </p:sp>
      <p:sp>
        <p:nvSpPr>
          <p:cNvPr id="23" name="Text 21"/>
          <p:cNvSpPr txBox="1"/>
          <p:nvPr/>
        </p:nvSpPr>
        <p:spPr>
          <a:xfrm>
            <a:off x="7790688" y="1170432"/>
            <a:ext cx="74980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Compliance</a:t>
            </a:r>
            <a:endParaRPr lang="en-US" sz="750" dirty="0"/>
          </a:p>
        </p:txBody>
      </p:sp>
      <p:sp>
        <p:nvSpPr>
          <p:cNvPr id="24" name="Shape 22"/>
          <p:cNvSpPr/>
          <p:nvPr/>
        </p:nvSpPr>
        <p:spPr>
          <a:xfrm>
            <a:off x="8577072" y="1170432"/>
            <a:ext cx="777240" cy="347472"/>
          </a:xfrm>
          <a:prstGeom prst="rect">
            <a:avLst/>
          </a:prstGeom>
          <a:solidFill>
            <a:srgbClr val="0F2D56"/>
          </a:solidFill>
          <a:ln w="12700">
            <a:solidFill>
              <a:srgbClr val="0F2D56"/>
            </a:solidFill>
            <a:prstDash val="solid"/>
          </a:ln>
        </p:spPr>
      </p:sp>
      <p:sp>
        <p:nvSpPr>
          <p:cNvPr id="25" name="Text 23"/>
          <p:cNvSpPr txBox="1"/>
          <p:nvPr/>
        </p:nvSpPr>
        <p:spPr>
          <a:xfrm>
            <a:off x="8613648" y="1170432"/>
            <a:ext cx="704088"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Confidence</a:t>
            </a:r>
            <a:endParaRPr lang="en-US" sz="750" dirty="0"/>
          </a:p>
        </p:txBody>
      </p:sp>
      <p:sp>
        <p:nvSpPr>
          <p:cNvPr id="26" name="Shape 24"/>
          <p:cNvSpPr/>
          <p:nvPr/>
        </p:nvSpPr>
        <p:spPr>
          <a:xfrm>
            <a:off x="256032" y="1536192"/>
            <a:ext cx="2331720" cy="512064"/>
          </a:xfrm>
          <a:prstGeom prst="rect">
            <a:avLst/>
          </a:prstGeom>
          <a:solidFill>
            <a:srgbClr val="FFFFFF"/>
          </a:solidFill>
          <a:ln w="12700">
            <a:solidFill>
              <a:srgbClr val="CBD5E1"/>
            </a:solidFill>
            <a:prstDash val="solid"/>
          </a:ln>
        </p:spPr>
      </p:sp>
      <p:sp>
        <p:nvSpPr>
          <p:cNvPr id="27" name="Text 25"/>
          <p:cNvSpPr txBox="1"/>
          <p:nvPr/>
        </p:nvSpPr>
        <p:spPr>
          <a:xfrm>
            <a:off x="292608" y="159105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Storage Lifecycle Policies</a:t>
            </a:r>
            <a:endParaRPr lang="en-US" sz="850" dirty="0"/>
          </a:p>
        </p:txBody>
      </p:sp>
      <p:sp>
        <p:nvSpPr>
          <p:cNvPr id="28" name="Shape 26"/>
          <p:cNvSpPr/>
          <p:nvPr/>
        </p:nvSpPr>
        <p:spPr>
          <a:xfrm>
            <a:off x="2587752" y="1536192"/>
            <a:ext cx="1051560" cy="512064"/>
          </a:xfrm>
          <a:prstGeom prst="rect">
            <a:avLst/>
          </a:prstGeom>
          <a:solidFill>
            <a:srgbClr val="FFFFFF"/>
          </a:solidFill>
          <a:ln w="12700">
            <a:solidFill>
              <a:srgbClr val="CBD5E1"/>
            </a:solidFill>
            <a:prstDash val="solid"/>
          </a:ln>
        </p:spPr>
      </p:sp>
      <p:sp>
        <p:nvSpPr>
          <p:cNvPr id="29" name="Text 27"/>
          <p:cNvSpPr txBox="1"/>
          <p:nvPr/>
        </p:nvSpPr>
        <p:spPr>
          <a:xfrm>
            <a:off x="2624328" y="159105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$5,549</a:t>
            </a:r>
            <a:endParaRPr lang="en-US" sz="850" dirty="0"/>
          </a:p>
        </p:txBody>
      </p:sp>
      <p:sp>
        <p:nvSpPr>
          <p:cNvPr id="30" name="Shape 28"/>
          <p:cNvSpPr/>
          <p:nvPr/>
        </p:nvSpPr>
        <p:spPr>
          <a:xfrm>
            <a:off x="3639312" y="1536192"/>
            <a:ext cx="1005840" cy="512064"/>
          </a:xfrm>
          <a:prstGeom prst="rect">
            <a:avLst/>
          </a:prstGeom>
          <a:solidFill>
            <a:srgbClr val="FFFFFF"/>
          </a:solidFill>
          <a:ln w="12700">
            <a:solidFill>
              <a:srgbClr val="CBD5E1"/>
            </a:solidFill>
            <a:prstDash val="solid"/>
          </a:ln>
        </p:spPr>
      </p:sp>
      <p:sp>
        <p:nvSpPr>
          <p:cNvPr id="31" name="Text 29"/>
          <p:cNvSpPr txBox="1"/>
          <p:nvPr/>
        </p:nvSpPr>
        <p:spPr>
          <a:xfrm>
            <a:off x="3675888" y="159105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$4,500</a:t>
            </a:r>
            <a:endParaRPr lang="en-US" sz="850" dirty="0"/>
          </a:p>
        </p:txBody>
      </p:sp>
      <p:sp>
        <p:nvSpPr>
          <p:cNvPr id="32" name="Shape 30"/>
          <p:cNvSpPr/>
          <p:nvPr/>
        </p:nvSpPr>
        <p:spPr>
          <a:xfrm>
            <a:off x="4645152" y="1536192"/>
            <a:ext cx="1005840" cy="512064"/>
          </a:xfrm>
          <a:prstGeom prst="rect">
            <a:avLst/>
          </a:prstGeom>
          <a:solidFill>
            <a:srgbClr val="FFFFFF"/>
          </a:solidFill>
          <a:ln w="12700">
            <a:solidFill>
              <a:srgbClr val="CBD5E1"/>
            </a:solidFill>
            <a:prstDash val="solid"/>
          </a:ln>
        </p:spPr>
      </p:sp>
      <p:sp>
        <p:nvSpPr>
          <p:cNvPr id="33" name="Text 31"/>
          <p:cNvSpPr txBox="1"/>
          <p:nvPr/>
        </p:nvSpPr>
        <p:spPr>
          <a:xfrm>
            <a:off x="4681728" y="159105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$6,200</a:t>
            </a:r>
            <a:endParaRPr lang="en-US" sz="850" dirty="0"/>
          </a:p>
        </p:txBody>
      </p:sp>
      <p:sp>
        <p:nvSpPr>
          <p:cNvPr id="34" name="Shape 32"/>
          <p:cNvSpPr/>
          <p:nvPr/>
        </p:nvSpPr>
        <p:spPr>
          <a:xfrm>
            <a:off x="5650992" y="1536192"/>
            <a:ext cx="640080" cy="512064"/>
          </a:xfrm>
          <a:prstGeom prst="rect">
            <a:avLst/>
          </a:prstGeom>
          <a:solidFill>
            <a:srgbClr val="FFFFFF"/>
          </a:solidFill>
          <a:ln w="12700">
            <a:solidFill>
              <a:srgbClr val="CBD5E1"/>
            </a:solidFill>
            <a:prstDash val="solid"/>
          </a:ln>
        </p:spPr>
      </p:sp>
      <p:sp>
        <p:nvSpPr>
          <p:cNvPr id="35" name="Text 33"/>
          <p:cNvSpPr txBox="1"/>
          <p:nvPr/>
        </p:nvSpPr>
        <p:spPr>
          <a:xfrm>
            <a:off x="5687568" y="159105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3–5d</a:t>
            </a:r>
            <a:endParaRPr lang="en-US" sz="850" dirty="0"/>
          </a:p>
        </p:txBody>
      </p:sp>
      <p:sp>
        <p:nvSpPr>
          <p:cNvPr id="36" name="Shape 34"/>
          <p:cNvSpPr/>
          <p:nvPr/>
        </p:nvSpPr>
        <p:spPr>
          <a:xfrm>
            <a:off x="6291072" y="1536192"/>
            <a:ext cx="777240" cy="512064"/>
          </a:xfrm>
          <a:prstGeom prst="rect">
            <a:avLst/>
          </a:prstGeom>
          <a:solidFill>
            <a:srgbClr val="FFFFFF"/>
          </a:solidFill>
          <a:ln w="12700">
            <a:solidFill>
              <a:srgbClr val="CBD5E1"/>
            </a:solidFill>
            <a:prstDash val="solid"/>
          </a:ln>
        </p:spPr>
      </p:sp>
      <p:sp>
        <p:nvSpPr>
          <p:cNvPr id="37" name="Text 35"/>
          <p:cNvSpPr txBox="1"/>
          <p:nvPr/>
        </p:nvSpPr>
        <p:spPr>
          <a:xfrm>
            <a:off x="6327648" y="159105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38" name="Shape 36"/>
          <p:cNvSpPr/>
          <p:nvPr/>
        </p:nvSpPr>
        <p:spPr>
          <a:xfrm>
            <a:off x="7068312" y="1536192"/>
            <a:ext cx="685800" cy="512064"/>
          </a:xfrm>
          <a:prstGeom prst="rect">
            <a:avLst/>
          </a:prstGeom>
          <a:solidFill>
            <a:srgbClr val="FFFFFF"/>
          </a:solidFill>
          <a:ln w="12700">
            <a:solidFill>
              <a:srgbClr val="CBD5E1"/>
            </a:solidFill>
            <a:prstDash val="solid"/>
          </a:ln>
        </p:spPr>
      </p:sp>
      <p:sp>
        <p:nvSpPr>
          <p:cNvPr id="39" name="Text 37"/>
          <p:cNvSpPr txBox="1"/>
          <p:nvPr/>
        </p:nvSpPr>
        <p:spPr>
          <a:xfrm>
            <a:off x="7104888" y="159105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Low</a:t>
            </a:r>
            <a:endParaRPr lang="en-US" sz="850" dirty="0"/>
          </a:p>
        </p:txBody>
      </p:sp>
      <p:sp>
        <p:nvSpPr>
          <p:cNvPr id="40" name="Shape 38"/>
          <p:cNvSpPr/>
          <p:nvPr/>
        </p:nvSpPr>
        <p:spPr>
          <a:xfrm>
            <a:off x="7754112" y="1536192"/>
            <a:ext cx="822960" cy="512064"/>
          </a:xfrm>
          <a:prstGeom prst="rect">
            <a:avLst/>
          </a:prstGeom>
          <a:solidFill>
            <a:srgbClr val="FFFFFF"/>
          </a:solidFill>
          <a:ln w="12700">
            <a:solidFill>
              <a:srgbClr val="CBD5E1"/>
            </a:solidFill>
            <a:prstDash val="solid"/>
          </a:ln>
        </p:spPr>
      </p:sp>
      <p:sp>
        <p:nvSpPr>
          <p:cNvPr id="41" name="Text 39"/>
          <p:cNvSpPr txBox="1"/>
          <p:nvPr/>
        </p:nvSpPr>
        <p:spPr>
          <a:xfrm>
            <a:off x="7790688" y="159105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Required</a:t>
            </a:r>
            <a:endParaRPr lang="en-US" sz="850" dirty="0"/>
          </a:p>
        </p:txBody>
      </p:sp>
      <p:sp>
        <p:nvSpPr>
          <p:cNvPr id="42" name="Shape 40"/>
          <p:cNvSpPr/>
          <p:nvPr/>
        </p:nvSpPr>
        <p:spPr>
          <a:xfrm>
            <a:off x="8577072" y="1536192"/>
            <a:ext cx="777240" cy="512064"/>
          </a:xfrm>
          <a:prstGeom prst="rect">
            <a:avLst/>
          </a:prstGeom>
          <a:solidFill>
            <a:srgbClr val="FFFFFF"/>
          </a:solidFill>
          <a:ln w="12700">
            <a:solidFill>
              <a:srgbClr val="CBD5E1"/>
            </a:solidFill>
            <a:prstDash val="solid"/>
          </a:ln>
        </p:spPr>
      </p:sp>
      <p:sp>
        <p:nvSpPr>
          <p:cNvPr id="43" name="Text 41"/>
          <p:cNvSpPr txBox="1"/>
          <p:nvPr/>
        </p:nvSpPr>
        <p:spPr>
          <a:xfrm>
            <a:off x="8613648" y="1591056"/>
            <a:ext cx="70408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High ✓</a:t>
            </a:r>
            <a:endParaRPr lang="en-US" sz="850" dirty="0"/>
          </a:p>
        </p:txBody>
      </p:sp>
      <p:sp>
        <p:nvSpPr>
          <p:cNvPr id="44" name="Shape 42"/>
          <p:cNvSpPr/>
          <p:nvPr/>
        </p:nvSpPr>
        <p:spPr>
          <a:xfrm>
            <a:off x="256032" y="2084832"/>
            <a:ext cx="2331720" cy="512064"/>
          </a:xfrm>
          <a:prstGeom prst="rect">
            <a:avLst/>
          </a:prstGeom>
          <a:solidFill>
            <a:srgbClr val="F2F4F5"/>
          </a:solidFill>
          <a:ln w="12700">
            <a:solidFill>
              <a:srgbClr val="CBD5E1"/>
            </a:solidFill>
            <a:prstDash val="solid"/>
          </a:ln>
        </p:spPr>
      </p:sp>
      <p:sp>
        <p:nvSpPr>
          <p:cNvPr id="45" name="Text 43"/>
          <p:cNvSpPr txBox="1"/>
          <p:nvPr/>
        </p:nvSpPr>
        <p:spPr>
          <a:xfrm>
            <a:off x="292608" y="213969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EC2 Right-Sizing</a:t>
            </a:r>
            <a:endParaRPr lang="en-US" sz="850" dirty="0"/>
          </a:p>
        </p:txBody>
      </p:sp>
      <p:sp>
        <p:nvSpPr>
          <p:cNvPr id="46" name="Shape 44"/>
          <p:cNvSpPr/>
          <p:nvPr/>
        </p:nvSpPr>
        <p:spPr>
          <a:xfrm>
            <a:off x="2587752" y="2084832"/>
            <a:ext cx="1051560" cy="512064"/>
          </a:xfrm>
          <a:prstGeom prst="rect">
            <a:avLst/>
          </a:prstGeom>
          <a:solidFill>
            <a:srgbClr val="F2F4F5"/>
          </a:solidFill>
          <a:ln w="12700">
            <a:solidFill>
              <a:srgbClr val="CBD5E1"/>
            </a:solidFill>
            <a:prstDash val="solid"/>
          </a:ln>
        </p:spPr>
      </p:sp>
      <p:sp>
        <p:nvSpPr>
          <p:cNvPr id="47" name="Text 45"/>
          <p:cNvSpPr txBox="1"/>
          <p:nvPr/>
        </p:nvSpPr>
        <p:spPr>
          <a:xfrm>
            <a:off x="2624328" y="213969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$9,033</a:t>
            </a:r>
            <a:endParaRPr lang="en-US" sz="850" dirty="0"/>
          </a:p>
        </p:txBody>
      </p:sp>
      <p:sp>
        <p:nvSpPr>
          <p:cNvPr id="48" name="Shape 46"/>
          <p:cNvSpPr/>
          <p:nvPr/>
        </p:nvSpPr>
        <p:spPr>
          <a:xfrm>
            <a:off x="3639312" y="2084832"/>
            <a:ext cx="1005840" cy="512064"/>
          </a:xfrm>
          <a:prstGeom prst="rect">
            <a:avLst/>
          </a:prstGeom>
          <a:solidFill>
            <a:srgbClr val="F2F4F5"/>
          </a:solidFill>
          <a:ln w="12700">
            <a:solidFill>
              <a:srgbClr val="CBD5E1"/>
            </a:solidFill>
            <a:prstDash val="solid"/>
          </a:ln>
        </p:spPr>
      </p:sp>
      <p:sp>
        <p:nvSpPr>
          <p:cNvPr id="49" name="Text 47"/>
          <p:cNvSpPr txBox="1"/>
          <p:nvPr/>
        </p:nvSpPr>
        <p:spPr>
          <a:xfrm>
            <a:off x="3675888" y="213969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$6,000</a:t>
            </a:r>
            <a:endParaRPr lang="en-US" sz="850" dirty="0"/>
          </a:p>
        </p:txBody>
      </p:sp>
      <p:sp>
        <p:nvSpPr>
          <p:cNvPr id="50" name="Shape 48"/>
          <p:cNvSpPr/>
          <p:nvPr/>
        </p:nvSpPr>
        <p:spPr>
          <a:xfrm>
            <a:off x="4645152" y="2084832"/>
            <a:ext cx="1005840" cy="512064"/>
          </a:xfrm>
          <a:prstGeom prst="rect">
            <a:avLst/>
          </a:prstGeom>
          <a:solidFill>
            <a:srgbClr val="F2F4F5"/>
          </a:solidFill>
          <a:ln w="12700">
            <a:solidFill>
              <a:srgbClr val="CBD5E1"/>
            </a:solidFill>
            <a:prstDash val="solid"/>
          </a:ln>
        </p:spPr>
      </p:sp>
      <p:sp>
        <p:nvSpPr>
          <p:cNvPr id="51" name="Text 49"/>
          <p:cNvSpPr txBox="1"/>
          <p:nvPr/>
        </p:nvSpPr>
        <p:spPr>
          <a:xfrm>
            <a:off x="4681728" y="213969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$11,000</a:t>
            </a:r>
            <a:endParaRPr lang="en-US" sz="850" dirty="0"/>
          </a:p>
        </p:txBody>
      </p:sp>
      <p:sp>
        <p:nvSpPr>
          <p:cNvPr id="52" name="Shape 50"/>
          <p:cNvSpPr/>
          <p:nvPr/>
        </p:nvSpPr>
        <p:spPr>
          <a:xfrm>
            <a:off x="5650992" y="2084832"/>
            <a:ext cx="640080" cy="512064"/>
          </a:xfrm>
          <a:prstGeom prst="rect">
            <a:avLst/>
          </a:prstGeom>
          <a:solidFill>
            <a:srgbClr val="F2F4F5"/>
          </a:solidFill>
          <a:ln w="12700">
            <a:solidFill>
              <a:srgbClr val="CBD5E1"/>
            </a:solidFill>
            <a:prstDash val="solid"/>
          </a:ln>
        </p:spPr>
      </p:sp>
      <p:sp>
        <p:nvSpPr>
          <p:cNvPr id="53" name="Text 51"/>
          <p:cNvSpPr txBox="1"/>
          <p:nvPr/>
        </p:nvSpPr>
        <p:spPr>
          <a:xfrm>
            <a:off x="5687568" y="213969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5–8d</a:t>
            </a:r>
            <a:endParaRPr lang="en-US" sz="850" dirty="0"/>
          </a:p>
        </p:txBody>
      </p:sp>
      <p:sp>
        <p:nvSpPr>
          <p:cNvPr id="54" name="Shape 52"/>
          <p:cNvSpPr/>
          <p:nvPr/>
        </p:nvSpPr>
        <p:spPr>
          <a:xfrm>
            <a:off x="6291072" y="2084832"/>
            <a:ext cx="777240" cy="512064"/>
          </a:xfrm>
          <a:prstGeom prst="rect">
            <a:avLst/>
          </a:prstGeom>
          <a:solidFill>
            <a:srgbClr val="F2F4F5"/>
          </a:solidFill>
          <a:ln w="12700">
            <a:solidFill>
              <a:srgbClr val="CBD5E1"/>
            </a:solidFill>
            <a:prstDash val="solid"/>
          </a:ln>
        </p:spPr>
      </p:sp>
      <p:sp>
        <p:nvSpPr>
          <p:cNvPr id="55" name="Text 53"/>
          <p:cNvSpPr txBox="1"/>
          <p:nvPr/>
        </p:nvSpPr>
        <p:spPr>
          <a:xfrm>
            <a:off x="6327648" y="213969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56" name="Shape 54"/>
          <p:cNvSpPr/>
          <p:nvPr/>
        </p:nvSpPr>
        <p:spPr>
          <a:xfrm>
            <a:off x="7068312" y="2084832"/>
            <a:ext cx="685800" cy="512064"/>
          </a:xfrm>
          <a:prstGeom prst="rect">
            <a:avLst/>
          </a:prstGeom>
          <a:solidFill>
            <a:srgbClr val="F2F4F5"/>
          </a:solidFill>
          <a:ln w="12700">
            <a:solidFill>
              <a:srgbClr val="CBD5E1"/>
            </a:solidFill>
            <a:prstDash val="solid"/>
          </a:ln>
        </p:spPr>
      </p:sp>
      <p:sp>
        <p:nvSpPr>
          <p:cNvPr id="57" name="Text 55"/>
          <p:cNvSpPr txBox="1"/>
          <p:nvPr/>
        </p:nvSpPr>
        <p:spPr>
          <a:xfrm>
            <a:off x="7104888" y="213969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Med</a:t>
            </a:r>
            <a:endParaRPr lang="en-US" sz="850" dirty="0"/>
          </a:p>
        </p:txBody>
      </p:sp>
      <p:sp>
        <p:nvSpPr>
          <p:cNvPr id="58" name="Shape 56"/>
          <p:cNvSpPr/>
          <p:nvPr/>
        </p:nvSpPr>
        <p:spPr>
          <a:xfrm>
            <a:off x="7754112" y="2084832"/>
            <a:ext cx="822960" cy="512064"/>
          </a:xfrm>
          <a:prstGeom prst="rect">
            <a:avLst/>
          </a:prstGeom>
          <a:solidFill>
            <a:srgbClr val="F2F4F5"/>
          </a:solidFill>
          <a:ln w="12700">
            <a:solidFill>
              <a:srgbClr val="CBD5E1"/>
            </a:solidFill>
            <a:prstDash val="solid"/>
          </a:ln>
        </p:spPr>
      </p:sp>
      <p:sp>
        <p:nvSpPr>
          <p:cNvPr id="59" name="Text 57"/>
          <p:cNvSpPr txBox="1"/>
          <p:nvPr/>
        </p:nvSpPr>
        <p:spPr>
          <a:xfrm>
            <a:off x="7790688" y="213969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Required</a:t>
            </a:r>
            <a:endParaRPr lang="en-US" sz="850" dirty="0"/>
          </a:p>
        </p:txBody>
      </p:sp>
      <p:sp>
        <p:nvSpPr>
          <p:cNvPr id="60" name="Shape 58"/>
          <p:cNvSpPr/>
          <p:nvPr/>
        </p:nvSpPr>
        <p:spPr>
          <a:xfrm>
            <a:off x="8577072" y="2084832"/>
            <a:ext cx="777240" cy="512064"/>
          </a:xfrm>
          <a:prstGeom prst="rect">
            <a:avLst/>
          </a:prstGeom>
          <a:solidFill>
            <a:srgbClr val="F2F4F5"/>
          </a:solidFill>
          <a:ln w="12700">
            <a:solidFill>
              <a:srgbClr val="CBD5E1"/>
            </a:solidFill>
            <a:prstDash val="solid"/>
          </a:ln>
        </p:spPr>
      </p:sp>
      <p:sp>
        <p:nvSpPr>
          <p:cNvPr id="61" name="Text 59"/>
          <p:cNvSpPr txBox="1"/>
          <p:nvPr/>
        </p:nvSpPr>
        <p:spPr>
          <a:xfrm>
            <a:off x="8613648" y="2139696"/>
            <a:ext cx="70408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High ✓</a:t>
            </a:r>
            <a:endParaRPr lang="en-US" sz="850" dirty="0"/>
          </a:p>
        </p:txBody>
      </p:sp>
      <p:sp>
        <p:nvSpPr>
          <p:cNvPr id="62" name="Shape 60"/>
          <p:cNvSpPr/>
          <p:nvPr/>
        </p:nvSpPr>
        <p:spPr>
          <a:xfrm>
            <a:off x="256032" y="2633472"/>
            <a:ext cx="2331720" cy="512064"/>
          </a:xfrm>
          <a:prstGeom prst="rect">
            <a:avLst/>
          </a:prstGeom>
          <a:solidFill>
            <a:srgbClr val="FFFFFF"/>
          </a:solidFill>
          <a:ln w="12700">
            <a:solidFill>
              <a:srgbClr val="CBD5E1"/>
            </a:solidFill>
            <a:prstDash val="solid"/>
          </a:ln>
        </p:spPr>
      </p:sp>
      <p:sp>
        <p:nvSpPr>
          <p:cNvPr id="63" name="Text 61"/>
          <p:cNvSpPr txBox="1"/>
          <p:nvPr/>
        </p:nvSpPr>
        <p:spPr>
          <a:xfrm>
            <a:off x="292608" y="268833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Non-Prod Shutdown*</a:t>
            </a:r>
            <a:endParaRPr lang="en-US" sz="850" dirty="0"/>
          </a:p>
        </p:txBody>
      </p:sp>
      <p:sp>
        <p:nvSpPr>
          <p:cNvPr id="64" name="Shape 62"/>
          <p:cNvSpPr/>
          <p:nvPr/>
        </p:nvSpPr>
        <p:spPr>
          <a:xfrm>
            <a:off x="2587752" y="2633472"/>
            <a:ext cx="1051560" cy="512064"/>
          </a:xfrm>
          <a:prstGeom prst="rect">
            <a:avLst/>
          </a:prstGeom>
          <a:solidFill>
            <a:srgbClr val="FFFFFF"/>
          </a:solidFill>
          <a:ln w="12700">
            <a:solidFill>
              <a:srgbClr val="CBD5E1"/>
            </a:solidFill>
            <a:prstDash val="solid"/>
          </a:ln>
        </p:spPr>
      </p:sp>
      <p:sp>
        <p:nvSpPr>
          <p:cNvPr id="65" name="Text 63"/>
          <p:cNvSpPr txBox="1"/>
          <p:nvPr/>
        </p:nvSpPr>
        <p:spPr>
          <a:xfrm>
            <a:off x="2624328" y="268833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$836</a:t>
            </a:r>
            <a:endParaRPr lang="en-US" sz="850" dirty="0"/>
          </a:p>
        </p:txBody>
      </p:sp>
      <p:sp>
        <p:nvSpPr>
          <p:cNvPr id="66" name="Shape 64"/>
          <p:cNvSpPr/>
          <p:nvPr/>
        </p:nvSpPr>
        <p:spPr>
          <a:xfrm>
            <a:off x="3639312" y="2633472"/>
            <a:ext cx="1005840" cy="512064"/>
          </a:xfrm>
          <a:prstGeom prst="rect">
            <a:avLst/>
          </a:prstGeom>
          <a:solidFill>
            <a:srgbClr val="FFFFFF"/>
          </a:solidFill>
          <a:ln w="12700">
            <a:solidFill>
              <a:srgbClr val="CBD5E1"/>
            </a:solidFill>
            <a:prstDash val="solid"/>
          </a:ln>
        </p:spPr>
      </p:sp>
      <p:sp>
        <p:nvSpPr>
          <p:cNvPr id="67" name="Text 65"/>
          <p:cNvSpPr txBox="1"/>
          <p:nvPr/>
        </p:nvSpPr>
        <p:spPr>
          <a:xfrm>
            <a:off x="3675888" y="268833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$600</a:t>
            </a:r>
            <a:endParaRPr lang="en-US" sz="850" dirty="0"/>
          </a:p>
        </p:txBody>
      </p:sp>
      <p:sp>
        <p:nvSpPr>
          <p:cNvPr id="68" name="Shape 66"/>
          <p:cNvSpPr/>
          <p:nvPr/>
        </p:nvSpPr>
        <p:spPr>
          <a:xfrm>
            <a:off x="4645152" y="2633472"/>
            <a:ext cx="1005840" cy="512064"/>
          </a:xfrm>
          <a:prstGeom prst="rect">
            <a:avLst/>
          </a:prstGeom>
          <a:solidFill>
            <a:srgbClr val="FFFFFF"/>
          </a:solidFill>
          <a:ln w="12700">
            <a:solidFill>
              <a:srgbClr val="CBD5E1"/>
            </a:solidFill>
            <a:prstDash val="solid"/>
          </a:ln>
        </p:spPr>
      </p:sp>
      <p:sp>
        <p:nvSpPr>
          <p:cNvPr id="69" name="Text 67"/>
          <p:cNvSpPr txBox="1"/>
          <p:nvPr/>
        </p:nvSpPr>
        <p:spPr>
          <a:xfrm>
            <a:off x="4681728" y="268833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$1,000</a:t>
            </a:r>
            <a:endParaRPr lang="en-US" sz="850" dirty="0"/>
          </a:p>
        </p:txBody>
      </p:sp>
      <p:sp>
        <p:nvSpPr>
          <p:cNvPr id="70" name="Shape 68"/>
          <p:cNvSpPr/>
          <p:nvPr/>
        </p:nvSpPr>
        <p:spPr>
          <a:xfrm>
            <a:off x="5650992" y="2633472"/>
            <a:ext cx="640080" cy="512064"/>
          </a:xfrm>
          <a:prstGeom prst="rect">
            <a:avLst/>
          </a:prstGeom>
          <a:solidFill>
            <a:srgbClr val="FFFFFF"/>
          </a:solidFill>
          <a:ln w="12700">
            <a:solidFill>
              <a:srgbClr val="CBD5E1"/>
            </a:solidFill>
            <a:prstDash val="solid"/>
          </a:ln>
        </p:spPr>
      </p:sp>
      <p:sp>
        <p:nvSpPr>
          <p:cNvPr id="71" name="Text 69"/>
          <p:cNvSpPr txBox="1"/>
          <p:nvPr/>
        </p:nvSpPr>
        <p:spPr>
          <a:xfrm>
            <a:off x="5687568" y="268833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2–3d</a:t>
            </a:r>
            <a:endParaRPr lang="en-US" sz="850" dirty="0"/>
          </a:p>
        </p:txBody>
      </p:sp>
      <p:sp>
        <p:nvSpPr>
          <p:cNvPr id="72" name="Shape 70"/>
          <p:cNvSpPr/>
          <p:nvPr/>
        </p:nvSpPr>
        <p:spPr>
          <a:xfrm>
            <a:off x="6291072" y="2633472"/>
            <a:ext cx="777240" cy="512064"/>
          </a:xfrm>
          <a:prstGeom prst="rect">
            <a:avLst/>
          </a:prstGeom>
          <a:solidFill>
            <a:srgbClr val="FFFFFF"/>
          </a:solidFill>
          <a:ln w="12700">
            <a:solidFill>
              <a:srgbClr val="CBD5E1"/>
            </a:solidFill>
            <a:prstDash val="solid"/>
          </a:ln>
        </p:spPr>
      </p:sp>
      <p:sp>
        <p:nvSpPr>
          <p:cNvPr id="73" name="Text 71"/>
          <p:cNvSpPr txBox="1"/>
          <p:nvPr/>
        </p:nvSpPr>
        <p:spPr>
          <a:xfrm>
            <a:off x="6327648" y="268833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74" name="Shape 72"/>
          <p:cNvSpPr/>
          <p:nvPr/>
        </p:nvSpPr>
        <p:spPr>
          <a:xfrm>
            <a:off x="7068312" y="2633472"/>
            <a:ext cx="685800" cy="512064"/>
          </a:xfrm>
          <a:prstGeom prst="rect">
            <a:avLst/>
          </a:prstGeom>
          <a:solidFill>
            <a:srgbClr val="FFFFFF"/>
          </a:solidFill>
          <a:ln w="12700">
            <a:solidFill>
              <a:srgbClr val="CBD5E1"/>
            </a:solidFill>
            <a:prstDash val="solid"/>
          </a:ln>
        </p:spPr>
      </p:sp>
      <p:sp>
        <p:nvSpPr>
          <p:cNvPr id="75" name="Text 73"/>
          <p:cNvSpPr txBox="1"/>
          <p:nvPr/>
        </p:nvSpPr>
        <p:spPr>
          <a:xfrm>
            <a:off x="7104888" y="268833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Low</a:t>
            </a:r>
            <a:endParaRPr lang="en-US" sz="850" dirty="0"/>
          </a:p>
        </p:txBody>
      </p:sp>
      <p:sp>
        <p:nvSpPr>
          <p:cNvPr id="76" name="Shape 74"/>
          <p:cNvSpPr/>
          <p:nvPr/>
        </p:nvSpPr>
        <p:spPr>
          <a:xfrm>
            <a:off x="7754112" y="2633472"/>
            <a:ext cx="822960" cy="512064"/>
          </a:xfrm>
          <a:prstGeom prst="rect">
            <a:avLst/>
          </a:prstGeom>
          <a:solidFill>
            <a:srgbClr val="FFFFFF"/>
          </a:solidFill>
          <a:ln w="12700">
            <a:solidFill>
              <a:srgbClr val="CBD5E1"/>
            </a:solidFill>
            <a:prstDash val="solid"/>
          </a:ln>
        </p:spPr>
      </p:sp>
      <p:sp>
        <p:nvSpPr>
          <p:cNvPr id="77" name="Text 75"/>
          <p:cNvSpPr txBox="1"/>
          <p:nvPr/>
        </p:nvSpPr>
        <p:spPr>
          <a:xfrm>
            <a:off x="7790688" y="268833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Required</a:t>
            </a:r>
            <a:endParaRPr lang="en-US" sz="850" dirty="0"/>
          </a:p>
        </p:txBody>
      </p:sp>
      <p:sp>
        <p:nvSpPr>
          <p:cNvPr id="78" name="Shape 76"/>
          <p:cNvSpPr/>
          <p:nvPr/>
        </p:nvSpPr>
        <p:spPr>
          <a:xfrm>
            <a:off x="8577072" y="2633472"/>
            <a:ext cx="777240" cy="512064"/>
          </a:xfrm>
          <a:prstGeom prst="rect">
            <a:avLst/>
          </a:prstGeom>
          <a:solidFill>
            <a:srgbClr val="FFFFFF"/>
          </a:solidFill>
          <a:ln w="12700">
            <a:solidFill>
              <a:srgbClr val="CBD5E1"/>
            </a:solidFill>
            <a:prstDash val="solid"/>
          </a:ln>
        </p:spPr>
      </p:sp>
      <p:sp>
        <p:nvSpPr>
          <p:cNvPr id="79" name="Text 77"/>
          <p:cNvSpPr txBox="1"/>
          <p:nvPr/>
        </p:nvSpPr>
        <p:spPr>
          <a:xfrm>
            <a:off x="8613648" y="2688336"/>
            <a:ext cx="704088" cy="402336"/>
          </a:xfrm>
          <a:prstGeom prst="rect">
            <a:avLst/>
          </a:prstGeom>
          <a:noFill/>
          <a:ln/>
        </p:spPr>
        <p:txBody>
          <a:bodyPr wrap="square" lIns="0" tIns="0" rIns="0" bIns="0" rtlCol="0" anchor="ctr"/>
          <a:lstStyle/>
          <a:p>
            <a:pPr algn="ctr" indent="0" marL="0">
              <a:buNone/>
            </a:pPr>
            <a:r>
              <a:rPr lang="en-US" sz="850" dirty="0">
                <a:solidFill>
                  <a:srgbClr val="1A5FA8"/>
                </a:solidFill>
                <a:latin typeface="Calibri" pitchFamily="34" charset="0"/>
                <a:ea typeface="Calibri" pitchFamily="34" charset="-122"/>
                <a:cs typeface="Calibri" pitchFamily="34" charset="-120"/>
              </a:rPr>
              <a:t>Med ~</a:t>
            </a:r>
            <a:endParaRPr lang="en-US" sz="850" dirty="0"/>
          </a:p>
        </p:txBody>
      </p:sp>
      <p:sp>
        <p:nvSpPr>
          <p:cNvPr id="80" name="Shape 78"/>
          <p:cNvSpPr/>
          <p:nvPr/>
        </p:nvSpPr>
        <p:spPr>
          <a:xfrm>
            <a:off x="256032" y="3182112"/>
            <a:ext cx="2331720" cy="512064"/>
          </a:xfrm>
          <a:prstGeom prst="rect">
            <a:avLst/>
          </a:prstGeom>
          <a:solidFill>
            <a:srgbClr val="F2F4F5"/>
          </a:solidFill>
          <a:ln w="12700">
            <a:solidFill>
              <a:srgbClr val="CBD5E1"/>
            </a:solidFill>
            <a:prstDash val="solid"/>
          </a:ln>
        </p:spPr>
      </p:sp>
      <p:sp>
        <p:nvSpPr>
          <p:cNvPr id="81" name="Text 79"/>
          <p:cNvSpPr txBox="1"/>
          <p:nvPr/>
        </p:nvSpPr>
        <p:spPr>
          <a:xfrm>
            <a:off x="292608" y="323697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Data Transfer Optimisation</a:t>
            </a:r>
            <a:endParaRPr lang="en-US" sz="850" dirty="0"/>
          </a:p>
        </p:txBody>
      </p:sp>
      <p:sp>
        <p:nvSpPr>
          <p:cNvPr id="82" name="Shape 80"/>
          <p:cNvSpPr/>
          <p:nvPr/>
        </p:nvSpPr>
        <p:spPr>
          <a:xfrm>
            <a:off x="2587752" y="3182112"/>
            <a:ext cx="1051560" cy="512064"/>
          </a:xfrm>
          <a:prstGeom prst="rect">
            <a:avLst/>
          </a:prstGeom>
          <a:solidFill>
            <a:srgbClr val="F2F4F5"/>
          </a:solidFill>
          <a:ln w="12700">
            <a:solidFill>
              <a:srgbClr val="CBD5E1"/>
            </a:solidFill>
            <a:prstDash val="solid"/>
          </a:ln>
        </p:spPr>
      </p:sp>
      <p:sp>
        <p:nvSpPr>
          <p:cNvPr id="83" name="Text 81"/>
          <p:cNvSpPr txBox="1"/>
          <p:nvPr/>
        </p:nvSpPr>
        <p:spPr>
          <a:xfrm>
            <a:off x="2624328" y="323697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$30,574</a:t>
            </a:r>
            <a:endParaRPr lang="en-US" sz="850" dirty="0"/>
          </a:p>
        </p:txBody>
      </p:sp>
      <p:sp>
        <p:nvSpPr>
          <p:cNvPr id="84" name="Shape 82"/>
          <p:cNvSpPr/>
          <p:nvPr/>
        </p:nvSpPr>
        <p:spPr>
          <a:xfrm>
            <a:off x="3639312" y="3182112"/>
            <a:ext cx="1005840" cy="512064"/>
          </a:xfrm>
          <a:prstGeom prst="rect">
            <a:avLst/>
          </a:prstGeom>
          <a:solidFill>
            <a:srgbClr val="F2F4F5"/>
          </a:solidFill>
          <a:ln w="12700">
            <a:solidFill>
              <a:srgbClr val="CBD5E1"/>
            </a:solidFill>
            <a:prstDash val="solid"/>
          </a:ln>
        </p:spPr>
      </p:sp>
      <p:sp>
        <p:nvSpPr>
          <p:cNvPr id="85" name="Text 83"/>
          <p:cNvSpPr txBox="1"/>
          <p:nvPr/>
        </p:nvSpPr>
        <p:spPr>
          <a:xfrm>
            <a:off x="3675888" y="323697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$15,000</a:t>
            </a:r>
            <a:endParaRPr lang="en-US" sz="850" dirty="0"/>
          </a:p>
        </p:txBody>
      </p:sp>
      <p:sp>
        <p:nvSpPr>
          <p:cNvPr id="86" name="Shape 84"/>
          <p:cNvSpPr/>
          <p:nvPr/>
        </p:nvSpPr>
        <p:spPr>
          <a:xfrm>
            <a:off x="4645152" y="3182112"/>
            <a:ext cx="1005840" cy="512064"/>
          </a:xfrm>
          <a:prstGeom prst="rect">
            <a:avLst/>
          </a:prstGeom>
          <a:solidFill>
            <a:srgbClr val="F2F4F5"/>
          </a:solidFill>
          <a:ln w="12700">
            <a:solidFill>
              <a:srgbClr val="CBD5E1"/>
            </a:solidFill>
            <a:prstDash val="solid"/>
          </a:ln>
        </p:spPr>
      </p:sp>
      <p:sp>
        <p:nvSpPr>
          <p:cNvPr id="87" name="Text 85"/>
          <p:cNvSpPr txBox="1"/>
          <p:nvPr/>
        </p:nvSpPr>
        <p:spPr>
          <a:xfrm>
            <a:off x="4681728" y="323697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$35,000</a:t>
            </a:r>
            <a:endParaRPr lang="en-US" sz="850" dirty="0"/>
          </a:p>
        </p:txBody>
      </p:sp>
      <p:sp>
        <p:nvSpPr>
          <p:cNvPr id="88" name="Shape 86"/>
          <p:cNvSpPr/>
          <p:nvPr/>
        </p:nvSpPr>
        <p:spPr>
          <a:xfrm>
            <a:off x="5650992" y="3182112"/>
            <a:ext cx="640080" cy="512064"/>
          </a:xfrm>
          <a:prstGeom prst="rect">
            <a:avLst/>
          </a:prstGeom>
          <a:solidFill>
            <a:srgbClr val="F2F4F5"/>
          </a:solidFill>
          <a:ln w="12700">
            <a:solidFill>
              <a:srgbClr val="CBD5E1"/>
            </a:solidFill>
            <a:prstDash val="solid"/>
          </a:ln>
        </p:spPr>
      </p:sp>
      <p:sp>
        <p:nvSpPr>
          <p:cNvPr id="89" name="Text 87"/>
          <p:cNvSpPr txBox="1"/>
          <p:nvPr/>
        </p:nvSpPr>
        <p:spPr>
          <a:xfrm>
            <a:off x="5687568" y="323697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8–15d</a:t>
            </a:r>
            <a:endParaRPr lang="en-US" sz="850" dirty="0"/>
          </a:p>
        </p:txBody>
      </p:sp>
      <p:sp>
        <p:nvSpPr>
          <p:cNvPr id="90" name="Shape 88"/>
          <p:cNvSpPr/>
          <p:nvPr/>
        </p:nvSpPr>
        <p:spPr>
          <a:xfrm>
            <a:off x="6291072" y="3182112"/>
            <a:ext cx="777240" cy="512064"/>
          </a:xfrm>
          <a:prstGeom prst="rect">
            <a:avLst/>
          </a:prstGeom>
          <a:solidFill>
            <a:srgbClr val="F2F4F5"/>
          </a:solidFill>
          <a:ln w="12700">
            <a:solidFill>
              <a:srgbClr val="CBD5E1"/>
            </a:solidFill>
            <a:prstDash val="solid"/>
          </a:ln>
        </p:spPr>
      </p:sp>
      <p:sp>
        <p:nvSpPr>
          <p:cNvPr id="91" name="Text 89"/>
          <p:cNvSpPr txBox="1"/>
          <p:nvPr/>
        </p:nvSpPr>
        <p:spPr>
          <a:xfrm>
            <a:off x="6327648" y="323697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92" name="Shape 90"/>
          <p:cNvSpPr/>
          <p:nvPr/>
        </p:nvSpPr>
        <p:spPr>
          <a:xfrm>
            <a:off x="7068312" y="3182112"/>
            <a:ext cx="685800" cy="512064"/>
          </a:xfrm>
          <a:prstGeom prst="rect">
            <a:avLst/>
          </a:prstGeom>
          <a:solidFill>
            <a:srgbClr val="F2F4F5"/>
          </a:solidFill>
          <a:ln w="12700">
            <a:solidFill>
              <a:srgbClr val="CBD5E1"/>
            </a:solidFill>
            <a:prstDash val="solid"/>
          </a:ln>
        </p:spPr>
      </p:sp>
      <p:sp>
        <p:nvSpPr>
          <p:cNvPr id="93" name="Text 91"/>
          <p:cNvSpPr txBox="1"/>
          <p:nvPr/>
        </p:nvSpPr>
        <p:spPr>
          <a:xfrm>
            <a:off x="7104888" y="323697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Med</a:t>
            </a:r>
            <a:endParaRPr lang="en-US" sz="850" dirty="0"/>
          </a:p>
        </p:txBody>
      </p:sp>
      <p:sp>
        <p:nvSpPr>
          <p:cNvPr id="94" name="Shape 92"/>
          <p:cNvSpPr/>
          <p:nvPr/>
        </p:nvSpPr>
        <p:spPr>
          <a:xfrm>
            <a:off x="7754112" y="3182112"/>
            <a:ext cx="822960" cy="512064"/>
          </a:xfrm>
          <a:prstGeom prst="rect">
            <a:avLst/>
          </a:prstGeom>
          <a:solidFill>
            <a:srgbClr val="F2F4F5"/>
          </a:solidFill>
          <a:ln w="12700">
            <a:solidFill>
              <a:srgbClr val="CBD5E1"/>
            </a:solidFill>
            <a:prstDash val="solid"/>
          </a:ln>
        </p:spPr>
      </p:sp>
      <p:sp>
        <p:nvSpPr>
          <p:cNvPr id="95" name="Text 93"/>
          <p:cNvSpPr txBox="1"/>
          <p:nvPr/>
        </p:nvSpPr>
        <p:spPr>
          <a:xfrm>
            <a:off x="7790688" y="323697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Required</a:t>
            </a:r>
            <a:endParaRPr lang="en-US" sz="850" dirty="0"/>
          </a:p>
        </p:txBody>
      </p:sp>
      <p:sp>
        <p:nvSpPr>
          <p:cNvPr id="96" name="Shape 94"/>
          <p:cNvSpPr/>
          <p:nvPr/>
        </p:nvSpPr>
        <p:spPr>
          <a:xfrm>
            <a:off x="8577072" y="3182112"/>
            <a:ext cx="777240" cy="512064"/>
          </a:xfrm>
          <a:prstGeom prst="rect">
            <a:avLst/>
          </a:prstGeom>
          <a:solidFill>
            <a:srgbClr val="F2F4F5"/>
          </a:solidFill>
          <a:ln w="12700">
            <a:solidFill>
              <a:srgbClr val="CBD5E1"/>
            </a:solidFill>
            <a:prstDash val="solid"/>
          </a:ln>
        </p:spPr>
      </p:sp>
      <p:sp>
        <p:nvSpPr>
          <p:cNvPr id="97" name="Text 95"/>
          <p:cNvSpPr txBox="1"/>
          <p:nvPr/>
        </p:nvSpPr>
        <p:spPr>
          <a:xfrm>
            <a:off x="8613648" y="3236976"/>
            <a:ext cx="704088" cy="402336"/>
          </a:xfrm>
          <a:prstGeom prst="rect">
            <a:avLst/>
          </a:prstGeom>
          <a:noFill/>
          <a:ln/>
        </p:spPr>
        <p:txBody>
          <a:bodyPr wrap="square" lIns="0" tIns="0" rIns="0" bIns="0" rtlCol="0" anchor="ctr"/>
          <a:lstStyle/>
          <a:p>
            <a:pPr algn="ctr" indent="0" marL="0">
              <a:buNone/>
            </a:pPr>
            <a:r>
              <a:rPr lang="en-US" sz="850" dirty="0">
                <a:solidFill>
                  <a:srgbClr val="1A5FA8"/>
                </a:solidFill>
                <a:latin typeface="Calibri" pitchFamily="34" charset="0"/>
                <a:ea typeface="Calibri" pitchFamily="34" charset="-122"/>
                <a:cs typeface="Calibri" pitchFamily="34" charset="-120"/>
              </a:rPr>
              <a:t>Med ~</a:t>
            </a:r>
            <a:endParaRPr lang="en-US" sz="850" dirty="0"/>
          </a:p>
        </p:txBody>
      </p:sp>
      <p:sp>
        <p:nvSpPr>
          <p:cNvPr id="98" name="Shape 96"/>
          <p:cNvSpPr/>
          <p:nvPr/>
        </p:nvSpPr>
        <p:spPr>
          <a:xfrm>
            <a:off x="256032" y="3730752"/>
            <a:ext cx="2331720" cy="512064"/>
          </a:xfrm>
          <a:prstGeom prst="rect">
            <a:avLst/>
          </a:prstGeom>
          <a:solidFill>
            <a:srgbClr val="FFFFFF"/>
          </a:solidFill>
          <a:ln w="12700">
            <a:solidFill>
              <a:srgbClr val="CBD5E1"/>
            </a:solidFill>
            <a:prstDash val="solid"/>
          </a:ln>
        </p:spPr>
      </p:sp>
      <p:sp>
        <p:nvSpPr>
          <p:cNvPr id="99" name="Text 97"/>
          <p:cNvSpPr txBox="1"/>
          <p:nvPr/>
        </p:nvSpPr>
        <p:spPr>
          <a:xfrm>
            <a:off x="292608" y="378561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DB Right-Sizing†</a:t>
            </a:r>
            <a:endParaRPr lang="en-US" sz="850" dirty="0"/>
          </a:p>
        </p:txBody>
      </p:sp>
      <p:sp>
        <p:nvSpPr>
          <p:cNvPr id="100" name="Shape 98"/>
          <p:cNvSpPr/>
          <p:nvPr/>
        </p:nvSpPr>
        <p:spPr>
          <a:xfrm>
            <a:off x="2587752" y="3730752"/>
            <a:ext cx="1051560" cy="512064"/>
          </a:xfrm>
          <a:prstGeom prst="rect">
            <a:avLst/>
          </a:prstGeom>
          <a:solidFill>
            <a:srgbClr val="FFFFFF"/>
          </a:solidFill>
          <a:ln w="12700">
            <a:solidFill>
              <a:srgbClr val="CBD5E1"/>
            </a:solidFill>
            <a:prstDash val="solid"/>
          </a:ln>
        </p:spPr>
      </p:sp>
      <p:sp>
        <p:nvSpPr>
          <p:cNvPr id="101" name="Text 99"/>
          <p:cNvSpPr txBox="1"/>
          <p:nvPr/>
        </p:nvSpPr>
        <p:spPr>
          <a:xfrm>
            <a:off x="2624328" y="378561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$4,672</a:t>
            </a:r>
            <a:endParaRPr lang="en-US" sz="850" dirty="0"/>
          </a:p>
        </p:txBody>
      </p:sp>
      <p:sp>
        <p:nvSpPr>
          <p:cNvPr id="102" name="Shape 100"/>
          <p:cNvSpPr/>
          <p:nvPr/>
        </p:nvSpPr>
        <p:spPr>
          <a:xfrm>
            <a:off x="3639312" y="3730752"/>
            <a:ext cx="1005840" cy="512064"/>
          </a:xfrm>
          <a:prstGeom prst="rect">
            <a:avLst/>
          </a:prstGeom>
          <a:solidFill>
            <a:srgbClr val="FFFFFF"/>
          </a:solidFill>
          <a:ln w="12700">
            <a:solidFill>
              <a:srgbClr val="CBD5E1"/>
            </a:solidFill>
            <a:prstDash val="solid"/>
          </a:ln>
        </p:spPr>
      </p:sp>
      <p:sp>
        <p:nvSpPr>
          <p:cNvPr id="103" name="Text 101"/>
          <p:cNvSpPr txBox="1"/>
          <p:nvPr/>
        </p:nvSpPr>
        <p:spPr>
          <a:xfrm>
            <a:off x="3675888" y="378561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$2,800</a:t>
            </a:r>
            <a:endParaRPr lang="en-US" sz="850" dirty="0"/>
          </a:p>
        </p:txBody>
      </p:sp>
      <p:sp>
        <p:nvSpPr>
          <p:cNvPr id="104" name="Shape 102"/>
          <p:cNvSpPr/>
          <p:nvPr/>
        </p:nvSpPr>
        <p:spPr>
          <a:xfrm>
            <a:off x="4645152" y="3730752"/>
            <a:ext cx="1005840" cy="512064"/>
          </a:xfrm>
          <a:prstGeom prst="rect">
            <a:avLst/>
          </a:prstGeom>
          <a:solidFill>
            <a:srgbClr val="FFFFFF"/>
          </a:solidFill>
          <a:ln w="12700">
            <a:solidFill>
              <a:srgbClr val="CBD5E1"/>
            </a:solidFill>
            <a:prstDash val="solid"/>
          </a:ln>
        </p:spPr>
      </p:sp>
      <p:sp>
        <p:nvSpPr>
          <p:cNvPr id="105" name="Text 103"/>
          <p:cNvSpPr txBox="1"/>
          <p:nvPr/>
        </p:nvSpPr>
        <p:spPr>
          <a:xfrm>
            <a:off x="4681728" y="378561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$5,200</a:t>
            </a:r>
            <a:endParaRPr lang="en-US" sz="850" dirty="0"/>
          </a:p>
        </p:txBody>
      </p:sp>
      <p:sp>
        <p:nvSpPr>
          <p:cNvPr id="106" name="Shape 104"/>
          <p:cNvSpPr/>
          <p:nvPr/>
        </p:nvSpPr>
        <p:spPr>
          <a:xfrm>
            <a:off x="5650992" y="3730752"/>
            <a:ext cx="640080" cy="512064"/>
          </a:xfrm>
          <a:prstGeom prst="rect">
            <a:avLst/>
          </a:prstGeom>
          <a:solidFill>
            <a:srgbClr val="FFFFFF"/>
          </a:solidFill>
          <a:ln w="12700">
            <a:solidFill>
              <a:srgbClr val="CBD5E1"/>
            </a:solidFill>
            <a:prstDash val="solid"/>
          </a:ln>
        </p:spPr>
      </p:sp>
      <p:sp>
        <p:nvSpPr>
          <p:cNvPr id="107" name="Text 105"/>
          <p:cNvSpPr txBox="1"/>
          <p:nvPr/>
        </p:nvSpPr>
        <p:spPr>
          <a:xfrm>
            <a:off x="5687568" y="378561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5–8d</a:t>
            </a:r>
            <a:endParaRPr lang="en-US" sz="850" dirty="0"/>
          </a:p>
        </p:txBody>
      </p:sp>
      <p:sp>
        <p:nvSpPr>
          <p:cNvPr id="108" name="Shape 106"/>
          <p:cNvSpPr/>
          <p:nvPr/>
        </p:nvSpPr>
        <p:spPr>
          <a:xfrm>
            <a:off x="6291072" y="3730752"/>
            <a:ext cx="777240" cy="512064"/>
          </a:xfrm>
          <a:prstGeom prst="rect">
            <a:avLst/>
          </a:prstGeom>
          <a:solidFill>
            <a:srgbClr val="FFFFFF"/>
          </a:solidFill>
          <a:ln w="12700">
            <a:solidFill>
              <a:srgbClr val="CBD5E1"/>
            </a:solidFill>
            <a:prstDash val="solid"/>
          </a:ln>
        </p:spPr>
      </p:sp>
      <p:sp>
        <p:nvSpPr>
          <p:cNvPr id="109" name="Text 107"/>
          <p:cNvSpPr txBox="1"/>
          <p:nvPr/>
        </p:nvSpPr>
        <p:spPr>
          <a:xfrm>
            <a:off x="6327648" y="378561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110" name="Shape 108"/>
          <p:cNvSpPr/>
          <p:nvPr/>
        </p:nvSpPr>
        <p:spPr>
          <a:xfrm>
            <a:off x="7068312" y="3730752"/>
            <a:ext cx="685800" cy="512064"/>
          </a:xfrm>
          <a:prstGeom prst="rect">
            <a:avLst/>
          </a:prstGeom>
          <a:solidFill>
            <a:srgbClr val="FFFFFF"/>
          </a:solidFill>
          <a:ln w="12700">
            <a:solidFill>
              <a:srgbClr val="CBD5E1"/>
            </a:solidFill>
            <a:prstDash val="solid"/>
          </a:ln>
        </p:spPr>
      </p:sp>
      <p:sp>
        <p:nvSpPr>
          <p:cNvPr id="111" name="Text 109"/>
          <p:cNvSpPr txBox="1"/>
          <p:nvPr/>
        </p:nvSpPr>
        <p:spPr>
          <a:xfrm>
            <a:off x="7104888" y="378561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Med</a:t>
            </a:r>
            <a:endParaRPr lang="en-US" sz="850" dirty="0"/>
          </a:p>
        </p:txBody>
      </p:sp>
      <p:sp>
        <p:nvSpPr>
          <p:cNvPr id="112" name="Shape 110"/>
          <p:cNvSpPr/>
          <p:nvPr/>
        </p:nvSpPr>
        <p:spPr>
          <a:xfrm>
            <a:off x="7754112" y="3730752"/>
            <a:ext cx="822960" cy="512064"/>
          </a:xfrm>
          <a:prstGeom prst="rect">
            <a:avLst/>
          </a:prstGeom>
          <a:solidFill>
            <a:srgbClr val="FFFFFF"/>
          </a:solidFill>
          <a:ln w="12700">
            <a:solidFill>
              <a:srgbClr val="CBD5E1"/>
            </a:solidFill>
            <a:prstDash val="solid"/>
          </a:ln>
        </p:spPr>
      </p:sp>
      <p:sp>
        <p:nvSpPr>
          <p:cNvPr id="113" name="Text 111"/>
          <p:cNvSpPr txBox="1"/>
          <p:nvPr/>
        </p:nvSpPr>
        <p:spPr>
          <a:xfrm>
            <a:off x="7790688" y="378561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Required</a:t>
            </a:r>
            <a:endParaRPr lang="en-US" sz="850" dirty="0"/>
          </a:p>
        </p:txBody>
      </p:sp>
      <p:sp>
        <p:nvSpPr>
          <p:cNvPr id="114" name="Shape 112"/>
          <p:cNvSpPr/>
          <p:nvPr/>
        </p:nvSpPr>
        <p:spPr>
          <a:xfrm>
            <a:off x="8577072" y="3730752"/>
            <a:ext cx="777240" cy="512064"/>
          </a:xfrm>
          <a:prstGeom prst="rect">
            <a:avLst/>
          </a:prstGeom>
          <a:solidFill>
            <a:srgbClr val="FFFFFF"/>
          </a:solidFill>
          <a:ln w="12700">
            <a:solidFill>
              <a:srgbClr val="CBD5E1"/>
            </a:solidFill>
            <a:prstDash val="solid"/>
          </a:ln>
        </p:spPr>
      </p:sp>
      <p:sp>
        <p:nvSpPr>
          <p:cNvPr id="115" name="Text 113"/>
          <p:cNvSpPr txBox="1"/>
          <p:nvPr/>
        </p:nvSpPr>
        <p:spPr>
          <a:xfrm>
            <a:off x="8613648" y="3785616"/>
            <a:ext cx="704088" cy="402336"/>
          </a:xfrm>
          <a:prstGeom prst="rect">
            <a:avLst/>
          </a:prstGeom>
          <a:noFill/>
          <a:ln/>
        </p:spPr>
        <p:txBody>
          <a:bodyPr wrap="square" lIns="0" tIns="0" rIns="0" bIns="0" rtlCol="0" anchor="ctr"/>
          <a:lstStyle/>
          <a:p>
            <a:pPr algn="ctr" indent="0" marL="0">
              <a:buNone/>
            </a:pPr>
            <a:r>
              <a:rPr lang="en-US" sz="850" dirty="0">
                <a:solidFill>
                  <a:srgbClr val="E07B00"/>
                </a:solidFill>
                <a:latin typeface="Calibri" pitchFamily="34" charset="0"/>
                <a:ea typeface="Calibri" pitchFamily="34" charset="-122"/>
                <a:cs typeface="Calibri" pitchFamily="34" charset="-120"/>
              </a:rPr>
              <a:t>Cond. !</a:t>
            </a:r>
            <a:endParaRPr lang="en-US" sz="850" dirty="0"/>
          </a:p>
        </p:txBody>
      </p:sp>
      <p:sp>
        <p:nvSpPr>
          <p:cNvPr id="116" name="Shape 114"/>
          <p:cNvSpPr/>
          <p:nvPr/>
        </p:nvSpPr>
        <p:spPr>
          <a:xfrm>
            <a:off x="256032" y="4279392"/>
            <a:ext cx="2331720" cy="512064"/>
          </a:xfrm>
          <a:prstGeom prst="rect">
            <a:avLst/>
          </a:prstGeom>
          <a:solidFill>
            <a:srgbClr val="F2F4F5"/>
          </a:solidFill>
          <a:ln w="12700">
            <a:solidFill>
              <a:srgbClr val="CBD5E1"/>
            </a:solidFill>
            <a:prstDash val="solid"/>
          </a:ln>
        </p:spPr>
      </p:sp>
      <p:sp>
        <p:nvSpPr>
          <p:cNvPr id="117" name="Text 115"/>
          <p:cNvSpPr txBox="1"/>
          <p:nvPr/>
        </p:nvSpPr>
        <p:spPr>
          <a:xfrm>
            <a:off x="292608" y="433425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RI / Savings Plans‡</a:t>
            </a:r>
            <a:endParaRPr lang="en-US" sz="850" dirty="0"/>
          </a:p>
        </p:txBody>
      </p:sp>
      <p:sp>
        <p:nvSpPr>
          <p:cNvPr id="118" name="Shape 116"/>
          <p:cNvSpPr/>
          <p:nvPr/>
        </p:nvSpPr>
        <p:spPr>
          <a:xfrm>
            <a:off x="2587752" y="4279392"/>
            <a:ext cx="1051560" cy="512064"/>
          </a:xfrm>
          <a:prstGeom prst="rect">
            <a:avLst/>
          </a:prstGeom>
          <a:solidFill>
            <a:srgbClr val="F2F4F5"/>
          </a:solidFill>
          <a:ln w="12700">
            <a:solidFill>
              <a:srgbClr val="CBD5E1"/>
            </a:solidFill>
            <a:prstDash val="solid"/>
          </a:ln>
        </p:spPr>
      </p:sp>
      <p:sp>
        <p:nvSpPr>
          <p:cNvPr id="119" name="Text 117"/>
          <p:cNvSpPr txBox="1"/>
          <p:nvPr/>
        </p:nvSpPr>
        <p:spPr>
          <a:xfrm>
            <a:off x="2624328" y="433425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$173</a:t>
            </a:r>
            <a:endParaRPr lang="en-US" sz="850" dirty="0"/>
          </a:p>
        </p:txBody>
      </p:sp>
      <p:sp>
        <p:nvSpPr>
          <p:cNvPr id="120" name="Shape 118"/>
          <p:cNvSpPr/>
          <p:nvPr/>
        </p:nvSpPr>
        <p:spPr>
          <a:xfrm>
            <a:off x="3639312" y="4279392"/>
            <a:ext cx="1005840" cy="512064"/>
          </a:xfrm>
          <a:prstGeom prst="rect">
            <a:avLst/>
          </a:prstGeom>
          <a:solidFill>
            <a:srgbClr val="F2F4F5"/>
          </a:solidFill>
          <a:ln w="12700">
            <a:solidFill>
              <a:srgbClr val="CBD5E1"/>
            </a:solidFill>
            <a:prstDash val="solid"/>
          </a:ln>
        </p:spPr>
      </p:sp>
      <p:sp>
        <p:nvSpPr>
          <p:cNvPr id="121" name="Text 119"/>
          <p:cNvSpPr txBox="1"/>
          <p:nvPr/>
        </p:nvSpPr>
        <p:spPr>
          <a:xfrm>
            <a:off x="3675888" y="433425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$100</a:t>
            </a:r>
            <a:endParaRPr lang="en-US" sz="850" dirty="0"/>
          </a:p>
        </p:txBody>
      </p:sp>
      <p:sp>
        <p:nvSpPr>
          <p:cNvPr id="122" name="Shape 120"/>
          <p:cNvSpPr/>
          <p:nvPr/>
        </p:nvSpPr>
        <p:spPr>
          <a:xfrm>
            <a:off x="4645152" y="4279392"/>
            <a:ext cx="1005840" cy="512064"/>
          </a:xfrm>
          <a:prstGeom prst="rect">
            <a:avLst/>
          </a:prstGeom>
          <a:solidFill>
            <a:srgbClr val="F2F4F5"/>
          </a:solidFill>
          <a:ln w="12700">
            <a:solidFill>
              <a:srgbClr val="CBD5E1"/>
            </a:solidFill>
            <a:prstDash val="solid"/>
          </a:ln>
        </p:spPr>
      </p:sp>
      <p:sp>
        <p:nvSpPr>
          <p:cNvPr id="123" name="Text 121"/>
          <p:cNvSpPr txBox="1"/>
          <p:nvPr/>
        </p:nvSpPr>
        <p:spPr>
          <a:xfrm>
            <a:off x="4681728" y="433425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$350</a:t>
            </a:r>
            <a:endParaRPr lang="en-US" sz="850" dirty="0"/>
          </a:p>
        </p:txBody>
      </p:sp>
      <p:sp>
        <p:nvSpPr>
          <p:cNvPr id="124" name="Shape 122"/>
          <p:cNvSpPr/>
          <p:nvPr/>
        </p:nvSpPr>
        <p:spPr>
          <a:xfrm>
            <a:off x="5650992" y="4279392"/>
            <a:ext cx="640080" cy="512064"/>
          </a:xfrm>
          <a:prstGeom prst="rect">
            <a:avLst/>
          </a:prstGeom>
          <a:solidFill>
            <a:srgbClr val="F2F4F5"/>
          </a:solidFill>
          <a:ln w="12700">
            <a:solidFill>
              <a:srgbClr val="CBD5E1"/>
            </a:solidFill>
            <a:prstDash val="solid"/>
          </a:ln>
        </p:spPr>
      </p:sp>
      <p:sp>
        <p:nvSpPr>
          <p:cNvPr id="125" name="Text 123"/>
          <p:cNvSpPr txBox="1"/>
          <p:nvPr/>
        </p:nvSpPr>
        <p:spPr>
          <a:xfrm>
            <a:off x="5687568" y="433425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2–3d</a:t>
            </a:r>
            <a:endParaRPr lang="en-US" sz="850" dirty="0"/>
          </a:p>
        </p:txBody>
      </p:sp>
      <p:sp>
        <p:nvSpPr>
          <p:cNvPr id="126" name="Shape 124"/>
          <p:cNvSpPr/>
          <p:nvPr/>
        </p:nvSpPr>
        <p:spPr>
          <a:xfrm>
            <a:off x="6291072" y="4279392"/>
            <a:ext cx="777240" cy="512064"/>
          </a:xfrm>
          <a:prstGeom prst="rect">
            <a:avLst/>
          </a:prstGeom>
          <a:solidFill>
            <a:srgbClr val="F2F4F5"/>
          </a:solidFill>
          <a:ln w="12700">
            <a:solidFill>
              <a:srgbClr val="CBD5E1"/>
            </a:solidFill>
            <a:prstDash val="solid"/>
          </a:ln>
        </p:spPr>
      </p:sp>
      <p:sp>
        <p:nvSpPr>
          <p:cNvPr id="127" name="Text 125"/>
          <p:cNvSpPr txBox="1"/>
          <p:nvPr/>
        </p:nvSpPr>
        <p:spPr>
          <a:xfrm>
            <a:off x="6327648" y="433425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128" name="Shape 126"/>
          <p:cNvSpPr/>
          <p:nvPr/>
        </p:nvSpPr>
        <p:spPr>
          <a:xfrm>
            <a:off x="7068312" y="4279392"/>
            <a:ext cx="685800" cy="512064"/>
          </a:xfrm>
          <a:prstGeom prst="rect">
            <a:avLst/>
          </a:prstGeom>
          <a:solidFill>
            <a:srgbClr val="F2F4F5"/>
          </a:solidFill>
          <a:ln w="12700">
            <a:solidFill>
              <a:srgbClr val="CBD5E1"/>
            </a:solidFill>
            <a:prstDash val="solid"/>
          </a:ln>
        </p:spPr>
      </p:sp>
      <p:sp>
        <p:nvSpPr>
          <p:cNvPr id="129" name="Text 127"/>
          <p:cNvSpPr txBox="1"/>
          <p:nvPr/>
        </p:nvSpPr>
        <p:spPr>
          <a:xfrm>
            <a:off x="7104888" y="433425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Low</a:t>
            </a:r>
            <a:endParaRPr lang="en-US" sz="850" dirty="0"/>
          </a:p>
        </p:txBody>
      </p:sp>
      <p:sp>
        <p:nvSpPr>
          <p:cNvPr id="130" name="Shape 128"/>
          <p:cNvSpPr/>
          <p:nvPr/>
        </p:nvSpPr>
        <p:spPr>
          <a:xfrm>
            <a:off x="7754112" y="4279392"/>
            <a:ext cx="822960" cy="512064"/>
          </a:xfrm>
          <a:prstGeom prst="rect">
            <a:avLst/>
          </a:prstGeom>
          <a:solidFill>
            <a:srgbClr val="F2F4F5"/>
          </a:solidFill>
          <a:ln w="12700">
            <a:solidFill>
              <a:srgbClr val="CBD5E1"/>
            </a:solidFill>
            <a:prstDash val="solid"/>
          </a:ln>
        </p:spPr>
      </p:sp>
      <p:sp>
        <p:nvSpPr>
          <p:cNvPr id="131" name="Text 129"/>
          <p:cNvSpPr txBox="1"/>
          <p:nvPr/>
        </p:nvSpPr>
        <p:spPr>
          <a:xfrm>
            <a:off x="7790688" y="433425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None</a:t>
            </a:r>
            <a:endParaRPr lang="en-US" sz="850" dirty="0"/>
          </a:p>
        </p:txBody>
      </p:sp>
      <p:sp>
        <p:nvSpPr>
          <p:cNvPr id="132" name="Shape 130"/>
          <p:cNvSpPr/>
          <p:nvPr/>
        </p:nvSpPr>
        <p:spPr>
          <a:xfrm>
            <a:off x="8577072" y="4279392"/>
            <a:ext cx="777240" cy="512064"/>
          </a:xfrm>
          <a:prstGeom prst="rect">
            <a:avLst/>
          </a:prstGeom>
          <a:solidFill>
            <a:srgbClr val="F2F4F5"/>
          </a:solidFill>
          <a:ln w="12700">
            <a:solidFill>
              <a:srgbClr val="CBD5E1"/>
            </a:solidFill>
            <a:prstDash val="solid"/>
          </a:ln>
        </p:spPr>
      </p:sp>
      <p:sp>
        <p:nvSpPr>
          <p:cNvPr id="133" name="Text 131"/>
          <p:cNvSpPr txBox="1"/>
          <p:nvPr/>
        </p:nvSpPr>
        <p:spPr>
          <a:xfrm>
            <a:off x="8613648" y="4334256"/>
            <a:ext cx="704088" cy="402336"/>
          </a:xfrm>
          <a:prstGeom prst="rect">
            <a:avLst/>
          </a:prstGeom>
          <a:noFill/>
          <a:ln/>
        </p:spPr>
        <p:txBody>
          <a:bodyPr wrap="square" lIns="0" tIns="0" rIns="0" bIns="0" rtlCol="0" anchor="ctr"/>
          <a:lstStyle/>
          <a:p>
            <a:pPr algn="ctr" indent="0" marL="0">
              <a:buNone/>
            </a:pPr>
            <a:r>
              <a:rPr lang="en-US" sz="850" dirty="0">
                <a:solidFill>
                  <a:srgbClr val="1A5FA8"/>
                </a:solidFill>
                <a:latin typeface="Calibri" pitchFamily="34" charset="0"/>
                <a:ea typeface="Calibri" pitchFamily="34" charset="-122"/>
                <a:cs typeface="Calibri" pitchFamily="34" charset="-120"/>
              </a:rPr>
              <a:t>Low ~</a:t>
            </a:r>
            <a:endParaRPr lang="en-US" sz="850" dirty="0"/>
          </a:p>
        </p:txBody>
      </p:sp>
      <p:sp>
        <p:nvSpPr>
          <p:cNvPr id="134" name="Shape 132"/>
          <p:cNvSpPr/>
          <p:nvPr/>
        </p:nvSpPr>
        <p:spPr>
          <a:xfrm>
            <a:off x="256032" y="4828032"/>
            <a:ext cx="2331720" cy="512064"/>
          </a:xfrm>
          <a:prstGeom prst="rect">
            <a:avLst/>
          </a:prstGeom>
          <a:solidFill>
            <a:srgbClr val="FFFFFF"/>
          </a:solidFill>
          <a:ln w="12700">
            <a:solidFill>
              <a:srgbClr val="CBD5E1"/>
            </a:solidFill>
            <a:prstDash val="solid"/>
          </a:ln>
        </p:spPr>
      </p:sp>
      <p:sp>
        <p:nvSpPr>
          <p:cNvPr id="135" name="Text 133"/>
          <p:cNvSpPr txBox="1"/>
          <p:nvPr/>
        </p:nvSpPr>
        <p:spPr>
          <a:xfrm>
            <a:off x="292608" y="488289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Spot Instance Strategy</a:t>
            </a:r>
            <a:endParaRPr lang="en-US" sz="850" dirty="0"/>
          </a:p>
        </p:txBody>
      </p:sp>
      <p:sp>
        <p:nvSpPr>
          <p:cNvPr id="136" name="Shape 134"/>
          <p:cNvSpPr/>
          <p:nvPr/>
        </p:nvSpPr>
        <p:spPr>
          <a:xfrm>
            <a:off x="2587752" y="4828032"/>
            <a:ext cx="1051560" cy="512064"/>
          </a:xfrm>
          <a:prstGeom prst="rect">
            <a:avLst/>
          </a:prstGeom>
          <a:solidFill>
            <a:srgbClr val="FFFFFF"/>
          </a:solidFill>
          <a:ln w="12700">
            <a:solidFill>
              <a:srgbClr val="CBD5E1"/>
            </a:solidFill>
            <a:prstDash val="solid"/>
          </a:ln>
        </p:spPr>
      </p:sp>
      <p:sp>
        <p:nvSpPr>
          <p:cNvPr id="137" name="Text 135"/>
          <p:cNvSpPr txBox="1"/>
          <p:nvPr/>
        </p:nvSpPr>
        <p:spPr>
          <a:xfrm>
            <a:off x="2624328" y="488289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$509</a:t>
            </a:r>
            <a:endParaRPr lang="en-US" sz="850" dirty="0"/>
          </a:p>
        </p:txBody>
      </p:sp>
      <p:sp>
        <p:nvSpPr>
          <p:cNvPr id="138" name="Shape 136"/>
          <p:cNvSpPr/>
          <p:nvPr/>
        </p:nvSpPr>
        <p:spPr>
          <a:xfrm>
            <a:off x="3639312" y="4828032"/>
            <a:ext cx="1005840" cy="512064"/>
          </a:xfrm>
          <a:prstGeom prst="rect">
            <a:avLst/>
          </a:prstGeom>
          <a:solidFill>
            <a:srgbClr val="FFFFFF"/>
          </a:solidFill>
          <a:ln w="12700">
            <a:solidFill>
              <a:srgbClr val="CBD5E1"/>
            </a:solidFill>
            <a:prstDash val="solid"/>
          </a:ln>
        </p:spPr>
      </p:sp>
      <p:sp>
        <p:nvSpPr>
          <p:cNvPr id="139" name="Text 137"/>
          <p:cNvSpPr txBox="1"/>
          <p:nvPr/>
        </p:nvSpPr>
        <p:spPr>
          <a:xfrm>
            <a:off x="3675888" y="488289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$250</a:t>
            </a:r>
            <a:endParaRPr lang="en-US" sz="850" dirty="0"/>
          </a:p>
        </p:txBody>
      </p:sp>
      <p:sp>
        <p:nvSpPr>
          <p:cNvPr id="140" name="Shape 138"/>
          <p:cNvSpPr/>
          <p:nvPr/>
        </p:nvSpPr>
        <p:spPr>
          <a:xfrm>
            <a:off x="4645152" y="4828032"/>
            <a:ext cx="1005840" cy="512064"/>
          </a:xfrm>
          <a:prstGeom prst="rect">
            <a:avLst/>
          </a:prstGeom>
          <a:solidFill>
            <a:srgbClr val="FFFFFF"/>
          </a:solidFill>
          <a:ln w="12700">
            <a:solidFill>
              <a:srgbClr val="CBD5E1"/>
            </a:solidFill>
            <a:prstDash val="solid"/>
          </a:ln>
        </p:spPr>
      </p:sp>
      <p:sp>
        <p:nvSpPr>
          <p:cNvPr id="141" name="Text 139"/>
          <p:cNvSpPr txBox="1"/>
          <p:nvPr/>
        </p:nvSpPr>
        <p:spPr>
          <a:xfrm>
            <a:off x="4681728" y="488289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$900</a:t>
            </a:r>
            <a:endParaRPr lang="en-US" sz="850" dirty="0"/>
          </a:p>
        </p:txBody>
      </p:sp>
      <p:sp>
        <p:nvSpPr>
          <p:cNvPr id="142" name="Shape 140"/>
          <p:cNvSpPr/>
          <p:nvPr/>
        </p:nvSpPr>
        <p:spPr>
          <a:xfrm>
            <a:off x="5650992" y="4828032"/>
            <a:ext cx="640080" cy="512064"/>
          </a:xfrm>
          <a:prstGeom prst="rect">
            <a:avLst/>
          </a:prstGeom>
          <a:solidFill>
            <a:srgbClr val="FFFFFF"/>
          </a:solidFill>
          <a:ln w="12700">
            <a:solidFill>
              <a:srgbClr val="CBD5E1"/>
            </a:solidFill>
            <a:prstDash val="solid"/>
          </a:ln>
        </p:spPr>
      </p:sp>
      <p:sp>
        <p:nvSpPr>
          <p:cNvPr id="143" name="Text 141"/>
          <p:cNvSpPr txBox="1"/>
          <p:nvPr/>
        </p:nvSpPr>
        <p:spPr>
          <a:xfrm>
            <a:off x="5687568" y="488289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3–5d</a:t>
            </a:r>
            <a:endParaRPr lang="en-US" sz="850" dirty="0"/>
          </a:p>
        </p:txBody>
      </p:sp>
      <p:sp>
        <p:nvSpPr>
          <p:cNvPr id="144" name="Shape 142"/>
          <p:cNvSpPr/>
          <p:nvPr/>
        </p:nvSpPr>
        <p:spPr>
          <a:xfrm>
            <a:off x="6291072" y="4828032"/>
            <a:ext cx="777240" cy="512064"/>
          </a:xfrm>
          <a:prstGeom prst="rect">
            <a:avLst/>
          </a:prstGeom>
          <a:solidFill>
            <a:srgbClr val="FFFFFF"/>
          </a:solidFill>
          <a:ln w="12700">
            <a:solidFill>
              <a:srgbClr val="CBD5E1"/>
            </a:solidFill>
            <a:prstDash val="solid"/>
          </a:ln>
        </p:spPr>
      </p:sp>
      <p:sp>
        <p:nvSpPr>
          <p:cNvPr id="145" name="Text 143"/>
          <p:cNvSpPr txBox="1"/>
          <p:nvPr/>
        </p:nvSpPr>
        <p:spPr>
          <a:xfrm>
            <a:off x="6327648" y="488289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146" name="Shape 144"/>
          <p:cNvSpPr/>
          <p:nvPr/>
        </p:nvSpPr>
        <p:spPr>
          <a:xfrm>
            <a:off x="7068312" y="4828032"/>
            <a:ext cx="685800" cy="512064"/>
          </a:xfrm>
          <a:prstGeom prst="rect">
            <a:avLst/>
          </a:prstGeom>
          <a:solidFill>
            <a:srgbClr val="FFFFFF"/>
          </a:solidFill>
          <a:ln w="12700">
            <a:solidFill>
              <a:srgbClr val="CBD5E1"/>
            </a:solidFill>
            <a:prstDash val="solid"/>
          </a:ln>
        </p:spPr>
      </p:sp>
      <p:sp>
        <p:nvSpPr>
          <p:cNvPr id="147" name="Text 145"/>
          <p:cNvSpPr txBox="1"/>
          <p:nvPr/>
        </p:nvSpPr>
        <p:spPr>
          <a:xfrm>
            <a:off x="7104888" y="488289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Med</a:t>
            </a:r>
            <a:endParaRPr lang="en-US" sz="850" dirty="0"/>
          </a:p>
        </p:txBody>
      </p:sp>
      <p:sp>
        <p:nvSpPr>
          <p:cNvPr id="148" name="Shape 146"/>
          <p:cNvSpPr/>
          <p:nvPr/>
        </p:nvSpPr>
        <p:spPr>
          <a:xfrm>
            <a:off x="7754112" y="4828032"/>
            <a:ext cx="822960" cy="512064"/>
          </a:xfrm>
          <a:prstGeom prst="rect">
            <a:avLst/>
          </a:prstGeom>
          <a:solidFill>
            <a:srgbClr val="FFFFFF"/>
          </a:solidFill>
          <a:ln w="12700">
            <a:solidFill>
              <a:srgbClr val="CBD5E1"/>
            </a:solidFill>
            <a:prstDash val="solid"/>
          </a:ln>
        </p:spPr>
      </p:sp>
      <p:sp>
        <p:nvSpPr>
          <p:cNvPr id="149" name="Text 147"/>
          <p:cNvSpPr txBox="1"/>
          <p:nvPr/>
        </p:nvSpPr>
        <p:spPr>
          <a:xfrm>
            <a:off x="7790688" y="488289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None</a:t>
            </a:r>
            <a:endParaRPr lang="en-US" sz="850" dirty="0"/>
          </a:p>
        </p:txBody>
      </p:sp>
      <p:sp>
        <p:nvSpPr>
          <p:cNvPr id="150" name="Shape 148"/>
          <p:cNvSpPr/>
          <p:nvPr/>
        </p:nvSpPr>
        <p:spPr>
          <a:xfrm>
            <a:off x="8577072" y="4828032"/>
            <a:ext cx="777240" cy="512064"/>
          </a:xfrm>
          <a:prstGeom prst="rect">
            <a:avLst/>
          </a:prstGeom>
          <a:solidFill>
            <a:srgbClr val="FFFFFF"/>
          </a:solidFill>
          <a:ln w="12700">
            <a:solidFill>
              <a:srgbClr val="CBD5E1"/>
            </a:solidFill>
            <a:prstDash val="solid"/>
          </a:ln>
        </p:spPr>
      </p:sp>
      <p:sp>
        <p:nvSpPr>
          <p:cNvPr id="151" name="Text 149"/>
          <p:cNvSpPr txBox="1"/>
          <p:nvPr/>
        </p:nvSpPr>
        <p:spPr>
          <a:xfrm>
            <a:off x="8613648" y="4882896"/>
            <a:ext cx="704088" cy="402336"/>
          </a:xfrm>
          <a:prstGeom prst="rect">
            <a:avLst/>
          </a:prstGeom>
          <a:noFill/>
          <a:ln/>
        </p:spPr>
        <p:txBody>
          <a:bodyPr wrap="square" lIns="0" tIns="0" rIns="0" bIns="0" rtlCol="0" anchor="ctr"/>
          <a:lstStyle/>
          <a:p>
            <a:pPr algn="ctr" indent="0" marL="0">
              <a:buNone/>
            </a:pPr>
            <a:r>
              <a:rPr lang="en-US" sz="850" dirty="0">
                <a:solidFill>
                  <a:srgbClr val="1A5FA8"/>
                </a:solidFill>
                <a:latin typeface="Calibri" pitchFamily="34" charset="0"/>
                <a:ea typeface="Calibri" pitchFamily="34" charset="-122"/>
                <a:cs typeface="Calibri" pitchFamily="34" charset="-120"/>
              </a:rPr>
              <a:t>Med ~</a:t>
            </a:r>
            <a:endParaRPr lang="en-US" sz="850" dirty="0"/>
          </a:p>
        </p:txBody>
      </p:sp>
      <p:sp>
        <p:nvSpPr>
          <p:cNvPr id="152" name="Shape 150"/>
          <p:cNvSpPr/>
          <p:nvPr/>
        </p:nvSpPr>
        <p:spPr>
          <a:xfrm>
            <a:off x="256032" y="5376672"/>
            <a:ext cx="2331720" cy="512064"/>
          </a:xfrm>
          <a:prstGeom prst="rect">
            <a:avLst/>
          </a:prstGeom>
          <a:solidFill>
            <a:srgbClr val="F2F4F5"/>
          </a:solidFill>
          <a:ln w="12700">
            <a:solidFill>
              <a:srgbClr val="CBD5E1"/>
            </a:solidFill>
            <a:prstDash val="solid"/>
          </a:ln>
        </p:spPr>
      </p:sp>
      <p:sp>
        <p:nvSpPr>
          <p:cNvPr id="153" name="Text 151"/>
          <p:cNvSpPr txBox="1"/>
          <p:nvPr/>
        </p:nvSpPr>
        <p:spPr>
          <a:xfrm>
            <a:off x="292608" y="5431536"/>
            <a:ext cx="2258568" cy="402336"/>
          </a:xfrm>
          <a:prstGeom prst="rect">
            <a:avLst/>
          </a:prstGeom>
          <a:noFill/>
          <a:ln/>
        </p:spPr>
        <p:txBody>
          <a:bodyPr wrap="square" lIns="0" tIns="0" rIns="0" bIns="0" rtlCol="0" anchor="ctr"/>
          <a:lstStyle/>
          <a:p>
            <a:pPr algn="ctr" indent="0" marL="0">
              <a:buNone/>
            </a:pPr>
            <a:r>
              <a:rPr lang="en-US" sz="850" b="1" dirty="0">
                <a:solidFill>
                  <a:srgbClr val="3A4A5C"/>
                </a:solidFill>
                <a:latin typeface="Calibri" pitchFamily="34" charset="0"/>
                <a:ea typeface="Calibri" pitchFamily="34" charset="-122"/>
                <a:cs typeface="Calibri" pitchFamily="34" charset="-120"/>
              </a:rPr>
              <a:t>Auto-Scaling Policies</a:t>
            </a:r>
            <a:endParaRPr lang="en-US" sz="850" dirty="0"/>
          </a:p>
        </p:txBody>
      </p:sp>
      <p:sp>
        <p:nvSpPr>
          <p:cNvPr id="154" name="Shape 152"/>
          <p:cNvSpPr/>
          <p:nvPr/>
        </p:nvSpPr>
        <p:spPr>
          <a:xfrm>
            <a:off x="2587752" y="5376672"/>
            <a:ext cx="1051560" cy="512064"/>
          </a:xfrm>
          <a:prstGeom prst="rect">
            <a:avLst/>
          </a:prstGeom>
          <a:solidFill>
            <a:srgbClr val="F2F4F5"/>
          </a:solidFill>
          <a:ln w="12700">
            <a:solidFill>
              <a:srgbClr val="CBD5E1"/>
            </a:solidFill>
            <a:prstDash val="solid"/>
          </a:ln>
        </p:spPr>
      </p:sp>
      <p:sp>
        <p:nvSpPr>
          <p:cNvPr id="155" name="Text 153"/>
          <p:cNvSpPr txBox="1"/>
          <p:nvPr/>
        </p:nvSpPr>
        <p:spPr>
          <a:xfrm>
            <a:off x="2624328" y="5431536"/>
            <a:ext cx="978408" cy="402336"/>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$836</a:t>
            </a:r>
            <a:endParaRPr lang="en-US" sz="850" dirty="0"/>
          </a:p>
        </p:txBody>
      </p:sp>
      <p:sp>
        <p:nvSpPr>
          <p:cNvPr id="156" name="Shape 154"/>
          <p:cNvSpPr/>
          <p:nvPr/>
        </p:nvSpPr>
        <p:spPr>
          <a:xfrm>
            <a:off x="3639312" y="5376672"/>
            <a:ext cx="1005840" cy="512064"/>
          </a:xfrm>
          <a:prstGeom prst="rect">
            <a:avLst/>
          </a:prstGeom>
          <a:solidFill>
            <a:srgbClr val="F2F4F5"/>
          </a:solidFill>
          <a:ln w="12700">
            <a:solidFill>
              <a:srgbClr val="CBD5E1"/>
            </a:solidFill>
            <a:prstDash val="solid"/>
          </a:ln>
        </p:spPr>
      </p:sp>
      <p:sp>
        <p:nvSpPr>
          <p:cNvPr id="157" name="Text 155"/>
          <p:cNvSpPr txBox="1"/>
          <p:nvPr/>
        </p:nvSpPr>
        <p:spPr>
          <a:xfrm>
            <a:off x="3675888" y="543153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$400</a:t>
            </a:r>
            <a:endParaRPr lang="en-US" sz="850" dirty="0"/>
          </a:p>
        </p:txBody>
      </p:sp>
      <p:sp>
        <p:nvSpPr>
          <p:cNvPr id="158" name="Shape 156"/>
          <p:cNvSpPr/>
          <p:nvPr/>
        </p:nvSpPr>
        <p:spPr>
          <a:xfrm>
            <a:off x="4645152" y="5376672"/>
            <a:ext cx="1005840" cy="512064"/>
          </a:xfrm>
          <a:prstGeom prst="rect">
            <a:avLst/>
          </a:prstGeom>
          <a:solidFill>
            <a:srgbClr val="F2F4F5"/>
          </a:solidFill>
          <a:ln w="12700">
            <a:solidFill>
              <a:srgbClr val="CBD5E1"/>
            </a:solidFill>
            <a:prstDash val="solid"/>
          </a:ln>
        </p:spPr>
      </p:sp>
      <p:sp>
        <p:nvSpPr>
          <p:cNvPr id="159" name="Text 157"/>
          <p:cNvSpPr txBox="1"/>
          <p:nvPr/>
        </p:nvSpPr>
        <p:spPr>
          <a:xfrm>
            <a:off x="4681728" y="5431536"/>
            <a:ext cx="9326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$1,200</a:t>
            </a:r>
            <a:endParaRPr lang="en-US" sz="850" dirty="0"/>
          </a:p>
        </p:txBody>
      </p:sp>
      <p:sp>
        <p:nvSpPr>
          <p:cNvPr id="160" name="Shape 158"/>
          <p:cNvSpPr/>
          <p:nvPr/>
        </p:nvSpPr>
        <p:spPr>
          <a:xfrm>
            <a:off x="5650992" y="5376672"/>
            <a:ext cx="640080" cy="512064"/>
          </a:xfrm>
          <a:prstGeom prst="rect">
            <a:avLst/>
          </a:prstGeom>
          <a:solidFill>
            <a:srgbClr val="F2F4F5"/>
          </a:solidFill>
          <a:ln w="12700">
            <a:solidFill>
              <a:srgbClr val="CBD5E1"/>
            </a:solidFill>
            <a:prstDash val="solid"/>
          </a:ln>
        </p:spPr>
      </p:sp>
      <p:sp>
        <p:nvSpPr>
          <p:cNvPr id="161" name="Text 159"/>
          <p:cNvSpPr txBox="1"/>
          <p:nvPr/>
        </p:nvSpPr>
        <p:spPr>
          <a:xfrm>
            <a:off x="5687568" y="5431536"/>
            <a:ext cx="56692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5–8d</a:t>
            </a:r>
            <a:endParaRPr lang="en-US" sz="850" dirty="0"/>
          </a:p>
        </p:txBody>
      </p:sp>
      <p:sp>
        <p:nvSpPr>
          <p:cNvPr id="162" name="Shape 160"/>
          <p:cNvSpPr/>
          <p:nvPr/>
        </p:nvSpPr>
        <p:spPr>
          <a:xfrm>
            <a:off x="6291072" y="5376672"/>
            <a:ext cx="777240" cy="512064"/>
          </a:xfrm>
          <a:prstGeom prst="rect">
            <a:avLst/>
          </a:prstGeom>
          <a:solidFill>
            <a:srgbClr val="F2F4F5"/>
          </a:solidFill>
          <a:ln w="12700">
            <a:solidFill>
              <a:srgbClr val="CBD5E1"/>
            </a:solidFill>
            <a:prstDash val="solid"/>
          </a:ln>
        </p:spPr>
      </p:sp>
      <p:sp>
        <p:nvSpPr>
          <p:cNvPr id="163" name="Text 161"/>
          <p:cNvSpPr txBox="1"/>
          <p:nvPr/>
        </p:nvSpPr>
        <p:spPr>
          <a:xfrm>
            <a:off x="6327648" y="5431536"/>
            <a:ext cx="70408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a:t>
            </a:r>
            <a:endParaRPr lang="en-US" sz="850" dirty="0"/>
          </a:p>
        </p:txBody>
      </p:sp>
      <p:sp>
        <p:nvSpPr>
          <p:cNvPr id="164" name="Shape 162"/>
          <p:cNvSpPr/>
          <p:nvPr/>
        </p:nvSpPr>
        <p:spPr>
          <a:xfrm>
            <a:off x="7068312" y="5376672"/>
            <a:ext cx="685800" cy="512064"/>
          </a:xfrm>
          <a:prstGeom prst="rect">
            <a:avLst/>
          </a:prstGeom>
          <a:solidFill>
            <a:srgbClr val="F2F4F5"/>
          </a:solidFill>
          <a:ln w="12700">
            <a:solidFill>
              <a:srgbClr val="CBD5E1"/>
            </a:solidFill>
            <a:prstDash val="solid"/>
          </a:ln>
        </p:spPr>
      </p:sp>
      <p:sp>
        <p:nvSpPr>
          <p:cNvPr id="165" name="Text 163"/>
          <p:cNvSpPr txBox="1"/>
          <p:nvPr/>
        </p:nvSpPr>
        <p:spPr>
          <a:xfrm>
            <a:off x="7104888" y="5431536"/>
            <a:ext cx="61264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Low</a:t>
            </a:r>
            <a:endParaRPr lang="en-US" sz="850" dirty="0"/>
          </a:p>
        </p:txBody>
      </p:sp>
      <p:sp>
        <p:nvSpPr>
          <p:cNvPr id="166" name="Shape 164"/>
          <p:cNvSpPr/>
          <p:nvPr/>
        </p:nvSpPr>
        <p:spPr>
          <a:xfrm>
            <a:off x="7754112" y="5376672"/>
            <a:ext cx="822960" cy="512064"/>
          </a:xfrm>
          <a:prstGeom prst="rect">
            <a:avLst/>
          </a:prstGeom>
          <a:solidFill>
            <a:srgbClr val="F2F4F5"/>
          </a:solidFill>
          <a:ln w="12700">
            <a:solidFill>
              <a:srgbClr val="CBD5E1"/>
            </a:solidFill>
            <a:prstDash val="solid"/>
          </a:ln>
        </p:spPr>
      </p:sp>
      <p:sp>
        <p:nvSpPr>
          <p:cNvPr id="167" name="Text 165"/>
          <p:cNvSpPr txBox="1"/>
          <p:nvPr/>
        </p:nvSpPr>
        <p:spPr>
          <a:xfrm>
            <a:off x="7790688" y="5431536"/>
            <a:ext cx="749808" cy="402336"/>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None</a:t>
            </a:r>
            <a:endParaRPr lang="en-US" sz="850" dirty="0"/>
          </a:p>
        </p:txBody>
      </p:sp>
      <p:sp>
        <p:nvSpPr>
          <p:cNvPr id="168" name="Shape 166"/>
          <p:cNvSpPr/>
          <p:nvPr/>
        </p:nvSpPr>
        <p:spPr>
          <a:xfrm>
            <a:off x="8577072" y="5376672"/>
            <a:ext cx="777240" cy="512064"/>
          </a:xfrm>
          <a:prstGeom prst="rect">
            <a:avLst/>
          </a:prstGeom>
          <a:solidFill>
            <a:srgbClr val="F2F4F5"/>
          </a:solidFill>
          <a:ln w="12700">
            <a:solidFill>
              <a:srgbClr val="CBD5E1"/>
            </a:solidFill>
            <a:prstDash val="solid"/>
          </a:ln>
        </p:spPr>
      </p:sp>
      <p:sp>
        <p:nvSpPr>
          <p:cNvPr id="169" name="Text 167"/>
          <p:cNvSpPr txBox="1"/>
          <p:nvPr/>
        </p:nvSpPr>
        <p:spPr>
          <a:xfrm>
            <a:off x="8613648" y="5431536"/>
            <a:ext cx="704088" cy="402336"/>
          </a:xfrm>
          <a:prstGeom prst="rect">
            <a:avLst/>
          </a:prstGeom>
          <a:noFill/>
          <a:ln/>
        </p:spPr>
        <p:txBody>
          <a:bodyPr wrap="square" lIns="0" tIns="0" rIns="0" bIns="0" rtlCol="0" anchor="ctr"/>
          <a:lstStyle/>
          <a:p>
            <a:pPr algn="ctr" indent="0" marL="0">
              <a:buNone/>
            </a:pPr>
            <a:r>
              <a:rPr lang="en-US" sz="850" dirty="0">
                <a:solidFill>
                  <a:srgbClr val="1A5FA8"/>
                </a:solidFill>
                <a:latin typeface="Calibri" pitchFamily="34" charset="0"/>
                <a:ea typeface="Calibri" pitchFamily="34" charset="-122"/>
                <a:cs typeface="Calibri" pitchFamily="34" charset="-120"/>
              </a:rPr>
              <a:t>Med ~</a:t>
            </a:r>
            <a:endParaRPr lang="en-US" sz="850" dirty="0"/>
          </a:p>
        </p:txBody>
      </p:sp>
      <p:sp>
        <p:nvSpPr>
          <p:cNvPr id="170" name="Shape 168"/>
          <p:cNvSpPr/>
          <p:nvPr/>
        </p:nvSpPr>
        <p:spPr>
          <a:xfrm>
            <a:off x="256032" y="5925312"/>
            <a:ext cx="2331720" cy="512064"/>
          </a:xfrm>
          <a:prstGeom prst="rect">
            <a:avLst/>
          </a:prstGeom>
          <a:solidFill>
            <a:srgbClr val="000000"/>
          </a:solidFill>
          <a:ln w="12700">
            <a:solidFill>
              <a:srgbClr val="CBD5E1"/>
            </a:solidFill>
            <a:prstDash val="solid"/>
          </a:ln>
        </p:spPr>
      </p:sp>
      <p:sp>
        <p:nvSpPr>
          <p:cNvPr id="171" name="Text 169"/>
          <p:cNvSpPr txBox="1"/>
          <p:nvPr/>
        </p:nvSpPr>
        <p:spPr>
          <a:xfrm>
            <a:off x="292608" y="5980176"/>
            <a:ext cx="2258568" cy="402336"/>
          </a:xfrm>
          <a:prstGeom prst="rect">
            <a:avLst/>
          </a:prstGeom>
          <a:noFill/>
          <a:ln/>
        </p:spPr>
        <p:txBody>
          <a:bodyPr wrap="square" lIns="0" tIns="0" rIns="0" bIns="0" rtlCol="0" anchor="ctr"/>
          <a:lstStyle/>
          <a:p>
            <a:pPr algn="ctr" indent="0" marL="0">
              <a:buNone/>
            </a:pPr>
            <a:r>
              <a:rPr lang="en-US" sz="950" b="1" dirty="0">
                <a:solidFill>
                  <a:srgbClr val="0F2D56"/>
                </a:solidFill>
                <a:latin typeface="Calibri" pitchFamily="34" charset="0"/>
                <a:ea typeface="Calibri" pitchFamily="34" charset="-122"/>
                <a:cs typeface="Calibri" pitchFamily="34" charset="-120"/>
              </a:rPr>
              <a:t>Total Expected</a:t>
            </a:r>
            <a:endParaRPr lang="en-US" sz="950" dirty="0"/>
          </a:p>
        </p:txBody>
      </p:sp>
      <p:sp>
        <p:nvSpPr>
          <p:cNvPr id="172" name="Shape 170"/>
          <p:cNvSpPr/>
          <p:nvPr/>
        </p:nvSpPr>
        <p:spPr>
          <a:xfrm>
            <a:off x="2587752" y="5925312"/>
            <a:ext cx="1051560" cy="512064"/>
          </a:xfrm>
          <a:prstGeom prst="rect">
            <a:avLst/>
          </a:prstGeom>
          <a:solidFill>
            <a:srgbClr val="000000"/>
          </a:solidFill>
          <a:ln w="12700">
            <a:solidFill>
              <a:srgbClr val="CBD5E1"/>
            </a:solidFill>
            <a:prstDash val="solid"/>
          </a:ln>
        </p:spPr>
      </p:sp>
      <p:sp>
        <p:nvSpPr>
          <p:cNvPr id="173" name="Text 171"/>
          <p:cNvSpPr txBox="1"/>
          <p:nvPr/>
        </p:nvSpPr>
        <p:spPr>
          <a:xfrm>
            <a:off x="2624328" y="5980176"/>
            <a:ext cx="978408" cy="402336"/>
          </a:xfrm>
          <a:prstGeom prst="rect">
            <a:avLst/>
          </a:prstGeom>
          <a:noFill/>
          <a:ln/>
        </p:spPr>
        <p:txBody>
          <a:bodyPr wrap="square" lIns="0" tIns="0" rIns="0" bIns="0" rtlCol="0" anchor="ctr"/>
          <a:lstStyle/>
          <a:p>
            <a:pPr algn="ctr" indent="0" marL="0">
              <a:buNone/>
            </a:pPr>
            <a:r>
              <a:rPr lang="en-US" sz="950" b="1" dirty="0">
                <a:solidFill>
                  <a:srgbClr val="1A8A4A"/>
                </a:solidFill>
                <a:latin typeface="Calibri" pitchFamily="34" charset="0"/>
                <a:ea typeface="Calibri" pitchFamily="34" charset="-122"/>
                <a:cs typeface="Calibri" pitchFamily="34" charset="-120"/>
              </a:rPr>
              <a:t>$51,678</a:t>
            </a:r>
            <a:endParaRPr lang="en-US" sz="950" dirty="0"/>
          </a:p>
        </p:txBody>
      </p:sp>
      <p:sp>
        <p:nvSpPr>
          <p:cNvPr id="174" name="Shape 172"/>
          <p:cNvSpPr/>
          <p:nvPr/>
        </p:nvSpPr>
        <p:spPr>
          <a:xfrm>
            <a:off x="3639312" y="5925312"/>
            <a:ext cx="1005840" cy="512064"/>
          </a:xfrm>
          <a:prstGeom prst="rect">
            <a:avLst/>
          </a:prstGeom>
          <a:solidFill>
            <a:srgbClr val="000000"/>
          </a:solidFill>
          <a:ln w="12700">
            <a:solidFill>
              <a:srgbClr val="CBD5E1"/>
            </a:solidFill>
            <a:prstDash val="solid"/>
          </a:ln>
        </p:spPr>
      </p:sp>
      <p:sp>
        <p:nvSpPr>
          <p:cNvPr id="175" name="Text 173"/>
          <p:cNvSpPr txBox="1"/>
          <p:nvPr/>
        </p:nvSpPr>
        <p:spPr>
          <a:xfrm>
            <a:off x="3675888" y="5980176"/>
            <a:ext cx="93268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$31,376</a:t>
            </a:r>
            <a:endParaRPr lang="en-US" sz="950" dirty="0"/>
          </a:p>
        </p:txBody>
      </p:sp>
      <p:sp>
        <p:nvSpPr>
          <p:cNvPr id="176" name="Shape 174"/>
          <p:cNvSpPr/>
          <p:nvPr/>
        </p:nvSpPr>
        <p:spPr>
          <a:xfrm>
            <a:off x="4645152" y="5925312"/>
            <a:ext cx="1005840" cy="512064"/>
          </a:xfrm>
          <a:prstGeom prst="rect">
            <a:avLst/>
          </a:prstGeom>
          <a:solidFill>
            <a:srgbClr val="000000"/>
          </a:solidFill>
          <a:ln w="12700">
            <a:solidFill>
              <a:srgbClr val="CBD5E1"/>
            </a:solidFill>
            <a:prstDash val="solid"/>
          </a:ln>
        </p:spPr>
      </p:sp>
      <p:sp>
        <p:nvSpPr>
          <p:cNvPr id="177" name="Text 175"/>
          <p:cNvSpPr txBox="1"/>
          <p:nvPr/>
        </p:nvSpPr>
        <p:spPr>
          <a:xfrm>
            <a:off x="4681728" y="5980176"/>
            <a:ext cx="93268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$53,904</a:t>
            </a:r>
            <a:endParaRPr lang="en-US" sz="950" dirty="0"/>
          </a:p>
        </p:txBody>
      </p:sp>
      <p:sp>
        <p:nvSpPr>
          <p:cNvPr id="178" name="Shape 176"/>
          <p:cNvSpPr/>
          <p:nvPr/>
        </p:nvSpPr>
        <p:spPr>
          <a:xfrm>
            <a:off x="5650992" y="5925312"/>
            <a:ext cx="640080" cy="512064"/>
          </a:xfrm>
          <a:prstGeom prst="rect">
            <a:avLst/>
          </a:prstGeom>
          <a:solidFill>
            <a:srgbClr val="000000"/>
          </a:solidFill>
          <a:ln w="12700">
            <a:solidFill>
              <a:srgbClr val="CBD5E1"/>
            </a:solidFill>
            <a:prstDash val="solid"/>
          </a:ln>
        </p:spPr>
      </p:sp>
      <p:sp>
        <p:nvSpPr>
          <p:cNvPr id="179" name="Text 177"/>
          <p:cNvSpPr txBox="1"/>
          <p:nvPr/>
        </p:nvSpPr>
        <p:spPr>
          <a:xfrm>
            <a:off x="5687568" y="5980176"/>
            <a:ext cx="56692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a:t>
            </a:r>
            <a:endParaRPr lang="en-US" sz="950" dirty="0"/>
          </a:p>
        </p:txBody>
      </p:sp>
      <p:sp>
        <p:nvSpPr>
          <p:cNvPr id="180" name="Shape 178"/>
          <p:cNvSpPr/>
          <p:nvPr/>
        </p:nvSpPr>
        <p:spPr>
          <a:xfrm>
            <a:off x="6291072" y="5925312"/>
            <a:ext cx="777240" cy="512064"/>
          </a:xfrm>
          <a:prstGeom prst="rect">
            <a:avLst/>
          </a:prstGeom>
          <a:solidFill>
            <a:srgbClr val="000000"/>
          </a:solidFill>
          <a:ln w="12700">
            <a:solidFill>
              <a:srgbClr val="CBD5E1"/>
            </a:solidFill>
            <a:prstDash val="solid"/>
          </a:ln>
        </p:spPr>
      </p:sp>
      <p:sp>
        <p:nvSpPr>
          <p:cNvPr id="181" name="Text 179"/>
          <p:cNvSpPr txBox="1"/>
          <p:nvPr/>
        </p:nvSpPr>
        <p:spPr>
          <a:xfrm>
            <a:off x="6327648" y="5980176"/>
            <a:ext cx="70408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a:t>
            </a:r>
            <a:endParaRPr lang="en-US" sz="950" dirty="0"/>
          </a:p>
        </p:txBody>
      </p:sp>
      <p:sp>
        <p:nvSpPr>
          <p:cNvPr id="182" name="Shape 180"/>
          <p:cNvSpPr/>
          <p:nvPr/>
        </p:nvSpPr>
        <p:spPr>
          <a:xfrm>
            <a:off x="7068312" y="5925312"/>
            <a:ext cx="685800" cy="512064"/>
          </a:xfrm>
          <a:prstGeom prst="rect">
            <a:avLst/>
          </a:prstGeom>
          <a:solidFill>
            <a:srgbClr val="000000"/>
          </a:solidFill>
          <a:ln w="12700">
            <a:solidFill>
              <a:srgbClr val="CBD5E1"/>
            </a:solidFill>
            <a:prstDash val="solid"/>
          </a:ln>
        </p:spPr>
      </p:sp>
      <p:sp>
        <p:nvSpPr>
          <p:cNvPr id="183" name="Text 181"/>
          <p:cNvSpPr txBox="1"/>
          <p:nvPr/>
        </p:nvSpPr>
        <p:spPr>
          <a:xfrm>
            <a:off x="7104888" y="5980176"/>
            <a:ext cx="61264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a:t>
            </a:r>
            <a:endParaRPr lang="en-US" sz="950" dirty="0"/>
          </a:p>
        </p:txBody>
      </p:sp>
      <p:sp>
        <p:nvSpPr>
          <p:cNvPr id="184" name="Shape 182"/>
          <p:cNvSpPr/>
          <p:nvPr/>
        </p:nvSpPr>
        <p:spPr>
          <a:xfrm>
            <a:off x="7754112" y="5925312"/>
            <a:ext cx="822960" cy="512064"/>
          </a:xfrm>
          <a:prstGeom prst="rect">
            <a:avLst/>
          </a:prstGeom>
          <a:solidFill>
            <a:srgbClr val="000000"/>
          </a:solidFill>
          <a:ln w="12700">
            <a:solidFill>
              <a:srgbClr val="CBD5E1"/>
            </a:solidFill>
            <a:prstDash val="solid"/>
          </a:ln>
        </p:spPr>
      </p:sp>
      <p:sp>
        <p:nvSpPr>
          <p:cNvPr id="185" name="Text 183"/>
          <p:cNvSpPr txBox="1"/>
          <p:nvPr/>
        </p:nvSpPr>
        <p:spPr>
          <a:xfrm>
            <a:off x="7790688" y="5980176"/>
            <a:ext cx="74980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a:t>
            </a:r>
            <a:endParaRPr lang="en-US" sz="950" dirty="0"/>
          </a:p>
        </p:txBody>
      </p:sp>
      <p:sp>
        <p:nvSpPr>
          <p:cNvPr id="186" name="Shape 184"/>
          <p:cNvSpPr/>
          <p:nvPr/>
        </p:nvSpPr>
        <p:spPr>
          <a:xfrm>
            <a:off x="8577072" y="5925312"/>
            <a:ext cx="777240" cy="512064"/>
          </a:xfrm>
          <a:prstGeom prst="rect">
            <a:avLst/>
          </a:prstGeom>
          <a:solidFill>
            <a:srgbClr val="000000"/>
          </a:solidFill>
          <a:ln w="12700">
            <a:solidFill>
              <a:srgbClr val="CBD5E1"/>
            </a:solidFill>
            <a:prstDash val="solid"/>
          </a:ln>
        </p:spPr>
      </p:sp>
      <p:sp>
        <p:nvSpPr>
          <p:cNvPr id="187" name="Text 185"/>
          <p:cNvSpPr txBox="1"/>
          <p:nvPr/>
        </p:nvSpPr>
        <p:spPr>
          <a:xfrm>
            <a:off x="8613648" y="5980176"/>
            <a:ext cx="704088" cy="402336"/>
          </a:xfrm>
          <a:prstGeom prst="rect">
            <a:avLst/>
          </a:prstGeom>
          <a:noFill/>
          <a:ln/>
        </p:spPr>
        <p:txBody>
          <a:bodyPr wrap="square" lIns="0" tIns="0" rIns="0" bIns="0" rtlCol="0" anchor="ctr"/>
          <a:lstStyle/>
          <a:p>
            <a:pPr algn="ctr" indent="0" marL="0">
              <a:buNone/>
            </a:pPr>
            <a:r>
              <a:rPr lang="en-US" sz="950" b="1" dirty="0">
                <a:solidFill>
                  <a:srgbClr val="3A4A5C"/>
                </a:solidFill>
                <a:latin typeface="Calibri" pitchFamily="34" charset="0"/>
                <a:ea typeface="Calibri" pitchFamily="34" charset="-122"/>
                <a:cs typeface="Calibri" pitchFamily="34" charset="-120"/>
              </a:rPr>
              <a:t>—</a:t>
            </a:r>
            <a:endParaRPr lang="en-US" sz="950" dirty="0"/>
          </a:p>
        </p:txBody>
      </p:sp>
      <p:sp>
        <p:nvSpPr>
          <p:cNvPr id="188" name="Text 186"/>
          <p:cNvSpPr txBox="1"/>
          <p:nvPr/>
        </p:nvSpPr>
        <p:spPr>
          <a:xfrm>
            <a:off x="256032" y="6510528"/>
            <a:ext cx="11612880" cy="228600"/>
          </a:xfrm>
          <a:prstGeom prst="rect">
            <a:avLst/>
          </a:prstGeom>
          <a:noFill/>
          <a:ln/>
        </p:spPr>
        <p:txBody>
          <a:bodyPr wrap="square" lIns="0" tIns="0" rIns="0" bIns="0" rtlCol="0" anchor="ctr"/>
          <a:lstStyle/>
          <a:p>
            <a:pPr indent="0" marL="0">
              <a:buNone/>
            </a:pPr>
            <a:r>
              <a:rPr lang="en-US" sz="750" dirty="0">
                <a:solidFill>
                  <a:srgbClr val="7F8C8D"/>
                </a:solidFill>
                <a:latin typeface="Calibri" pitchFamily="34" charset="0"/>
                <a:ea typeface="Calibri" pitchFamily="34" charset="-122"/>
                <a:cs typeface="Calibri" pitchFamily="34" charset="-120"/>
              </a:rPr>
              <a:t>* Planning estimate  † Conditional on DB metrics validation  ‡ Net risk-adjusted figure. All implementation costs TBD — not fabricated.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Risk Assessment</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Risk matrix: likelihood × impact with mitigations and owners</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11 / 18</a:t>
            </a:r>
            <a:endParaRPr lang="en-US" sz="700" dirty="0"/>
          </a:p>
        </p:txBody>
      </p:sp>
      <p:sp>
        <p:nvSpPr>
          <p:cNvPr id="8" name="Shape 6"/>
          <p:cNvSpPr/>
          <p:nvPr/>
        </p:nvSpPr>
        <p:spPr>
          <a:xfrm>
            <a:off x="274320" y="1170432"/>
            <a:ext cx="1737360" cy="320040"/>
          </a:xfrm>
          <a:prstGeom prst="rect">
            <a:avLst/>
          </a:prstGeom>
          <a:solidFill>
            <a:srgbClr val="0F2D56"/>
          </a:solidFill>
          <a:ln w="12700">
            <a:solidFill>
              <a:srgbClr val="0F2D56"/>
            </a:solidFill>
            <a:prstDash val="solid"/>
          </a:ln>
        </p:spPr>
      </p:sp>
      <p:sp>
        <p:nvSpPr>
          <p:cNvPr id="9" name="Text 7"/>
          <p:cNvSpPr txBox="1"/>
          <p:nvPr/>
        </p:nvSpPr>
        <p:spPr>
          <a:xfrm>
            <a:off x="320040" y="1170432"/>
            <a:ext cx="164592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10" name="Shape 8"/>
          <p:cNvSpPr/>
          <p:nvPr/>
        </p:nvSpPr>
        <p:spPr>
          <a:xfrm>
            <a:off x="2011680" y="1170432"/>
            <a:ext cx="822960" cy="320040"/>
          </a:xfrm>
          <a:prstGeom prst="rect">
            <a:avLst/>
          </a:prstGeom>
          <a:solidFill>
            <a:srgbClr val="0F2D56"/>
          </a:solidFill>
          <a:ln w="12700">
            <a:solidFill>
              <a:srgbClr val="0F2D56"/>
            </a:solidFill>
            <a:prstDash val="solid"/>
          </a:ln>
        </p:spPr>
      </p:sp>
      <p:sp>
        <p:nvSpPr>
          <p:cNvPr id="11" name="Text 9"/>
          <p:cNvSpPr txBox="1"/>
          <p:nvPr/>
        </p:nvSpPr>
        <p:spPr>
          <a:xfrm>
            <a:off x="2057400" y="1170432"/>
            <a:ext cx="73152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Likelihood</a:t>
            </a:r>
            <a:endParaRPr lang="en-US" sz="900" dirty="0"/>
          </a:p>
        </p:txBody>
      </p:sp>
      <p:sp>
        <p:nvSpPr>
          <p:cNvPr id="12" name="Shape 10"/>
          <p:cNvSpPr/>
          <p:nvPr/>
        </p:nvSpPr>
        <p:spPr>
          <a:xfrm>
            <a:off x="2834640" y="1170432"/>
            <a:ext cx="822960" cy="320040"/>
          </a:xfrm>
          <a:prstGeom prst="rect">
            <a:avLst/>
          </a:prstGeom>
          <a:solidFill>
            <a:srgbClr val="0F2D56"/>
          </a:solidFill>
          <a:ln w="12700">
            <a:solidFill>
              <a:srgbClr val="0F2D56"/>
            </a:solidFill>
            <a:prstDash val="solid"/>
          </a:ln>
        </p:spPr>
      </p:sp>
      <p:sp>
        <p:nvSpPr>
          <p:cNvPr id="13" name="Text 11"/>
          <p:cNvSpPr txBox="1"/>
          <p:nvPr/>
        </p:nvSpPr>
        <p:spPr>
          <a:xfrm>
            <a:off x="2880360" y="1170432"/>
            <a:ext cx="73152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Impact</a:t>
            </a:r>
            <a:endParaRPr lang="en-US" sz="900" dirty="0"/>
          </a:p>
        </p:txBody>
      </p:sp>
      <p:sp>
        <p:nvSpPr>
          <p:cNvPr id="14" name="Shape 12"/>
          <p:cNvSpPr/>
          <p:nvPr/>
        </p:nvSpPr>
        <p:spPr>
          <a:xfrm>
            <a:off x="3657600" y="1170432"/>
            <a:ext cx="6858000" cy="320040"/>
          </a:xfrm>
          <a:prstGeom prst="rect">
            <a:avLst/>
          </a:prstGeom>
          <a:solidFill>
            <a:srgbClr val="0F2D56"/>
          </a:solidFill>
          <a:ln w="12700">
            <a:solidFill>
              <a:srgbClr val="0F2D56"/>
            </a:solidFill>
            <a:prstDash val="solid"/>
          </a:ln>
        </p:spPr>
      </p:sp>
      <p:sp>
        <p:nvSpPr>
          <p:cNvPr id="15" name="Text 13"/>
          <p:cNvSpPr txBox="1"/>
          <p:nvPr/>
        </p:nvSpPr>
        <p:spPr>
          <a:xfrm>
            <a:off x="3703320" y="1170432"/>
            <a:ext cx="676656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p>
        </p:txBody>
      </p:sp>
      <p:sp>
        <p:nvSpPr>
          <p:cNvPr id="16" name="Shape 14"/>
          <p:cNvSpPr/>
          <p:nvPr/>
        </p:nvSpPr>
        <p:spPr>
          <a:xfrm>
            <a:off x="10515600" y="1170432"/>
            <a:ext cx="914400" cy="320040"/>
          </a:xfrm>
          <a:prstGeom prst="rect">
            <a:avLst/>
          </a:prstGeom>
          <a:solidFill>
            <a:srgbClr val="0F2D56"/>
          </a:solidFill>
          <a:ln w="12700">
            <a:solidFill>
              <a:srgbClr val="0F2D56"/>
            </a:solidFill>
            <a:prstDash val="solid"/>
          </a:ln>
        </p:spPr>
      </p:sp>
      <p:sp>
        <p:nvSpPr>
          <p:cNvPr id="17" name="Text 15"/>
          <p:cNvSpPr txBox="1"/>
          <p:nvPr/>
        </p:nvSpPr>
        <p:spPr>
          <a:xfrm>
            <a:off x="10561320" y="1170432"/>
            <a:ext cx="82296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p>
        </p:txBody>
      </p:sp>
      <p:sp>
        <p:nvSpPr>
          <p:cNvPr id="18" name="Shape 16"/>
          <p:cNvSpPr/>
          <p:nvPr/>
        </p:nvSpPr>
        <p:spPr>
          <a:xfrm>
            <a:off x="274320" y="1508760"/>
            <a:ext cx="1737360" cy="530352"/>
          </a:xfrm>
          <a:prstGeom prst="rect">
            <a:avLst/>
          </a:prstGeom>
          <a:solidFill>
            <a:srgbClr val="FFFFFF"/>
          </a:solidFill>
          <a:ln w="12700">
            <a:solidFill>
              <a:srgbClr val="CBD5E1"/>
            </a:solidFill>
            <a:prstDash val="solid"/>
          </a:ln>
        </p:spPr>
      </p:sp>
      <p:sp>
        <p:nvSpPr>
          <p:cNvPr id="19" name="Shape 17"/>
          <p:cNvSpPr/>
          <p:nvPr/>
        </p:nvSpPr>
        <p:spPr>
          <a:xfrm>
            <a:off x="274320" y="1508760"/>
            <a:ext cx="73152" cy="530352"/>
          </a:xfrm>
          <a:prstGeom prst="rect">
            <a:avLst/>
          </a:prstGeom>
          <a:solidFill>
            <a:srgbClr val="E07B00"/>
          </a:solidFill>
          <a:ln w="12700">
            <a:solidFill>
              <a:srgbClr val="E07B00"/>
            </a:solidFill>
            <a:prstDash val="solid"/>
          </a:ln>
        </p:spPr>
      </p:sp>
      <p:sp>
        <p:nvSpPr>
          <p:cNvPr id="20" name="Text 18"/>
          <p:cNvSpPr txBox="1"/>
          <p:nvPr/>
        </p:nvSpPr>
        <p:spPr>
          <a:xfrm>
            <a:off x="402336" y="1563624"/>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Platform Availability</a:t>
            </a:r>
            <a:endParaRPr lang="en-US" sz="900" dirty="0"/>
          </a:p>
        </p:txBody>
      </p:sp>
      <p:sp>
        <p:nvSpPr>
          <p:cNvPr id="21" name="Shape 19"/>
          <p:cNvSpPr/>
          <p:nvPr/>
        </p:nvSpPr>
        <p:spPr>
          <a:xfrm>
            <a:off x="2011680" y="1508760"/>
            <a:ext cx="822960" cy="530352"/>
          </a:xfrm>
          <a:prstGeom prst="rect">
            <a:avLst/>
          </a:prstGeom>
          <a:solidFill>
            <a:srgbClr val="FFFFFF"/>
          </a:solidFill>
          <a:ln w="12700">
            <a:solidFill>
              <a:srgbClr val="CBD5E1"/>
            </a:solidFill>
            <a:prstDash val="solid"/>
          </a:ln>
        </p:spPr>
      </p:sp>
      <p:sp>
        <p:nvSpPr>
          <p:cNvPr id="22" name="Text 20"/>
          <p:cNvSpPr txBox="1"/>
          <p:nvPr/>
        </p:nvSpPr>
        <p:spPr>
          <a:xfrm>
            <a:off x="2057400" y="1618488"/>
            <a:ext cx="731520" cy="310896"/>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Low</a:t>
            </a:r>
            <a:endParaRPr lang="en-US" sz="900" dirty="0"/>
          </a:p>
        </p:txBody>
      </p:sp>
      <p:sp>
        <p:nvSpPr>
          <p:cNvPr id="23" name="Shape 21"/>
          <p:cNvSpPr/>
          <p:nvPr/>
        </p:nvSpPr>
        <p:spPr>
          <a:xfrm>
            <a:off x="2834640" y="1508760"/>
            <a:ext cx="822960" cy="530352"/>
          </a:xfrm>
          <a:prstGeom prst="rect">
            <a:avLst/>
          </a:prstGeom>
          <a:solidFill>
            <a:srgbClr val="FFFFFF"/>
          </a:solidFill>
          <a:ln w="12700">
            <a:solidFill>
              <a:srgbClr val="CBD5E1"/>
            </a:solidFill>
            <a:prstDash val="solid"/>
          </a:ln>
        </p:spPr>
      </p:sp>
      <p:sp>
        <p:nvSpPr>
          <p:cNvPr id="24" name="Text 22"/>
          <p:cNvSpPr txBox="1"/>
          <p:nvPr/>
        </p:nvSpPr>
        <p:spPr>
          <a:xfrm>
            <a:off x="2880360" y="1563624"/>
            <a:ext cx="731520" cy="420624"/>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Critical</a:t>
            </a:r>
            <a:endParaRPr lang="en-US" sz="800" dirty="0"/>
          </a:p>
        </p:txBody>
      </p:sp>
      <p:sp>
        <p:nvSpPr>
          <p:cNvPr id="25" name="Shape 23"/>
          <p:cNvSpPr/>
          <p:nvPr/>
        </p:nvSpPr>
        <p:spPr>
          <a:xfrm>
            <a:off x="3657600" y="1508760"/>
            <a:ext cx="6858000" cy="530352"/>
          </a:xfrm>
          <a:prstGeom prst="rect">
            <a:avLst/>
          </a:prstGeom>
          <a:solidFill>
            <a:srgbClr val="FFFFFF"/>
          </a:solidFill>
          <a:ln w="12700">
            <a:solidFill>
              <a:srgbClr val="CBD5E1"/>
            </a:solidFill>
            <a:prstDash val="solid"/>
          </a:ln>
        </p:spPr>
      </p:sp>
      <p:sp>
        <p:nvSpPr>
          <p:cNvPr id="26" name="Text 24"/>
          <p:cNvSpPr txBox="1"/>
          <p:nvPr/>
        </p:nvSpPr>
        <p:spPr>
          <a:xfrm>
            <a:off x="3730752" y="1545336"/>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All production changes require load testing + rollback plan. 99.95% SLO protected.</a:t>
            </a:r>
            <a:endParaRPr lang="en-US" sz="850" dirty="0"/>
          </a:p>
        </p:txBody>
      </p:sp>
      <p:sp>
        <p:nvSpPr>
          <p:cNvPr id="27" name="Shape 25"/>
          <p:cNvSpPr/>
          <p:nvPr/>
        </p:nvSpPr>
        <p:spPr>
          <a:xfrm>
            <a:off x="10515600" y="1508760"/>
            <a:ext cx="914400" cy="530352"/>
          </a:xfrm>
          <a:prstGeom prst="rect">
            <a:avLst/>
          </a:prstGeom>
          <a:solidFill>
            <a:srgbClr val="FFFFFF"/>
          </a:solidFill>
          <a:ln w="12700">
            <a:solidFill>
              <a:srgbClr val="CBD5E1"/>
            </a:solidFill>
            <a:prstDash val="solid"/>
          </a:ln>
        </p:spPr>
      </p:sp>
      <p:sp>
        <p:nvSpPr>
          <p:cNvPr id="28" name="Text 26"/>
          <p:cNvSpPr txBox="1"/>
          <p:nvPr/>
        </p:nvSpPr>
        <p:spPr>
          <a:xfrm>
            <a:off x="10561320" y="1563624"/>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CTO / Eng</a:t>
            </a:r>
            <a:endParaRPr lang="en-US" sz="800" dirty="0"/>
          </a:p>
        </p:txBody>
      </p:sp>
      <p:sp>
        <p:nvSpPr>
          <p:cNvPr id="29" name="Shape 27"/>
          <p:cNvSpPr/>
          <p:nvPr/>
        </p:nvSpPr>
        <p:spPr>
          <a:xfrm>
            <a:off x="274320" y="2084832"/>
            <a:ext cx="1737360" cy="530352"/>
          </a:xfrm>
          <a:prstGeom prst="rect">
            <a:avLst/>
          </a:prstGeom>
          <a:solidFill>
            <a:srgbClr val="F2F4F5"/>
          </a:solidFill>
          <a:ln w="12700">
            <a:solidFill>
              <a:srgbClr val="CBD5E1"/>
            </a:solidFill>
            <a:prstDash val="solid"/>
          </a:ln>
        </p:spPr>
      </p:sp>
      <p:sp>
        <p:nvSpPr>
          <p:cNvPr id="30" name="Shape 28"/>
          <p:cNvSpPr/>
          <p:nvPr/>
        </p:nvSpPr>
        <p:spPr>
          <a:xfrm>
            <a:off x="274320" y="2084832"/>
            <a:ext cx="73152" cy="530352"/>
          </a:xfrm>
          <a:prstGeom prst="rect">
            <a:avLst/>
          </a:prstGeom>
          <a:solidFill>
            <a:srgbClr val="E07B00"/>
          </a:solidFill>
          <a:ln w="12700">
            <a:solidFill>
              <a:srgbClr val="E07B00"/>
            </a:solidFill>
            <a:prstDash val="solid"/>
          </a:ln>
        </p:spPr>
      </p:sp>
      <p:sp>
        <p:nvSpPr>
          <p:cNvPr id="31" name="Text 29"/>
          <p:cNvSpPr txBox="1"/>
          <p:nvPr/>
        </p:nvSpPr>
        <p:spPr>
          <a:xfrm>
            <a:off x="402336" y="2139696"/>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Compliance Violation</a:t>
            </a:r>
            <a:endParaRPr lang="en-US" sz="900" dirty="0"/>
          </a:p>
        </p:txBody>
      </p:sp>
      <p:sp>
        <p:nvSpPr>
          <p:cNvPr id="32" name="Shape 30"/>
          <p:cNvSpPr/>
          <p:nvPr/>
        </p:nvSpPr>
        <p:spPr>
          <a:xfrm>
            <a:off x="2011680" y="2084832"/>
            <a:ext cx="822960" cy="530352"/>
          </a:xfrm>
          <a:prstGeom prst="rect">
            <a:avLst/>
          </a:prstGeom>
          <a:solidFill>
            <a:srgbClr val="F2F4F5"/>
          </a:solidFill>
          <a:ln w="12700">
            <a:solidFill>
              <a:srgbClr val="CBD5E1"/>
            </a:solidFill>
            <a:prstDash val="solid"/>
          </a:ln>
        </p:spPr>
      </p:sp>
      <p:sp>
        <p:nvSpPr>
          <p:cNvPr id="33" name="Text 31"/>
          <p:cNvSpPr txBox="1"/>
          <p:nvPr/>
        </p:nvSpPr>
        <p:spPr>
          <a:xfrm>
            <a:off x="2057400" y="2194560"/>
            <a:ext cx="731520" cy="310896"/>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Low</a:t>
            </a:r>
            <a:endParaRPr lang="en-US" sz="900" dirty="0"/>
          </a:p>
        </p:txBody>
      </p:sp>
      <p:sp>
        <p:nvSpPr>
          <p:cNvPr id="34" name="Shape 32"/>
          <p:cNvSpPr/>
          <p:nvPr/>
        </p:nvSpPr>
        <p:spPr>
          <a:xfrm>
            <a:off x="2834640" y="2084832"/>
            <a:ext cx="822960" cy="530352"/>
          </a:xfrm>
          <a:prstGeom prst="rect">
            <a:avLst/>
          </a:prstGeom>
          <a:solidFill>
            <a:srgbClr val="F2F4F5"/>
          </a:solidFill>
          <a:ln w="12700">
            <a:solidFill>
              <a:srgbClr val="CBD5E1"/>
            </a:solidFill>
            <a:prstDash val="solid"/>
          </a:ln>
        </p:spPr>
      </p:sp>
      <p:sp>
        <p:nvSpPr>
          <p:cNvPr id="35" name="Text 33"/>
          <p:cNvSpPr txBox="1"/>
          <p:nvPr/>
        </p:nvSpPr>
        <p:spPr>
          <a:xfrm>
            <a:off x="2880360" y="2139696"/>
            <a:ext cx="731520" cy="420624"/>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Critical</a:t>
            </a:r>
            <a:endParaRPr lang="en-US" sz="800" dirty="0"/>
          </a:p>
        </p:txBody>
      </p:sp>
      <p:sp>
        <p:nvSpPr>
          <p:cNvPr id="36" name="Shape 34"/>
          <p:cNvSpPr/>
          <p:nvPr/>
        </p:nvSpPr>
        <p:spPr>
          <a:xfrm>
            <a:off x="3657600" y="2084832"/>
            <a:ext cx="6858000" cy="530352"/>
          </a:xfrm>
          <a:prstGeom prst="rect">
            <a:avLst/>
          </a:prstGeom>
          <a:solidFill>
            <a:srgbClr val="F2F4F5"/>
          </a:solidFill>
          <a:ln w="12700">
            <a:solidFill>
              <a:srgbClr val="CBD5E1"/>
            </a:solidFill>
            <a:prstDash val="solid"/>
          </a:ln>
        </p:spPr>
      </p:sp>
      <p:sp>
        <p:nvSpPr>
          <p:cNvPr id="37" name="Text 35"/>
          <p:cNvSpPr txBox="1"/>
          <p:nvPr/>
        </p:nvSpPr>
        <p:spPr>
          <a:xfrm>
            <a:off x="3730752" y="2121408"/>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Compliance review mandatory before any regulated workload change. PCI/SOC 2/RBI scope documented.</a:t>
            </a:r>
            <a:endParaRPr lang="en-US" sz="850" dirty="0"/>
          </a:p>
        </p:txBody>
      </p:sp>
      <p:sp>
        <p:nvSpPr>
          <p:cNvPr id="38" name="Shape 36"/>
          <p:cNvSpPr/>
          <p:nvPr/>
        </p:nvSpPr>
        <p:spPr>
          <a:xfrm>
            <a:off x="10515600" y="2084832"/>
            <a:ext cx="914400" cy="530352"/>
          </a:xfrm>
          <a:prstGeom prst="rect">
            <a:avLst/>
          </a:prstGeom>
          <a:solidFill>
            <a:srgbClr val="F2F4F5"/>
          </a:solidFill>
          <a:ln w="12700">
            <a:solidFill>
              <a:srgbClr val="CBD5E1"/>
            </a:solidFill>
            <a:prstDash val="solid"/>
          </a:ln>
        </p:spPr>
      </p:sp>
      <p:sp>
        <p:nvSpPr>
          <p:cNvPr id="39" name="Text 37"/>
          <p:cNvSpPr txBox="1"/>
          <p:nvPr/>
        </p:nvSpPr>
        <p:spPr>
          <a:xfrm>
            <a:off x="10561320" y="2139696"/>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Compliance</a:t>
            </a:r>
            <a:endParaRPr lang="en-US" sz="800" dirty="0"/>
          </a:p>
        </p:txBody>
      </p:sp>
      <p:sp>
        <p:nvSpPr>
          <p:cNvPr id="40" name="Shape 38"/>
          <p:cNvSpPr/>
          <p:nvPr/>
        </p:nvSpPr>
        <p:spPr>
          <a:xfrm>
            <a:off x="274320" y="2660904"/>
            <a:ext cx="1737360" cy="530352"/>
          </a:xfrm>
          <a:prstGeom prst="rect">
            <a:avLst/>
          </a:prstGeom>
          <a:solidFill>
            <a:srgbClr val="FFFFFF"/>
          </a:solidFill>
          <a:ln w="12700">
            <a:solidFill>
              <a:srgbClr val="CBD5E1"/>
            </a:solidFill>
            <a:prstDash val="solid"/>
          </a:ln>
        </p:spPr>
      </p:sp>
      <p:sp>
        <p:nvSpPr>
          <p:cNvPr id="41" name="Shape 39"/>
          <p:cNvSpPr/>
          <p:nvPr/>
        </p:nvSpPr>
        <p:spPr>
          <a:xfrm>
            <a:off x="274320" y="2660904"/>
            <a:ext cx="73152" cy="530352"/>
          </a:xfrm>
          <a:prstGeom prst="rect">
            <a:avLst/>
          </a:prstGeom>
          <a:solidFill>
            <a:srgbClr val="1A5FA8"/>
          </a:solidFill>
          <a:ln w="12700">
            <a:solidFill>
              <a:srgbClr val="1A5FA8"/>
            </a:solidFill>
            <a:prstDash val="solid"/>
          </a:ln>
        </p:spPr>
      </p:sp>
      <p:sp>
        <p:nvSpPr>
          <p:cNvPr id="42" name="Text 40"/>
          <p:cNvSpPr txBox="1"/>
          <p:nvPr/>
        </p:nvSpPr>
        <p:spPr>
          <a:xfrm>
            <a:off x="402336" y="2715768"/>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Customer Experience</a:t>
            </a:r>
            <a:endParaRPr lang="en-US" sz="900" dirty="0"/>
          </a:p>
        </p:txBody>
      </p:sp>
      <p:sp>
        <p:nvSpPr>
          <p:cNvPr id="43" name="Shape 41"/>
          <p:cNvSpPr/>
          <p:nvPr/>
        </p:nvSpPr>
        <p:spPr>
          <a:xfrm>
            <a:off x="2011680" y="2660904"/>
            <a:ext cx="822960" cy="530352"/>
          </a:xfrm>
          <a:prstGeom prst="rect">
            <a:avLst/>
          </a:prstGeom>
          <a:solidFill>
            <a:srgbClr val="FFFFFF"/>
          </a:solidFill>
          <a:ln w="12700">
            <a:solidFill>
              <a:srgbClr val="CBD5E1"/>
            </a:solidFill>
            <a:prstDash val="solid"/>
          </a:ln>
        </p:spPr>
      </p:sp>
      <p:sp>
        <p:nvSpPr>
          <p:cNvPr id="44" name="Text 42"/>
          <p:cNvSpPr txBox="1"/>
          <p:nvPr/>
        </p:nvSpPr>
        <p:spPr>
          <a:xfrm>
            <a:off x="2057400" y="2770632"/>
            <a:ext cx="731520" cy="310896"/>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Low</a:t>
            </a:r>
            <a:endParaRPr lang="en-US" sz="900" dirty="0"/>
          </a:p>
        </p:txBody>
      </p:sp>
      <p:sp>
        <p:nvSpPr>
          <p:cNvPr id="45" name="Shape 43"/>
          <p:cNvSpPr/>
          <p:nvPr/>
        </p:nvSpPr>
        <p:spPr>
          <a:xfrm>
            <a:off x="2834640" y="2660904"/>
            <a:ext cx="822960" cy="530352"/>
          </a:xfrm>
          <a:prstGeom prst="rect">
            <a:avLst/>
          </a:prstGeom>
          <a:solidFill>
            <a:srgbClr val="FFFFFF"/>
          </a:solidFill>
          <a:ln w="12700">
            <a:solidFill>
              <a:srgbClr val="CBD5E1"/>
            </a:solidFill>
            <a:prstDash val="solid"/>
          </a:ln>
        </p:spPr>
      </p:sp>
      <p:sp>
        <p:nvSpPr>
          <p:cNvPr id="46" name="Text 44"/>
          <p:cNvSpPr txBox="1"/>
          <p:nvPr/>
        </p:nvSpPr>
        <p:spPr>
          <a:xfrm>
            <a:off x="2880360" y="2715768"/>
            <a:ext cx="731520" cy="420624"/>
          </a:xfrm>
          <a:prstGeom prst="rect">
            <a:avLst/>
          </a:prstGeom>
          <a:noFill/>
          <a:ln/>
        </p:spPr>
        <p:txBody>
          <a:bodyPr wrap="square" lIns="0" tIns="0" rIns="0" bIns="0" rtlCol="0" anchor="ctr"/>
          <a:lstStyle/>
          <a:p>
            <a:pPr algn="ctr" indent="0" marL="0">
              <a:buNone/>
            </a:pPr>
            <a:r>
              <a:rPr lang="en-US" sz="800" b="1" dirty="0">
                <a:solidFill>
                  <a:srgbClr val="E07B00"/>
                </a:solidFill>
                <a:latin typeface="Calibri" pitchFamily="34" charset="0"/>
                <a:ea typeface="Calibri" pitchFamily="34" charset="-122"/>
                <a:cs typeface="Calibri" pitchFamily="34" charset="-120"/>
              </a:rPr>
              <a:t>High</a:t>
            </a:r>
            <a:endParaRPr lang="en-US" sz="800" dirty="0"/>
          </a:p>
        </p:txBody>
      </p:sp>
      <p:sp>
        <p:nvSpPr>
          <p:cNvPr id="47" name="Shape 45"/>
          <p:cNvSpPr/>
          <p:nvPr/>
        </p:nvSpPr>
        <p:spPr>
          <a:xfrm>
            <a:off x="3657600" y="2660904"/>
            <a:ext cx="6858000" cy="530352"/>
          </a:xfrm>
          <a:prstGeom prst="rect">
            <a:avLst/>
          </a:prstGeom>
          <a:solidFill>
            <a:srgbClr val="FFFFFF"/>
          </a:solidFill>
          <a:ln w="12700">
            <a:solidFill>
              <a:srgbClr val="CBD5E1"/>
            </a:solidFill>
            <a:prstDash val="solid"/>
          </a:ln>
        </p:spPr>
      </p:sp>
      <p:sp>
        <p:nvSpPr>
          <p:cNvPr id="48" name="Text 46"/>
          <p:cNvSpPr txBox="1"/>
          <p:nvPr/>
        </p:nvSpPr>
        <p:spPr>
          <a:xfrm>
            <a:off x="3730752" y="2697480"/>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Canary deployments, performance monitoring gates, immediate rollback capability.</a:t>
            </a:r>
            <a:endParaRPr lang="en-US" sz="850" dirty="0"/>
          </a:p>
        </p:txBody>
      </p:sp>
      <p:sp>
        <p:nvSpPr>
          <p:cNvPr id="49" name="Shape 47"/>
          <p:cNvSpPr/>
          <p:nvPr/>
        </p:nvSpPr>
        <p:spPr>
          <a:xfrm>
            <a:off x="10515600" y="2660904"/>
            <a:ext cx="914400" cy="530352"/>
          </a:xfrm>
          <a:prstGeom prst="rect">
            <a:avLst/>
          </a:prstGeom>
          <a:solidFill>
            <a:srgbClr val="FFFFFF"/>
          </a:solidFill>
          <a:ln w="12700">
            <a:solidFill>
              <a:srgbClr val="CBD5E1"/>
            </a:solidFill>
            <a:prstDash val="solid"/>
          </a:ln>
        </p:spPr>
      </p:sp>
      <p:sp>
        <p:nvSpPr>
          <p:cNvPr id="50" name="Text 48"/>
          <p:cNvSpPr txBox="1"/>
          <p:nvPr/>
        </p:nvSpPr>
        <p:spPr>
          <a:xfrm>
            <a:off x="10561320" y="2715768"/>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Product / Eng</a:t>
            </a:r>
            <a:endParaRPr lang="en-US" sz="800" dirty="0"/>
          </a:p>
        </p:txBody>
      </p:sp>
      <p:sp>
        <p:nvSpPr>
          <p:cNvPr id="51" name="Shape 49"/>
          <p:cNvSpPr/>
          <p:nvPr/>
        </p:nvSpPr>
        <p:spPr>
          <a:xfrm>
            <a:off x="274320" y="3236976"/>
            <a:ext cx="1737360" cy="530352"/>
          </a:xfrm>
          <a:prstGeom prst="rect">
            <a:avLst/>
          </a:prstGeom>
          <a:solidFill>
            <a:srgbClr val="F2F4F5"/>
          </a:solidFill>
          <a:ln w="12700">
            <a:solidFill>
              <a:srgbClr val="CBD5E1"/>
            </a:solidFill>
            <a:prstDash val="solid"/>
          </a:ln>
        </p:spPr>
      </p:sp>
      <p:sp>
        <p:nvSpPr>
          <p:cNvPr id="52" name="Shape 50"/>
          <p:cNvSpPr/>
          <p:nvPr/>
        </p:nvSpPr>
        <p:spPr>
          <a:xfrm>
            <a:off x="274320" y="3236976"/>
            <a:ext cx="73152" cy="530352"/>
          </a:xfrm>
          <a:prstGeom prst="rect">
            <a:avLst/>
          </a:prstGeom>
          <a:solidFill>
            <a:srgbClr val="E07B00"/>
          </a:solidFill>
          <a:ln w="12700">
            <a:solidFill>
              <a:srgbClr val="E07B00"/>
            </a:solidFill>
            <a:prstDash val="solid"/>
          </a:ln>
        </p:spPr>
      </p:sp>
      <p:sp>
        <p:nvSpPr>
          <p:cNvPr id="53" name="Text 51"/>
          <p:cNvSpPr txBox="1"/>
          <p:nvPr/>
        </p:nvSpPr>
        <p:spPr>
          <a:xfrm>
            <a:off x="402336" y="3291840"/>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Savings Not Realised</a:t>
            </a:r>
            <a:endParaRPr lang="en-US" sz="900" dirty="0"/>
          </a:p>
        </p:txBody>
      </p:sp>
      <p:sp>
        <p:nvSpPr>
          <p:cNvPr id="54" name="Shape 52"/>
          <p:cNvSpPr/>
          <p:nvPr/>
        </p:nvSpPr>
        <p:spPr>
          <a:xfrm>
            <a:off x="2011680" y="3236976"/>
            <a:ext cx="822960" cy="530352"/>
          </a:xfrm>
          <a:prstGeom prst="rect">
            <a:avLst/>
          </a:prstGeom>
          <a:solidFill>
            <a:srgbClr val="F2F4F5"/>
          </a:solidFill>
          <a:ln w="12700">
            <a:solidFill>
              <a:srgbClr val="CBD5E1"/>
            </a:solidFill>
            <a:prstDash val="solid"/>
          </a:ln>
        </p:spPr>
      </p:sp>
      <p:sp>
        <p:nvSpPr>
          <p:cNvPr id="55" name="Text 53"/>
          <p:cNvSpPr txBox="1"/>
          <p:nvPr/>
        </p:nvSpPr>
        <p:spPr>
          <a:xfrm>
            <a:off x="2057400" y="3346704"/>
            <a:ext cx="731520" cy="310896"/>
          </a:xfrm>
          <a:prstGeom prst="rect">
            <a:avLst/>
          </a:prstGeom>
          <a:noFill/>
          <a:ln/>
        </p:spPr>
        <p:txBody>
          <a:bodyPr wrap="square" lIns="0" tIns="0" rIns="0" bIns="0" rtlCol="0" anchor="ctr"/>
          <a:lstStyle/>
          <a:p>
            <a:pPr algn="ctr" indent="0" marL="0">
              <a:buNone/>
            </a:pPr>
            <a:r>
              <a:rPr lang="en-US" sz="900" b="1" dirty="0">
                <a:solidFill>
                  <a:srgbClr val="E07B00"/>
                </a:solidFill>
                <a:latin typeface="Calibri" pitchFamily="34" charset="0"/>
                <a:ea typeface="Calibri" pitchFamily="34" charset="-122"/>
                <a:cs typeface="Calibri" pitchFamily="34" charset="-120"/>
              </a:rPr>
              <a:t>Medium</a:t>
            </a:r>
            <a:endParaRPr lang="en-US" sz="900" dirty="0"/>
          </a:p>
        </p:txBody>
      </p:sp>
      <p:sp>
        <p:nvSpPr>
          <p:cNvPr id="56" name="Shape 54"/>
          <p:cNvSpPr/>
          <p:nvPr/>
        </p:nvSpPr>
        <p:spPr>
          <a:xfrm>
            <a:off x="2834640" y="3236976"/>
            <a:ext cx="822960" cy="530352"/>
          </a:xfrm>
          <a:prstGeom prst="rect">
            <a:avLst/>
          </a:prstGeom>
          <a:solidFill>
            <a:srgbClr val="F2F4F5"/>
          </a:solidFill>
          <a:ln w="12700">
            <a:solidFill>
              <a:srgbClr val="CBD5E1"/>
            </a:solidFill>
            <a:prstDash val="solid"/>
          </a:ln>
        </p:spPr>
      </p:sp>
      <p:sp>
        <p:nvSpPr>
          <p:cNvPr id="57" name="Text 55"/>
          <p:cNvSpPr txBox="1"/>
          <p:nvPr/>
        </p:nvSpPr>
        <p:spPr>
          <a:xfrm>
            <a:off x="2880360" y="3291840"/>
            <a:ext cx="731520" cy="420624"/>
          </a:xfrm>
          <a:prstGeom prst="rect">
            <a:avLst/>
          </a:prstGeom>
          <a:noFill/>
          <a:ln/>
        </p:spPr>
        <p:txBody>
          <a:bodyPr wrap="square" lIns="0" tIns="0" rIns="0" bIns="0" rtlCol="0" anchor="ctr"/>
          <a:lstStyle/>
          <a:p>
            <a:pPr algn="ctr" indent="0" marL="0">
              <a:buNone/>
            </a:pPr>
            <a:r>
              <a:rPr lang="en-US" sz="800" b="1" dirty="0">
                <a:solidFill>
                  <a:srgbClr val="E07B00"/>
                </a:solidFill>
                <a:latin typeface="Calibri" pitchFamily="34" charset="0"/>
                <a:ea typeface="Calibri" pitchFamily="34" charset="-122"/>
                <a:cs typeface="Calibri" pitchFamily="34" charset="-120"/>
              </a:rPr>
              <a:t>High</a:t>
            </a:r>
            <a:endParaRPr lang="en-US" sz="800" dirty="0"/>
          </a:p>
        </p:txBody>
      </p:sp>
      <p:sp>
        <p:nvSpPr>
          <p:cNvPr id="58" name="Shape 56"/>
          <p:cNvSpPr/>
          <p:nvPr/>
        </p:nvSpPr>
        <p:spPr>
          <a:xfrm>
            <a:off x="3657600" y="3236976"/>
            <a:ext cx="6858000" cy="530352"/>
          </a:xfrm>
          <a:prstGeom prst="rect">
            <a:avLst/>
          </a:prstGeom>
          <a:solidFill>
            <a:srgbClr val="F2F4F5"/>
          </a:solidFill>
          <a:ln w="12700">
            <a:solidFill>
              <a:srgbClr val="CBD5E1"/>
            </a:solidFill>
            <a:prstDash val="solid"/>
          </a:ln>
        </p:spPr>
      </p:sp>
      <p:sp>
        <p:nvSpPr>
          <p:cNvPr id="59" name="Text 57"/>
          <p:cNvSpPr txBox="1"/>
          <p:nvPr/>
        </p:nvSpPr>
        <p:spPr>
          <a:xfrm>
            <a:off x="3730752" y="3273552"/>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Weekly KPI tracking. Gap re-scoped at Day 45 review. Additional opportunities identified if needed.</a:t>
            </a:r>
            <a:endParaRPr lang="en-US" sz="850" dirty="0"/>
          </a:p>
        </p:txBody>
      </p:sp>
      <p:sp>
        <p:nvSpPr>
          <p:cNvPr id="60" name="Shape 58"/>
          <p:cNvSpPr/>
          <p:nvPr/>
        </p:nvSpPr>
        <p:spPr>
          <a:xfrm>
            <a:off x="10515600" y="3236976"/>
            <a:ext cx="914400" cy="530352"/>
          </a:xfrm>
          <a:prstGeom prst="rect">
            <a:avLst/>
          </a:prstGeom>
          <a:solidFill>
            <a:srgbClr val="F2F4F5"/>
          </a:solidFill>
          <a:ln w="12700">
            <a:solidFill>
              <a:srgbClr val="CBD5E1"/>
            </a:solidFill>
            <a:prstDash val="solid"/>
          </a:ln>
        </p:spPr>
      </p:sp>
      <p:sp>
        <p:nvSpPr>
          <p:cNvPr id="61" name="Text 59"/>
          <p:cNvSpPr txBox="1"/>
          <p:nvPr/>
        </p:nvSpPr>
        <p:spPr>
          <a:xfrm>
            <a:off x="10561320" y="3291840"/>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FinOps / CFO</a:t>
            </a:r>
            <a:endParaRPr lang="en-US" sz="800" dirty="0"/>
          </a:p>
        </p:txBody>
      </p:sp>
      <p:sp>
        <p:nvSpPr>
          <p:cNvPr id="62" name="Shape 60"/>
          <p:cNvSpPr/>
          <p:nvPr/>
        </p:nvSpPr>
        <p:spPr>
          <a:xfrm>
            <a:off x="274320" y="3813048"/>
            <a:ext cx="1737360" cy="530352"/>
          </a:xfrm>
          <a:prstGeom prst="rect">
            <a:avLst/>
          </a:prstGeom>
          <a:solidFill>
            <a:srgbClr val="FFFFFF"/>
          </a:solidFill>
          <a:ln w="12700">
            <a:solidFill>
              <a:srgbClr val="CBD5E1"/>
            </a:solidFill>
            <a:prstDash val="solid"/>
          </a:ln>
        </p:spPr>
      </p:sp>
      <p:sp>
        <p:nvSpPr>
          <p:cNvPr id="63" name="Shape 61"/>
          <p:cNvSpPr/>
          <p:nvPr/>
        </p:nvSpPr>
        <p:spPr>
          <a:xfrm>
            <a:off x="274320" y="3813048"/>
            <a:ext cx="73152" cy="530352"/>
          </a:xfrm>
          <a:prstGeom prst="rect">
            <a:avLst/>
          </a:prstGeom>
          <a:solidFill>
            <a:srgbClr val="1A8A4A"/>
          </a:solidFill>
          <a:ln w="12700">
            <a:solidFill>
              <a:srgbClr val="1A8A4A"/>
            </a:solidFill>
            <a:prstDash val="solid"/>
          </a:ln>
        </p:spPr>
      </p:sp>
      <p:sp>
        <p:nvSpPr>
          <p:cNvPr id="64" name="Text 62"/>
          <p:cNvSpPr txBox="1"/>
          <p:nvPr/>
        </p:nvSpPr>
        <p:spPr>
          <a:xfrm>
            <a:off x="402336" y="3867912"/>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RI Over-Commitment</a:t>
            </a:r>
            <a:endParaRPr lang="en-US" sz="900" dirty="0"/>
          </a:p>
        </p:txBody>
      </p:sp>
      <p:sp>
        <p:nvSpPr>
          <p:cNvPr id="65" name="Shape 63"/>
          <p:cNvSpPr/>
          <p:nvPr/>
        </p:nvSpPr>
        <p:spPr>
          <a:xfrm>
            <a:off x="2011680" y="3813048"/>
            <a:ext cx="822960" cy="530352"/>
          </a:xfrm>
          <a:prstGeom prst="rect">
            <a:avLst/>
          </a:prstGeom>
          <a:solidFill>
            <a:srgbClr val="FFFFFF"/>
          </a:solidFill>
          <a:ln w="12700">
            <a:solidFill>
              <a:srgbClr val="CBD5E1"/>
            </a:solidFill>
            <a:prstDash val="solid"/>
          </a:ln>
        </p:spPr>
      </p:sp>
      <p:sp>
        <p:nvSpPr>
          <p:cNvPr id="66" name="Text 64"/>
          <p:cNvSpPr txBox="1"/>
          <p:nvPr/>
        </p:nvSpPr>
        <p:spPr>
          <a:xfrm>
            <a:off x="2057400" y="3922776"/>
            <a:ext cx="731520" cy="310896"/>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Low</a:t>
            </a:r>
            <a:endParaRPr lang="en-US" sz="900" dirty="0"/>
          </a:p>
        </p:txBody>
      </p:sp>
      <p:sp>
        <p:nvSpPr>
          <p:cNvPr id="67" name="Shape 65"/>
          <p:cNvSpPr/>
          <p:nvPr/>
        </p:nvSpPr>
        <p:spPr>
          <a:xfrm>
            <a:off x="2834640" y="3813048"/>
            <a:ext cx="822960" cy="530352"/>
          </a:xfrm>
          <a:prstGeom prst="rect">
            <a:avLst/>
          </a:prstGeom>
          <a:solidFill>
            <a:srgbClr val="FFFFFF"/>
          </a:solidFill>
          <a:ln w="12700">
            <a:solidFill>
              <a:srgbClr val="CBD5E1"/>
            </a:solidFill>
            <a:prstDash val="solid"/>
          </a:ln>
        </p:spPr>
      </p:sp>
      <p:sp>
        <p:nvSpPr>
          <p:cNvPr id="68" name="Text 66"/>
          <p:cNvSpPr txBox="1"/>
          <p:nvPr/>
        </p:nvSpPr>
        <p:spPr>
          <a:xfrm>
            <a:off x="2880360" y="3867912"/>
            <a:ext cx="731520" cy="420624"/>
          </a:xfrm>
          <a:prstGeom prst="rect">
            <a:avLst/>
          </a:prstGeom>
          <a:noFill/>
          <a:ln/>
        </p:spPr>
        <p:txBody>
          <a:bodyPr wrap="square" lIns="0" tIns="0" rIns="0" bIns="0" rtlCol="0" anchor="ctr"/>
          <a:lstStyle/>
          <a:p>
            <a:pPr algn="ctr" indent="0" marL="0">
              <a:buNone/>
            </a:pPr>
            <a:r>
              <a:rPr lang="en-US" sz="800" b="1" dirty="0">
                <a:solidFill>
                  <a:srgbClr val="1A8A4A"/>
                </a:solidFill>
                <a:latin typeface="Calibri" pitchFamily="34" charset="0"/>
                <a:ea typeface="Calibri" pitchFamily="34" charset="-122"/>
                <a:cs typeface="Calibri" pitchFamily="34" charset="-120"/>
              </a:rPr>
              <a:t>Medium</a:t>
            </a:r>
            <a:endParaRPr lang="en-US" sz="800" dirty="0"/>
          </a:p>
        </p:txBody>
      </p:sp>
      <p:sp>
        <p:nvSpPr>
          <p:cNvPr id="69" name="Shape 67"/>
          <p:cNvSpPr/>
          <p:nvPr/>
        </p:nvSpPr>
        <p:spPr>
          <a:xfrm>
            <a:off x="3657600" y="3813048"/>
            <a:ext cx="6858000" cy="530352"/>
          </a:xfrm>
          <a:prstGeom prst="rect">
            <a:avLst/>
          </a:prstGeom>
          <a:solidFill>
            <a:srgbClr val="FFFFFF"/>
          </a:solidFill>
          <a:ln w="12700">
            <a:solidFill>
              <a:srgbClr val="CBD5E1"/>
            </a:solidFill>
            <a:prstDash val="solid"/>
          </a:ln>
        </p:spPr>
      </p:sp>
      <p:sp>
        <p:nvSpPr>
          <p:cNvPr id="70" name="Text 68"/>
          <p:cNvSpPr txBox="1"/>
          <p:nvPr/>
        </p:nvSpPr>
        <p:spPr>
          <a:xfrm>
            <a:off x="3730752" y="3849624"/>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1-year Partial Upfront only. Convertible RIs. No new commitments until utilisation analysis complete.</a:t>
            </a:r>
            <a:endParaRPr lang="en-US" sz="850" dirty="0"/>
          </a:p>
        </p:txBody>
      </p:sp>
      <p:sp>
        <p:nvSpPr>
          <p:cNvPr id="71" name="Shape 69"/>
          <p:cNvSpPr/>
          <p:nvPr/>
        </p:nvSpPr>
        <p:spPr>
          <a:xfrm>
            <a:off x="10515600" y="3813048"/>
            <a:ext cx="914400" cy="530352"/>
          </a:xfrm>
          <a:prstGeom prst="rect">
            <a:avLst/>
          </a:prstGeom>
          <a:solidFill>
            <a:srgbClr val="FFFFFF"/>
          </a:solidFill>
          <a:ln w="12700">
            <a:solidFill>
              <a:srgbClr val="CBD5E1"/>
            </a:solidFill>
            <a:prstDash val="solid"/>
          </a:ln>
        </p:spPr>
      </p:sp>
      <p:sp>
        <p:nvSpPr>
          <p:cNvPr id="72" name="Text 70"/>
          <p:cNvSpPr txBox="1"/>
          <p:nvPr/>
        </p:nvSpPr>
        <p:spPr>
          <a:xfrm>
            <a:off x="10561320" y="3867912"/>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FinOps</a:t>
            </a:r>
            <a:endParaRPr lang="en-US" sz="800" dirty="0"/>
          </a:p>
        </p:txBody>
      </p:sp>
      <p:sp>
        <p:nvSpPr>
          <p:cNvPr id="73" name="Shape 71"/>
          <p:cNvSpPr/>
          <p:nvPr/>
        </p:nvSpPr>
        <p:spPr>
          <a:xfrm>
            <a:off x="274320" y="4389120"/>
            <a:ext cx="1737360" cy="530352"/>
          </a:xfrm>
          <a:prstGeom prst="rect">
            <a:avLst/>
          </a:prstGeom>
          <a:solidFill>
            <a:srgbClr val="F2F4F5"/>
          </a:solidFill>
          <a:ln w="12700">
            <a:solidFill>
              <a:srgbClr val="CBD5E1"/>
            </a:solidFill>
            <a:prstDash val="solid"/>
          </a:ln>
        </p:spPr>
      </p:sp>
      <p:sp>
        <p:nvSpPr>
          <p:cNvPr id="74" name="Shape 72"/>
          <p:cNvSpPr/>
          <p:nvPr/>
        </p:nvSpPr>
        <p:spPr>
          <a:xfrm>
            <a:off x="274320" y="4389120"/>
            <a:ext cx="73152" cy="530352"/>
          </a:xfrm>
          <a:prstGeom prst="rect">
            <a:avLst/>
          </a:prstGeom>
          <a:solidFill>
            <a:srgbClr val="1A8A4A"/>
          </a:solidFill>
          <a:ln w="12700">
            <a:solidFill>
              <a:srgbClr val="1A8A4A"/>
            </a:solidFill>
            <a:prstDash val="solid"/>
          </a:ln>
        </p:spPr>
      </p:sp>
      <p:sp>
        <p:nvSpPr>
          <p:cNvPr id="75" name="Text 73"/>
          <p:cNvSpPr txBox="1"/>
          <p:nvPr/>
        </p:nvSpPr>
        <p:spPr>
          <a:xfrm>
            <a:off x="402336" y="4443984"/>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Spot Interruptions</a:t>
            </a:r>
            <a:endParaRPr lang="en-US" sz="900" dirty="0"/>
          </a:p>
        </p:txBody>
      </p:sp>
      <p:sp>
        <p:nvSpPr>
          <p:cNvPr id="76" name="Shape 74"/>
          <p:cNvSpPr/>
          <p:nvPr/>
        </p:nvSpPr>
        <p:spPr>
          <a:xfrm>
            <a:off x="2011680" y="4389120"/>
            <a:ext cx="822960" cy="530352"/>
          </a:xfrm>
          <a:prstGeom prst="rect">
            <a:avLst/>
          </a:prstGeom>
          <a:solidFill>
            <a:srgbClr val="F2F4F5"/>
          </a:solidFill>
          <a:ln w="12700">
            <a:solidFill>
              <a:srgbClr val="CBD5E1"/>
            </a:solidFill>
            <a:prstDash val="solid"/>
          </a:ln>
        </p:spPr>
      </p:sp>
      <p:sp>
        <p:nvSpPr>
          <p:cNvPr id="77" name="Text 75"/>
          <p:cNvSpPr txBox="1"/>
          <p:nvPr/>
        </p:nvSpPr>
        <p:spPr>
          <a:xfrm>
            <a:off x="2057400" y="4498848"/>
            <a:ext cx="731520" cy="310896"/>
          </a:xfrm>
          <a:prstGeom prst="rect">
            <a:avLst/>
          </a:prstGeom>
          <a:noFill/>
          <a:ln/>
        </p:spPr>
        <p:txBody>
          <a:bodyPr wrap="square" lIns="0" tIns="0" rIns="0" bIns="0" rtlCol="0" anchor="ctr"/>
          <a:lstStyle/>
          <a:p>
            <a:pPr algn="ctr" indent="0" marL="0">
              <a:buNone/>
            </a:pPr>
            <a:r>
              <a:rPr lang="en-US" sz="900" b="1" dirty="0">
                <a:solidFill>
                  <a:srgbClr val="E07B00"/>
                </a:solidFill>
                <a:latin typeface="Calibri" pitchFamily="34" charset="0"/>
                <a:ea typeface="Calibri" pitchFamily="34" charset="-122"/>
                <a:cs typeface="Calibri" pitchFamily="34" charset="-120"/>
              </a:rPr>
              <a:t>Medium</a:t>
            </a:r>
            <a:endParaRPr lang="en-US" sz="900" dirty="0"/>
          </a:p>
        </p:txBody>
      </p:sp>
      <p:sp>
        <p:nvSpPr>
          <p:cNvPr id="78" name="Shape 76"/>
          <p:cNvSpPr/>
          <p:nvPr/>
        </p:nvSpPr>
        <p:spPr>
          <a:xfrm>
            <a:off x="2834640" y="4389120"/>
            <a:ext cx="822960" cy="530352"/>
          </a:xfrm>
          <a:prstGeom prst="rect">
            <a:avLst/>
          </a:prstGeom>
          <a:solidFill>
            <a:srgbClr val="F2F4F5"/>
          </a:solidFill>
          <a:ln w="12700">
            <a:solidFill>
              <a:srgbClr val="CBD5E1"/>
            </a:solidFill>
            <a:prstDash val="solid"/>
          </a:ln>
        </p:spPr>
      </p:sp>
      <p:sp>
        <p:nvSpPr>
          <p:cNvPr id="79" name="Text 77"/>
          <p:cNvSpPr txBox="1"/>
          <p:nvPr/>
        </p:nvSpPr>
        <p:spPr>
          <a:xfrm>
            <a:off x="2880360" y="4443984"/>
            <a:ext cx="731520" cy="420624"/>
          </a:xfrm>
          <a:prstGeom prst="rect">
            <a:avLst/>
          </a:prstGeom>
          <a:noFill/>
          <a:ln/>
        </p:spPr>
        <p:txBody>
          <a:bodyPr wrap="square" lIns="0" tIns="0" rIns="0" bIns="0" rtlCol="0" anchor="ctr"/>
          <a:lstStyle/>
          <a:p>
            <a:pPr algn="ctr" indent="0" marL="0">
              <a:buNone/>
            </a:pPr>
            <a:r>
              <a:rPr lang="en-US" sz="800" b="1" dirty="0">
                <a:solidFill>
                  <a:srgbClr val="1A8A4A"/>
                </a:solidFill>
                <a:latin typeface="Calibri" pitchFamily="34" charset="0"/>
                <a:ea typeface="Calibri" pitchFamily="34" charset="-122"/>
                <a:cs typeface="Calibri" pitchFamily="34" charset="-120"/>
              </a:rPr>
              <a:t>Low–Med</a:t>
            </a:r>
            <a:endParaRPr lang="en-US" sz="800" dirty="0"/>
          </a:p>
        </p:txBody>
      </p:sp>
      <p:sp>
        <p:nvSpPr>
          <p:cNvPr id="80" name="Shape 78"/>
          <p:cNvSpPr/>
          <p:nvPr/>
        </p:nvSpPr>
        <p:spPr>
          <a:xfrm>
            <a:off x="3657600" y="4389120"/>
            <a:ext cx="6858000" cy="530352"/>
          </a:xfrm>
          <a:prstGeom prst="rect">
            <a:avLst/>
          </a:prstGeom>
          <a:solidFill>
            <a:srgbClr val="F2F4F5"/>
          </a:solidFill>
          <a:ln w="12700">
            <a:solidFill>
              <a:srgbClr val="CBD5E1"/>
            </a:solidFill>
            <a:prstDash val="solid"/>
          </a:ln>
        </p:spPr>
      </p:sp>
      <p:sp>
        <p:nvSpPr>
          <p:cNvPr id="81" name="Text 79"/>
          <p:cNvSpPr txBox="1"/>
          <p:nvPr/>
        </p:nvSpPr>
        <p:spPr>
          <a:xfrm>
            <a:off x="3730752" y="4425696"/>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Spot restricted to fault-tolerant workloads. Payment Gateway On-Demand always. Graceful shutdown handling required.</a:t>
            </a:r>
            <a:endParaRPr lang="en-US" sz="850" dirty="0"/>
          </a:p>
        </p:txBody>
      </p:sp>
      <p:sp>
        <p:nvSpPr>
          <p:cNvPr id="82" name="Shape 80"/>
          <p:cNvSpPr/>
          <p:nvPr/>
        </p:nvSpPr>
        <p:spPr>
          <a:xfrm>
            <a:off x="10515600" y="4389120"/>
            <a:ext cx="914400" cy="530352"/>
          </a:xfrm>
          <a:prstGeom prst="rect">
            <a:avLst/>
          </a:prstGeom>
          <a:solidFill>
            <a:srgbClr val="F2F4F5"/>
          </a:solidFill>
          <a:ln w="12700">
            <a:solidFill>
              <a:srgbClr val="CBD5E1"/>
            </a:solidFill>
            <a:prstDash val="solid"/>
          </a:ln>
        </p:spPr>
      </p:sp>
      <p:sp>
        <p:nvSpPr>
          <p:cNvPr id="83" name="Text 81"/>
          <p:cNvSpPr txBox="1"/>
          <p:nvPr/>
        </p:nvSpPr>
        <p:spPr>
          <a:xfrm>
            <a:off x="10561320" y="4443984"/>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Eng</a:t>
            </a:r>
            <a:endParaRPr lang="en-US" sz="800" dirty="0"/>
          </a:p>
        </p:txBody>
      </p:sp>
      <p:sp>
        <p:nvSpPr>
          <p:cNvPr id="84" name="Shape 82"/>
          <p:cNvSpPr/>
          <p:nvPr/>
        </p:nvSpPr>
        <p:spPr>
          <a:xfrm>
            <a:off x="274320" y="4965192"/>
            <a:ext cx="1737360" cy="530352"/>
          </a:xfrm>
          <a:prstGeom prst="rect">
            <a:avLst/>
          </a:prstGeom>
          <a:solidFill>
            <a:srgbClr val="FFFFFF"/>
          </a:solidFill>
          <a:ln w="12700">
            <a:solidFill>
              <a:srgbClr val="CBD5E1"/>
            </a:solidFill>
            <a:prstDash val="solid"/>
          </a:ln>
        </p:spPr>
      </p:sp>
      <p:sp>
        <p:nvSpPr>
          <p:cNvPr id="85" name="Shape 83"/>
          <p:cNvSpPr/>
          <p:nvPr/>
        </p:nvSpPr>
        <p:spPr>
          <a:xfrm>
            <a:off x="274320" y="4965192"/>
            <a:ext cx="73152" cy="530352"/>
          </a:xfrm>
          <a:prstGeom prst="rect">
            <a:avLst/>
          </a:prstGeom>
          <a:solidFill>
            <a:srgbClr val="E07B00"/>
          </a:solidFill>
          <a:ln w="12700">
            <a:solidFill>
              <a:srgbClr val="E07B00"/>
            </a:solidFill>
            <a:prstDash val="solid"/>
          </a:ln>
        </p:spPr>
      </p:sp>
      <p:sp>
        <p:nvSpPr>
          <p:cNvPr id="86" name="Text 84"/>
          <p:cNvSpPr txBox="1"/>
          <p:nvPr/>
        </p:nvSpPr>
        <p:spPr>
          <a:xfrm>
            <a:off x="402336" y="5020056"/>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Engineering Velocity</a:t>
            </a:r>
            <a:endParaRPr lang="en-US" sz="900" dirty="0"/>
          </a:p>
        </p:txBody>
      </p:sp>
      <p:sp>
        <p:nvSpPr>
          <p:cNvPr id="87" name="Shape 85"/>
          <p:cNvSpPr/>
          <p:nvPr/>
        </p:nvSpPr>
        <p:spPr>
          <a:xfrm>
            <a:off x="2011680" y="4965192"/>
            <a:ext cx="822960" cy="530352"/>
          </a:xfrm>
          <a:prstGeom prst="rect">
            <a:avLst/>
          </a:prstGeom>
          <a:solidFill>
            <a:srgbClr val="FFFFFF"/>
          </a:solidFill>
          <a:ln w="12700">
            <a:solidFill>
              <a:srgbClr val="CBD5E1"/>
            </a:solidFill>
            <a:prstDash val="solid"/>
          </a:ln>
        </p:spPr>
      </p:sp>
      <p:sp>
        <p:nvSpPr>
          <p:cNvPr id="88" name="Text 86"/>
          <p:cNvSpPr txBox="1"/>
          <p:nvPr/>
        </p:nvSpPr>
        <p:spPr>
          <a:xfrm>
            <a:off x="2057400" y="5074920"/>
            <a:ext cx="731520" cy="310896"/>
          </a:xfrm>
          <a:prstGeom prst="rect">
            <a:avLst/>
          </a:prstGeom>
          <a:noFill/>
          <a:ln/>
        </p:spPr>
        <p:txBody>
          <a:bodyPr wrap="square" lIns="0" tIns="0" rIns="0" bIns="0" rtlCol="0" anchor="ctr"/>
          <a:lstStyle/>
          <a:p>
            <a:pPr algn="ctr" indent="0" marL="0">
              <a:buNone/>
            </a:pPr>
            <a:r>
              <a:rPr lang="en-US" sz="900" b="1" dirty="0">
                <a:solidFill>
                  <a:srgbClr val="E07B00"/>
                </a:solidFill>
                <a:latin typeface="Calibri" pitchFamily="34" charset="0"/>
                <a:ea typeface="Calibri" pitchFamily="34" charset="-122"/>
                <a:cs typeface="Calibri" pitchFamily="34" charset="-120"/>
              </a:rPr>
              <a:t>Medium</a:t>
            </a:r>
            <a:endParaRPr lang="en-US" sz="900" dirty="0"/>
          </a:p>
        </p:txBody>
      </p:sp>
      <p:sp>
        <p:nvSpPr>
          <p:cNvPr id="89" name="Shape 87"/>
          <p:cNvSpPr/>
          <p:nvPr/>
        </p:nvSpPr>
        <p:spPr>
          <a:xfrm>
            <a:off x="2834640" y="4965192"/>
            <a:ext cx="822960" cy="530352"/>
          </a:xfrm>
          <a:prstGeom prst="rect">
            <a:avLst/>
          </a:prstGeom>
          <a:solidFill>
            <a:srgbClr val="FFFFFF"/>
          </a:solidFill>
          <a:ln w="12700">
            <a:solidFill>
              <a:srgbClr val="CBD5E1"/>
            </a:solidFill>
            <a:prstDash val="solid"/>
          </a:ln>
        </p:spPr>
      </p:sp>
      <p:sp>
        <p:nvSpPr>
          <p:cNvPr id="90" name="Text 88"/>
          <p:cNvSpPr txBox="1"/>
          <p:nvPr/>
        </p:nvSpPr>
        <p:spPr>
          <a:xfrm>
            <a:off x="2880360" y="5020056"/>
            <a:ext cx="731520" cy="420624"/>
          </a:xfrm>
          <a:prstGeom prst="rect">
            <a:avLst/>
          </a:prstGeom>
          <a:noFill/>
          <a:ln/>
        </p:spPr>
        <p:txBody>
          <a:bodyPr wrap="square" lIns="0" tIns="0" rIns="0" bIns="0" rtlCol="0" anchor="ctr"/>
          <a:lstStyle/>
          <a:p>
            <a:pPr algn="ctr" indent="0" marL="0">
              <a:buNone/>
            </a:pPr>
            <a:r>
              <a:rPr lang="en-US" sz="800" b="1" dirty="0">
                <a:solidFill>
                  <a:srgbClr val="1A8A4A"/>
                </a:solidFill>
                <a:latin typeface="Calibri" pitchFamily="34" charset="0"/>
                <a:ea typeface="Calibri" pitchFamily="34" charset="-122"/>
                <a:cs typeface="Calibri" pitchFamily="34" charset="-120"/>
              </a:rPr>
              <a:t>Medium</a:t>
            </a:r>
            <a:endParaRPr lang="en-US" sz="800" dirty="0"/>
          </a:p>
        </p:txBody>
      </p:sp>
      <p:sp>
        <p:nvSpPr>
          <p:cNvPr id="91" name="Shape 89"/>
          <p:cNvSpPr/>
          <p:nvPr/>
        </p:nvSpPr>
        <p:spPr>
          <a:xfrm>
            <a:off x="3657600" y="4965192"/>
            <a:ext cx="6858000" cy="530352"/>
          </a:xfrm>
          <a:prstGeom prst="rect">
            <a:avLst/>
          </a:prstGeom>
          <a:solidFill>
            <a:srgbClr val="FFFFFF"/>
          </a:solidFill>
          <a:ln w="12700">
            <a:solidFill>
              <a:srgbClr val="CBD5E1"/>
            </a:solidFill>
            <a:prstDash val="solid"/>
          </a:ln>
        </p:spPr>
      </p:sp>
      <p:sp>
        <p:nvSpPr>
          <p:cNvPr id="92" name="Text 90"/>
          <p:cNvSpPr txBox="1"/>
          <p:nvPr/>
        </p:nvSpPr>
        <p:spPr>
          <a:xfrm>
            <a:off x="3730752" y="5001768"/>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Phased rollout. Feature work protected. Policy-as-code enforced in CI — not blocking feature development.</a:t>
            </a:r>
            <a:endParaRPr lang="en-US" sz="850" dirty="0"/>
          </a:p>
        </p:txBody>
      </p:sp>
      <p:sp>
        <p:nvSpPr>
          <p:cNvPr id="93" name="Shape 91"/>
          <p:cNvSpPr/>
          <p:nvPr/>
        </p:nvSpPr>
        <p:spPr>
          <a:xfrm>
            <a:off x="10515600" y="4965192"/>
            <a:ext cx="914400" cy="530352"/>
          </a:xfrm>
          <a:prstGeom prst="rect">
            <a:avLst/>
          </a:prstGeom>
          <a:solidFill>
            <a:srgbClr val="FFFFFF"/>
          </a:solidFill>
          <a:ln w="12700">
            <a:solidFill>
              <a:srgbClr val="CBD5E1"/>
            </a:solidFill>
            <a:prstDash val="solid"/>
          </a:ln>
        </p:spPr>
      </p:sp>
      <p:sp>
        <p:nvSpPr>
          <p:cNvPr id="94" name="Text 92"/>
          <p:cNvSpPr txBox="1"/>
          <p:nvPr/>
        </p:nvSpPr>
        <p:spPr>
          <a:xfrm>
            <a:off x="10561320" y="5020056"/>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VP Eng</a:t>
            </a:r>
            <a:endParaRPr lang="en-US" sz="800" dirty="0"/>
          </a:p>
        </p:txBody>
      </p:sp>
      <p:sp>
        <p:nvSpPr>
          <p:cNvPr id="95" name="Shape 93"/>
          <p:cNvSpPr/>
          <p:nvPr/>
        </p:nvSpPr>
        <p:spPr>
          <a:xfrm>
            <a:off x="274320" y="5541264"/>
            <a:ext cx="1737360" cy="530352"/>
          </a:xfrm>
          <a:prstGeom prst="rect">
            <a:avLst/>
          </a:prstGeom>
          <a:solidFill>
            <a:srgbClr val="F2F4F5"/>
          </a:solidFill>
          <a:ln w="12700">
            <a:solidFill>
              <a:srgbClr val="CBD5E1"/>
            </a:solidFill>
            <a:prstDash val="solid"/>
          </a:ln>
        </p:spPr>
      </p:sp>
      <p:sp>
        <p:nvSpPr>
          <p:cNvPr id="96" name="Shape 94"/>
          <p:cNvSpPr/>
          <p:nvPr/>
        </p:nvSpPr>
        <p:spPr>
          <a:xfrm>
            <a:off x="274320" y="5541264"/>
            <a:ext cx="73152" cy="530352"/>
          </a:xfrm>
          <a:prstGeom prst="rect">
            <a:avLst/>
          </a:prstGeom>
          <a:solidFill>
            <a:srgbClr val="E07B00"/>
          </a:solidFill>
          <a:ln w="12700">
            <a:solidFill>
              <a:srgbClr val="E07B00"/>
            </a:solidFill>
            <a:prstDash val="solid"/>
          </a:ln>
        </p:spPr>
      </p:sp>
      <p:sp>
        <p:nvSpPr>
          <p:cNvPr id="97" name="Text 95"/>
          <p:cNvSpPr txBox="1"/>
          <p:nvPr/>
        </p:nvSpPr>
        <p:spPr>
          <a:xfrm>
            <a:off x="402336" y="5596128"/>
            <a:ext cx="1572768" cy="420624"/>
          </a:xfrm>
          <a:prstGeom prst="rect">
            <a:avLst/>
          </a:prstGeom>
          <a:noFill/>
          <a:ln/>
        </p:spPr>
        <p:txBody>
          <a:bodyPr wrap="square" lIns="0" tIns="0" rIns="0" bIns="0" rtlCol="0" anchor="ctr"/>
          <a:lstStyle/>
          <a:p>
            <a:pPr indent="0" marL="0">
              <a:buNone/>
            </a:pPr>
            <a:r>
              <a:rPr lang="en-US" sz="900" b="1" dirty="0">
                <a:solidFill>
                  <a:srgbClr val="0F2D56"/>
                </a:solidFill>
                <a:latin typeface="Calibri" pitchFamily="34" charset="0"/>
                <a:ea typeface="Calibri" pitchFamily="34" charset="-122"/>
                <a:cs typeface="Calibri" pitchFamily="34" charset="-120"/>
              </a:rPr>
              <a:t>Architecture Change Risk</a:t>
            </a:r>
            <a:endParaRPr lang="en-US" sz="900" dirty="0"/>
          </a:p>
        </p:txBody>
      </p:sp>
      <p:sp>
        <p:nvSpPr>
          <p:cNvPr id="98" name="Shape 96"/>
          <p:cNvSpPr/>
          <p:nvPr/>
        </p:nvSpPr>
        <p:spPr>
          <a:xfrm>
            <a:off x="2011680" y="5541264"/>
            <a:ext cx="822960" cy="530352"/>
          </a:xfrm>
          <a:prstGeom prst="rect">
            <a:avLst/>
          </a:prstGeom>
          <a:solidFill>
            <a:srgbClr val="F2F4F5"/>
          </a:solidFill>
          <a:ln w="12700">
            <a:solidFill>
              <a:srgbClr val="CBD5E1"/>
            </a:solidFill>
            <a:prstDash val="solid"/>
          </a:ln>
        </p:spPr>
      </p:sp>
      <p:sp>
        <p:nvSpPr>
          <p:cNvPr id="99" name="Text 97"/>
          <p:cNvSpPr txBox="1"/>
          <p:nvPr/>
        </p:nvSpPr>
        <p:spPr>
          <a:xfrm>
            <a:off x="2057400" y="5650992"/>
            <a:ext cx="731520" cy="310896"/>
          </a:xfrm>
          <a:prstGeom prst="rect">
            <a:avLst/>
          </a:prstGeom>
          <a:noFill/>
          <a:ln/>
        </p:spPr>
        <p:txBody>
          <a:bodyPr wrap="square" lIns="0" tIns="0" rIns="0" bIns="0" rtlCol="0" anchor="ctr"/>
          <a:lstStyle/>
          <a:p>
            <a:pPr algn="ctr" indent="0" marL="0">
              <a:buNone/>
            </a:pPr>
            <a:r>
              <a:rPr lang="en-US" sz="900" b="1" dirty="0">
                <a:solidFill>
                  <a:srgbClr val="E07B00"/>
                </a:solidFill>
                <a:latin typeface="Calibri" pitchFamily="34" charset="0"/>
                <a:ea typeface="Calibri" pitchFamily="34" charset="-122"/>
                <a:cs typeface="Calibri" pitchFamily="34" charset="-120"/>
              </a:rPr>
              <a:t>Medium</a:t>
            </a:r>
            <a:endParaRPr lang="en-US" sz="900" dirty="0"/>
          </a:p>
        </p:txBody>
      </p:sp>
      <p:sp>
        <p:nvSpPr>
          <p:cNvPr id="100" name="Shape 98"/>
          <p:cNvSpPr/>
          <p:nvPr/>
        </p:nvSpPr>
        <p:spPr>
          <a:xfrm>
            <a:off x="2834640" y="5541264"/>
            <a:ext cx="822960" cy="530352"/>
          </a:xfrm>
          <a:prstGeom prst="rect">
            <a:avLst/>
          </a:prstGeom>
          <a:solidFill>
            <a:srgbClr val="F2F4F5"/>
          </a:solidFill>
          <a:ln w="12700">
            <a:solidFill>
              <a:srgbClr val="CBD5E1"/>
            </a:solidFill>
            <a:prstDash val="solid"/>
          </a:ln>
        </p:spPr>
      </p:sp>
      <p:sp>
        <p:nvSpPr>
          <p:cNvPr id="101" name="Text 99"/>
          <p:cNvSpPr txBox="1"/>
          <p:nvPr/>
        </p:nvSpPr>
        <p:spPr>
          <a:xfrm>
            <a:off x="2880360" y="5596128"/>
            <a:ext cx="731520" cy="420624"/>
          </a:xfrm>
          <a:prstGeom prst="rect">
            <a:avLst/>
          </a:prstGeom>
          <a:noFill/>
          <a:ln/>
        </p:spPr>
        <p:txBody>
          <a:bodyPr wrap="square" lIns="0" tIns="0" rIns="0" bIns="0" rtlCol="0" anchor="ctr"/>
          <a:lstStyle/>
          <a:p>
            <a:pPr algn="ctr" indent="0" marL="0">
              <a:buNone/>
            </a:pPr>
            <a:r>
              <a:rPr lang="en-US" sz="800" b="1" dirty="0">
                <a:solidFill>
                  <a:srgbClr val="E07B00"/>
                </a:solidFill>
                <a:latin typeface="Calibri" pitchFamily="34" charset="0"/>
                <a:ea typeface="Calibri" pitchFamily="34" charset="-122"/>
                <a:cs typeface="Calibri" pitchFamily="34" charset="-120"/>
              </a:rPr>
              <a:t>High</a:t>
            </a:r>
            <a:endParaRPr lang="en-US" sz="800" dirty="0"/>
          </a:p>
        </p:txBody>
      </p:sp>
      <p:sp>
        <p:nvSpPr>
          <p:cNvPr id="102" name="Shape 100"/>
          <p:cNvSpPr/>
          <p:nvPr/>
        </p:nvSpPr>
        <p:spPr>
          <a:xfrm>
            <a:off x="3657600" y="5541264"/>
            <a:ext cx="6858000" cy="530352"/>
          </a:xfrm>
          <a:prstGeom prst="rect">
            <a:avLst/>
          </a:prstGeom>
          <a:solidFill>
            <a:srgbClr val="F2F4F5"/>
          </a:solidFill>
          <a:ln w="12700">
            <a:solidFill>
              <a:srgbClr val="CBD5E1"/>
            </a:solidFill>
            <a:prstDash val="solid"/>
          </a:ln>
        </p:spPr>
      </p:sp>
      <p:sp>
        <p:nvSpPr>
          <p:cNvPr id="103" name="Text 101"/>
          <p:cNvSpPr txBox="1"/>
          <p:nvPr/>
        </p:nvSpPr>
        <p:spPr>
          <a:xfrm>
            <a:off x="3730752" y="5577840"/>
            <a:ext cx="6711696" cy="457200"/>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Network architecture changes require detailed design review, testing environment validation, phased rollout.</a:t>
            </a:r>
            <a:endParaRPr lang="en-US" sz="850" dirty="0"/>
          </a:p>
        </p:txBody>
      </p:sp>
      <p:sp>
        <p:nvSpPr>
          <p:cNvPr id="104" name="Shape 102"/>
          <p:cNvSpPr/>
          <p:nvPr/>
        </p:nvSpPr>
        <p:spPr>
          <a:xfrm>
            <a:off x="10515600" y="5541264"/>
            <a:ext cx="914400" cy="530352"/>
          </a:xfrm>
          <a:prstGeom prst="rect">
            <a:avLst/>
          </a:prstGeom>
          <a:solidFill>
            <a:srgbClr val="F2F4F5"/>
          </a:solidFill>
          <a:ln w="12700">
            <a:solidFill>
              <a:srgbClr val="CBD5E1"/>
            </a:solidFill>
            <a:prstDash val="solid"/>
          </a:ln>
        </p:spPr>
      </p:sp>
      <p:sp>
        <p:nvSpPr>
          <p:cNvPr id="105" name="Text 103"/>
          <p:cNvSpPr txBox="1"/>
          <p:nvPr/>
        </p:nvSpPr>
        <p:spPr>
          <a:xfrm>
            <a:off x="10561320" y="5596128"/>
            <a:ext cx="822960" cy="420624"/>
          </a:xfrm>
          <a:prstGeom prst="rect">
            <a:avLst/>
          </a:prstGeom>
          <a:noFill/>
          <a:ln/>
        </p:spPr>
        <p:txBody>
          <a:bodyPr wrap="square" lIns="0" tIns="0" rIns="0" bIns="0" rtlCol="0" anchor="ctr"/>
          <a:lstStyle/>
          <a:p>
            <a:pPr algn="ctr" indent="0" marL="0">
              <a:buNone/>
            </a:pPr>
            <a:r>
              <a:rPr lang="en-US" sz="800" dirty="0">
                <a:solidFill>
                  <a:srgbClr val="0F2D56"/>
                </a:solidFill>
                <a:latin typeface="Calibri" pitchFamily="34" charset="0"/>
                <a:ea typeface="Calibri" pitchFamily="34" charset="-122"/>
                <a:cs typeface="Calibri" pitchFamily="34" charset="-120"/>
              </a:rPr>
              <a:t>CTO / Arch</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Governance Framework</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FinOps RACI, budget thresholds, review cadence, and escalation structure</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12 / 18</a:t>
            </a:r>
            <a:endParaRPr lang="en-US" sz="700" dirty="0"/>
          </a:p>
        </p:txBody>
      </p:sp>
      <p:sp>
        <p:nvSpPr>
          <p:cNvPr id="8" name="Text 6"/>
          <p:cNvSpPr txBox="1"/>
          <p:nvPr/>
        </p:nvSpPr>
        <p:spPr>
          <a:xfrm>
            <a:off x="274320" y="1188720"/>
            <a:ext cx="3657600" cy="201168"/>
          </a:xfrm>
          <a:prstGeom prst="rect">
            <a:avLst/>
          </a:prstGeom>
          <a:noFill/>
          <a:ln/>
        </p:spPr>
        <p:txBody>
          <a:bodyPr wrap="square" lIns="0" tIns="0" rIns="0" bIns="0" rtlCol="0" anchor="ctr"/>
          <a:lstStyle/>
          <a:p>
            <a:pPr indent="0" marL="0">
              <a:buNone/>
            </a:pPr>
            <a:r>
              <a:rPr lang="en-US" sz="800" b="1" spc="200" kern="0" dirty="0">
                <a:solidFill>
                  <a:srgbClr val="0F2D56"/>
                </a:solidFill>
                <a:latin typeface="Calibri" pitchFamily="34" charset="0"/>
                <a:ea typeface="Calibri" pitchFamily="34" charset="-122"/>
                <a:cs typeface="Calibri" pitchFamily="34" charset="-120"/>
              </a:rPr>
              <a:t>FINOPS RACI</a:t>
            </a:r>
            <a:endParaRPr lang="en-US" sz="800" dirty="0"/>
          </a:p>
        </p:txBody>
      </p:sp>
      <p:sp>
        <p:nvSpPr>
          <p:cNvPr id="9" name="Shape 7"/>
          <p:cNvSpPr/>
          <p:nvPr/>
        </p:nvSpPr>
        <p:spPr>
          <a:xfrm>
            <a:off x="274320" y="1389888"/>
            <a:ext cx="2103120" cy="292608"/>
          </a:xfrm>
          <a:prstGeom prst="rect">
            <a:avLst/>
          </a:prstGeom>
          <a:solidFill>
            <a:srgbClr val="0F2D56"/>
          </a:solidFill>
          <a:ln w="12700">
            <a:solidFill>
              <a:srgbClr val="0F2D56"/>
            </a:solidFill>
            <a:prstDash val="solid"/>
          </a:ln>
        </p:spPr>
      </p:sp>
      <p:sp>
        <p:nvSpPr>
          <p:cNvPr id="10" name="Text 8"/>
          <p:cNvSpPr txBox="1"/>
          <p:nvPr/>
        </p:nvSpPr>
        <p:spPr>
          <a:xfrm>
            <a:off x="301752" y="1389888"/>
            <a:ext cx="204825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Function</a:t>
            </a:r>
            <a:endParaRPr lang="en-US" sz="800" dirty="0"/>
          </a:p>
        </p:txBody>
      </p:sp>
      <p:sp>
        <p:nvSpPr>
          <p:cNvPr id="11" name="Shape 9"/>
          <p:cNvSpPr/>
          <p:nvPr/>
        </p:nvSpPr>
        <p:spPr>
          <a:xfrm>
            <a:off x="2377440" y="1389888"/>
            <a:ext cx="1005840" cy="292608"/>
          </a:xfrm>
          <a:prstGeom prst="rect">
            <a:avLst/>
          </a:prstGeom>
          <a:solidFill>
            <a:srgbClr val="0F2D56"/>
          </a:solidFill>
          <a:ln w="12700">
            <a:solidFill>
              <a:srgbClr val="0F2D56"/>
            </a:solidFill>
            <a:prstDash val="solid"/>
          </a:ln>
        </p:spPr>
      </p:sp>
      <p:sp>
        <p:nvSpPr>
          <p:cNvPr id="12" name="Text 10"/>
          <p:cNvSpPr txBox="1"/>
          <p:nvPr/>
        </p:nvSpPr>
        <p:spPr>
          <a:xfrm>
            <a:off x="2404872" y="1389888"/>
            <a:ext cx="95097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CFO/Finance</a:t>
            </a:r>
            <a:endParaRPr lang="en-US" sz="800" dirty="0"/>
          </a:p>
        </p:txBody>
      </p:sp>
      <p:sp>
        <p:nvSpPr>
          <p:cNvPr id="13" name="Shape 11"/>
          <p:cNvSpPr/>
          <p:nvPr/>
        </p:nvSpPr>
        <p:spPr>
          <a:xfrm>
            <a:off x="3383280" y="1389888"/>
            <a:ext cx="1005840" cy="292608"/>
          </a:xfrm>
          <a:prstGeom prst="rect">
            <a:avLst/>
          </a:prstGeom>
          <a:solidFill>
            <a:srgbClr val="0F2D56"/>
          </a:solidFill>
          <a:ln w="12700">
            <a:solidFill>
              <a:srgbClr val="0F2D56"/>
            </a:solidFill>
            <a:prstDash val="solid"/>
          </a:ln>
        </p:spPr>
      </p:sp>
      <p:sp>
        <p:nvSpPr>
          <p:cNvPr id="14" name="Text 12"/>
          <p:cNvSpPr txBox="1"/>
          <p:nvPr/>
        </p:nvSpPr>
        <p:spPr>
          <a:xfrm>
            <a:off x="3410712" y="1389888"/>
            <a:ext cx="95097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CTO/Eng</a:t>
            </a:r>
            <a:endParaRPr lang="en-US" sz="800" dirty="0"/>
          </a:p>
        </p:txBody>
      </p:sp>
      <p:sp>
        <p:nvSpPr>
          <p:cNvPr id="15" name="Shape 13"/>
          <p:cNvSpPr/>
          <p:nvPr/>
        </p:nvSpPr>
        <p:spPr>
          <a:xfrm>
            <a:off x="4389120" y="1389888"/>
            <a:ext cx="822960" cy="292608"/>
          </a:xfrm>
          <a:prstGeom prst="rect">
            <a:avLst/>
          </a:prstGeom>
          <a:solidFill>
            <a:srgbClr val="0F2D56"/>
          </a:solidFill>
          <a:ln w="12700">
            <a:solidFill>
              <a:srgbClr val="0F2D56"/>
            </a:solidFill>
            <a:prstDash val="solid"/>
          </a:ln>
        </p:spPr>
      </p:sp>
      <p:sp>
        <p:nvSpPr>
          <p:cNvPr id="16" name="Text 14"/>
          <p:cNvSpPr txBox="1"/>
          <p:nvPr/>
        </p:nvSpPr>
        <p:spPr>
          <a:xfrm>
            <a:off x="4416552" y="1389888"/>
            <a:ext cx="76809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VP Eng</a:t>
            </a:r>
            <a:endParaRPr lang="en-US" sz="800" dirty="0"/>
          </a:p>
        </p:txBody>
      </p:sp>
      <p:sp>
        <p:nvSpPr>
          <p:cNvPr id="17" name="Shape 15"/>
          <p:cNvSpPr/>
          <p:nvPr/>
        </p:nvSpPr>
        <p:spPr>
          <a:xfrm>
            <a:off x="5212080" y="1389888"/>
            <a:ext cx="1005840" cy="292608"/>
          </a:xfrm>
          <a:prstGeom prst="rect">
            <a:avLst/>
          </a:prstGeom>
          <a:solidFill>
            <a:srgbClr val="0F2D56"/>
          </a:solidFill>
          <a:ln w="12700">
            <a:solidFill>
              <a:srgbClr val="0F2D56"/>
            </a:solidFill>
            <a:prstDash val="solid"/>
          </a:ln>
        </p:spPr>
      </p:sp>
      <p:sp>
        <p:nvSpPr>
          <p:cNvPr id="18" name="Text 16"/>
          <p:cNvSpPr txBox="1"/>
          <p:nvPr/>
        </p:nvSpPr>
        <p:spPr>
          <a:xfrm>
            <a:off x="5239512" y="1389888"/>
            <a:ext cx="95097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Compliance</a:t>
            </a:r>
            <a:endParaRPr lang="en-US" sz="800" dirty="0"/>
          </a:p>
        </p:txBody>
      </p:sp>
      <p:sp>
        <p:nvSpPr>
          <p:cNvPr id="19" name="Shape 17"/>
          <p:cNvSpPr/>
          <p:nvPr/>
        </p:nvSpPr>
        <p:spPr>
          <a:xfrm>
            <a:off x="6217920" y="1389888"/>
            <a:ext cx="914400" cy="292608"/>
          </a:xfrm>
          <a:prstGeom prst="rect">
            <a:avLst/>
          </a:prstGeom>
          <a:solidFill>
            <a:srgbClr val="0F2D56"/>
          </a:solidFill>
          <a:ln w="12700">
            <a:solidFill>
              <a:srgbClr val="0F2D56"/>
            </a:solidFill>
            <a:prstDash val="solid"/>
          </a:ln>
        </p:spPr>
      </p:sp>
      <p:sp>
        <p:nvSpPr>
          <p:cNvPr id="20" name="Text 18"/>
          <p:cNvSpPr txBox="1"/>
          <p:nvPr/>
        </p:nvSpPr>
        <p:spPr>
          <a:xfrm>
            <a:off x="6245352" y="1389888"/>
            <a:ext cx="85953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Eng</a:t>
            </a:r>
            <a:endParaRPr lang="en-US" sz="800" dirty="0"/>
          </a:p>
        </p:txBody>
      </p:sp>
      <p:sp>
        <p:nvSpPr>
          <p:cNvPr id="21" name="Shape 19"/>
          <p:cNvSpPr/>
          <p:nvPr/>
        </p:nvSpPr>
        <p:spPr>
          <a:xfrm>
            <a:off x="7132320" y="1389888"/>
            <a:ext cx="822960" cy="292608"/>
          </a:xfrm>
          <a:prstGeom prst="rect">
            <a:avLst/>
          </a:prstGeom>
          <a:solidFill>
            <a:srgbClr val="0F2D56"/>
          </a:solidFill>
          <a:ln w="12700">
            <a:solidFill>
              <a:srgbClr val="0F2D56"/>
            </a:solidFill>
            <a:prstDash val="solid"/>
          </a:ln>
        </p:spPr>
      </p:sp>
      <p:sp>
        <p:nvSpPr>
          <p:cNvPr id="22" name="Text 20"/>
          <p:cNvSpPr txBox="1"/>
          <p:nvPr/>
        </p:nvSpPr>
        <p:spPr>
          <a:xfrm>
            <a:off x="7159752" y="1389888"/>
            <a:ext cx="768096"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Product</a:t>
            </a:r>
            <a:endParaRPr lang="en-US" sz="800" dirty="0"/>
          </a:p>
        </p:txBody>
      </p:sp>
      <p:sp>
        <p:nvSpPr>
          <p:cNvPr id="23" name="Shape 21"/>
          <p:cNvSpPr/>
          <p:nvPr/>
        </p:nvSpPr>
        <p:spPr>
          <a:xfrm>
            <a:off x="274320" y="1700784"/>
            <a:ext cx="2103120" cy="301752"/>
          </a:xfrm>
          <a:prstGeom prst="rect">
            <a:avLst/>
          </a:prstGeom>
          <a:solidFill>
            <a:srgbClr val="FFFFFF"/>
          </a:solidFill>
          <a:ln w="12700">
            <a:solidFill>
              <a:srgbClr val="CBD5E1"/>
            </a:solidFill>
            <a:prstDash val="solid"/>
          </a:ln>
        </p:spPr>
      </p:sp>
      <p:sp>
        <p:nvSpPr>
          <p:cNvPr id="24" name="Text 22"/>
          <p:cNvSpPr txBox="1"/>
          <p:nvPr/>
        </p:nvSpPr>
        <p:spPr>
          <a:xfrm>
            <a:off x="301752" y="1700784"/>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Monthly budget approval</a:t>
            </a:r>
            <a:endParaRPr lang="en-US" sz="800" dirty="0"/>
          </a:p>
        </p:txBody>
      </p:sp>
      <p:sp>
        <p:nvSpPr>
          <p:cNvPr id="25" name="Shape 23"/>
          <p:cNvSpPr/>
          <p:nvPr/>
        </p:nvSpPr>
        <p:spPr>
          <a:xfrm>
            <a:off x="2377440" y="1700784"/>
            <a:ext cx="1005840" cy="301752"/>
          </a:xfrm>
          <a:prstGeom prst="rect">
            <a:avLst/>
          </a:prstGeom>
          <a:solidFill>
            <a:srgbClr val="FFFFFF"/>
          </a:solidFill>
          <a:ln w="12700">
            <a:solidFill>
              <a:srgbClr val="CBD5E1"/>
            </a:solidFill>
            <a:prstDash val="solid"/>
          </a:ln>
        </p:spPr>
      </p:sp>
      <p:sp>
        <p:nvSpPr>
          <p:cNvPr id="26" name="Text 24"/>
          <p:cNvSpPr txBox="1"/>
          <p:nvPr/>
        </p:nvSpPr>
        <p:spPr>
          <a:xfrm>
            <a:off x="2404872" y="1700784"/>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27" name="Shape 25"/>
          <p:cNvSpPr/>
          <p:nvPr/>
        </p:nvSpPr>
        <p:spPr>
          <a:xfrm>
            <a:off x="3383280" y="1700784"/>
            <a:ext cx="1005840" cy="301752"/>
          </a:xfrm>
          <a:prstGeom prst="rect">
            <a:avLst/>
          </a:prstGeom>
          <a:solidFill>
            <a:srgbClr val="FFFFFF"/>
          </a:solidFill>
          <a:ln w="12700">
            <a:solidFill>
              <a:srgbClr val="CBD5E1"/>
            </a:solidFill>
            <a:prstDash val="solid"/>
          </a:ln>
        </p:spPr>
      </p:sp>
      <p:sp>
        <p:nvSpPr>
          <p:cNvPr id="28" name="Text 26"/>
          <p:cNvSpPr txBox="1"/>
          <p:nvPr/>
        </p:nvSpPr>
        <p:spPr>
          <a:xfrm>
            <a:off x="3410712" y="1700784"/>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29" name="Shape 27"/>
          <p:cNvSpPr/>
          <p:nvPr/>
        </p:nvSpPr>
        <p:spPr>
          <a:xfrm>
            <a:off x="4389120" y="1700784"/>
            <a:ext cx="822960" cy="301752"/>
          </a:xfrm>
          <a:prstGeom prst="rect">
            <a:avLst/>
          </a:prstGeom>
          <a:solidFill>
            <a:srgbClr val="FFFFFF"/>
          </a:solidFill>
          <a:ln w="12700">
            <a:solidFill>
              <a:srgbClr val="CBD5E1"/>
            </a:solidFill>
            <a:prstDash val="solid"/>
          </a:ln>
        </p:spPr>
      </p:sp>
      <p:sp>
        <p:nvSpPr>
          <p:cNvPr id="30" name="Text 28"/>
          <p:cNvSpPr txBox="1"/>
          <p:nvPr/>
        </p:nvSpPr>
        <p:spPr>
          <a:xfrm>
            <a:off x="4416552" y="1700784"/>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31" name="Shape 29"/>
          <p:cNvSpPr/>
          <p:nvPr/>
        </p:nvSpPr>
        <p:spPr>
          <a:xfrm>
            <a:off x="5212080" y="1700784"/>
            <a:ext cx="1005840" cy="301752"/>
          </a:xfrm>
          <a:prstGeom prst="rect">
            <a:avLst/>
          </a:prstGeom>
          <a:solidFill>
            <a:srgbClr val="FFFFFF"/>
          </a:solidFill>
          <a:ln w="12700">
            <a:solidFill>
              <a:srgbClr val="CBD5E1"/>
            </a:solidFill>
            <a:prstDash val="solid"/>
          </a:ln>
        </p:spPr>
      </p:sp>
      <p:sp>
        <p:nvSpPr>
          <p:cNvPr id="32" name="Text 30"/>
          <p:cNvSpPr txBox="1"/>
          <p:nvPr/>
        </p:nvSpPr>
        <p:spPr>
          <a:xfrm>
            <a:off x="5239512" y="1700784"/>
            <a:ext cx="95097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33" name="Shape 31"/>
          <p:cNvSpPr/>
          <p:nvPr/>
        </p:nvSpPr>
        <p:spPr>
          <a:xfrm>
            <a:off x="6217920" y="1700784"/>
            <a:ext cx="914400" cy="301752"/>
          </a:xfrm>
          <a:prstGeom prst="rect">
            <a:avLst/>
          </a:prstGeom>
          <a:solidFill>
            <a:srgbClr val="FFFFFF"/>
          </a:solidFill>
          <a:ln w="12700">
            <a:solidFill>
              <a:srgbClr val="CBD5E1"/>
            </a:solidFill>
            <a:prstDash val="solid"/>
          </a:ln>
        </p:spPr>
      </p:sp>
      <p:sp>
        <p:nvSpPr>
          <p:cNvPr id="34" name="Text 32"/>
          <p:cNvSpPr txBox="1"/>
          <p:nvPr/>
        </p:nvSpPr>
        <p:spPr>
          <a:xfrm>
            <a:off x="6245352" y="1700784"/>
            <a:ext cx="85953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35" name="Shape 33"/>
          <p:cNvSpPr/>
          <p:nvPr/>
        </p:nvSpPr>
        <p:spPr>
          <a:xfrm>
            <a:off x="7132320" y="1700784"/>
            <a:ext cx="822960" cy="301752"/>
          </a:xfrm>
          <a:prstGeom prst="rect">
            <a:avLst/>
          </a:prstGeom>
          <a:solidFill>
            <a:srgbClr val="FFFFFF"/>
          </a:solidFill>
          <a:ln w="12700">
            <a:solidFill>
              <a:srgbClr val="CBD5E1"/>
            </a:solidFill>
            <a:prstDash val="solid"/>
          </a:ln>
        </p:spPr>
      </p:sp>
      <p:sp>
        <p:nvSpPr>
          <p:cNvPr id="36" name="Text 34"/>
          <p:cNvSpPr txBox="1"/>
          <p:nvPr/>
        </p:nvSpPr>
        <p:spPr>
          <a:xfrm>
            <a:off x="7159752" y="1700784"/>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37" name="Shape 35"/>
          <p:cNvSpPr/>
          <p:nvPr/>
        </p:nvSpPr>
        <p:spPr>
          <a:xfrm>
            <a:off x="274320" y="2039112"/>
            <a:ext cx="2103120" cy="301752"/>
          </a:xfrm>
          <a:prstGeom prst="rect">
            <a:avLst/>
          </a:prstGeom>
          <a:solidFill>
            <a:srgbClr val="F2F4F5"/>
          </a:solidFill>
          <a:ln w="12700">
            <a:solidFill>
              <a:srgbClr val="CBD5E1"/>
            </a:solidFill>
            <a:prstDash val="solid"/>
          </a:ln>
        </p:spPr>
      </p:sp>
      <p:sp>
        <p:nvSpPr>
          <p:cNvPr id="38" name="Text 36"/>
          <p:cNvSpPr txBox="1"/>
          <p:nvPr/>
        </p:nvSpPr>
        <p:spPr>
          <a:xfrm>
            <a:off x="301752" y="2039112"/>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Savings target setting</a:t>
            </a:r>
            <a:endParaRPr lang="en-US" sz="800" dirty="0"/>
          </a:p>
        </p:txBody>
      </p:sp>
      <p:sp>
        <p:nvSpPr>
          <p:cNvPr id="39" name="Shape 37"/>
          <p:cNvSpPr/>
          <p:nvPr/>
        </p:nvSpPr>
        <p:spPr>
          <a:xfrm>
            <a:off x="2377440" y="2039112"/>
            <a:ext cx="1005840" cy="301752"/>
          </a:xfrm>
          <a:prstGeom prst="rect">
            <a:avLst/>
          </a:prstGeom>
          <a:solidFill>
            <a:srgbClr val="F2F4F5"/>
          </a:solidFill>
          <a:ln w="12700">
            <a:solidFill>
              <a:srgbClr val="CBD5E1"/>
            </a:solidFill>
            <a:prstDash val="solid"/>
          </a:ln>
        </p:spPr>
      </p:sp>
      <p:sp>
        <p:nvSpPr>
          <p:cNvPr id="40" name="Text 38"/>
          <p:cNvSpPr txBox="1"/>
          <p:nvPr/>
        </p:nvSpPr>
        <p:spPr>
          <a:xfrm>
            <a:off x="2404872" y="2039112"/>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41" name="Shape 39"/>
          <p:cNvSpPr/>
          <p:nvPr/>
        </p:nvSpPr>
        <p:spPr>
          <a:xfrm>
            <a:off x="3383280" y="2039112"/>
            <a:ext cx="1005840" cy="301752"/>
          </a:xfrm>
          <a:prstGeom prst="rect">
            <a:avLst/>
          </a:prstGeom>
          <a:solidFill>
            <a:srgbClr val="F2F4F5"/>
          </a:solidFill>
          <a:ln w="12700">
            <a:solidFill>
              <a:srgbClr val="CBD5E1"/>
            </a:solidFill>
            <a:prstDash val="solid"/>
          </a:ln>
        </p:spPr>
      </p:sp>
      <p:sp>
        <p:nvSpPr>
          <p:cNvPr id="42" name="Text 40"/>
          <p:cNvSpPr txBox="1"/>
          <p:nvPr/>
        </p:nvSpPr>
        <p:spPr>
          <a:xfrm>
            <a:off x="3410712" y="2039112"/>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43" name="Shape 41"/>
          <p:cNvSpPr/>
          <p:nvPr/>
        </p:nvSpPr>
        <p:spPr>
          <a:xfrm>
            <a:off x="4389120" y="2039112"/>
            <a:ext cx="822960" cy="301752"/>
          </a:xfrm>
          <a:prstGeom prst="rect">
            <a:avLst/>
          </a:prstGeom>
          <a:solidFill>
            <a:srgbClr val="F2F4F5"/>
          </a:solidFill>
          <a:ln w="12700">
            <a:solidFill>
              <a:srgbClr val="CBD5E1"/>
            </a:solidFill>
            <a:prstDash val="solid"/>
          </a:ln>
        </p:spPr>
      </p:sp>
      <p:sp>
        <p:nvSpPr>
          <p:cNvPr id="44" name="Text 42"/>
          <p:cNvSpPr txBox="1"/>
          <p:nvPr/>
        </p:nvSpPr>
        <p:spPr>
          <a:xfrm>
            <a:off x="4416552" y="2039112"/>
            <a:ext cx="76809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45" name="Shape 43"/>
          <p:cNvSpPr/>
          <p:nvPr/>
        </p:nvSpPr>
        <p:spPr>
          <a:xfrm>
            <a:off x="5212080" y="2039112"/>
            <a:ext cx="1005840" cy="301752"/>
          </a:xfrm>
          <a:prstGeom prst="rect">
            <a:avLst/>
          </a:prstGeom>
          <a:solidFill>
            <a:srgbClr val="F2F4F5"/>
          </a:solidFill>
          <a:ln w="12700">
            <a:solidFill>
              <a:srgbClr val="CBD5E1"/>
            </a:solidFill>
            <a:prstDash val="solid"/>
          </a:ln>
        </p:spPr>
      </p:sp>
      <p:sp>
        <p:nvSpPr>
          <p:cNvPr id="46" name="Text 44"/>
          <p:cNvSpPr txBox="1"/>
          <p:nvPr/>
        </p:nvSpPr>
        <p:spPr>
          <a:xfrm>
            <a:off x="5239512" y="2039112"/>
            <a:ext cx="95097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47" name="Shape 45"/>
          <p:cNvSpPr/>
          <p:nvPr/>
        </p:nvSpPr>
        <p:spPr>
          <a:xfrm>
            <a:off x="6217920" y="2039112"/>
            <a:ext cx="914400" cy="301752"/>
          </a:xfrm>
          <a:prstGeom prst="rect">
            <a:avLst/>
          </a:prstGeom>
          <a:solidFill>
            <a:srgbClr val="F2F4F5"/>
          </a:solidFill>
          <a:ln w="12700">
            <a:solidFill>
              <a:srgbClr val="CBD5E1"/>
            </a:solidFill>
            <a:prstDash val="solid"/>
          </a:ln>
        </p:spPr>
      </p:sp>
      <p:sp>
        <p:nvSpPr>
          <p:cNvPr id="48" name="Text 46"/>
          <p:cNvSpPr txBox="1"/>
          <p:nvPr/>
        </p:nvSpPr>
        <p:spPr>
          <a:xfrm>
            <a:off x="6245352" y="2039112"/>
            <a:ext cx="85953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49" name="Shape 47"/>
          <p:cNvSpPr/>
          <p:nvPr/>
        </p:nvSpPr>
        <p:spPr>
          <a:xfrm>
            <a:off x="7132320" y="2039112"/>
            <a:ext cx="822960" cy="301752"/>
          </a:xfrm>
          <a:prstGeom prst="rect">
            <a:avLst/>
          </a:prstGeom>
          <a:solidFill>
            <a:srgbClr val="F2F4F5"/>
          </a:solidFill>
          <a:ln w="12700">
            <a:solidFill>
              <a:srgbClr val="CBD5E1"/>
            </a:solidFill>
            <a:prstDash val="solid"/>
          </a:ln>
        </p:spPr>
      </p:sp>
      <p:sp>
        <p:nvSpPr>
          <p:cNvPr id="50" name="Text 48"/>
          <p:cNvSpPr txBox="1"/>
          <p:nvPr/>
        </p:nvSpPr>
        <p:spPr>
          <a:xfrm>
            <a:off x="7159752" y="2039112"/>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51" name="Shape 49"/>
          <p:cNvSpPr/>
          <p:nvPr/>
        </p:nvSpPr>
        <p:spPr>
          <a:xfrm>
            <a:off x="274320" y="2377440"/>
            <a:ext cx="2103120" cy="301752"/>
          </a:xfrm>
          <a:prstGeom prst="rect">
            <a:avLst/>
          </a:prstGeom>
          <a:solidFill>
            <a:srgbClr val="FFFFFF"/>
          </a:solidFill>
          <a:ln w="12700">
            <a:solidFill>
              <a:srgbClr val="CBD5E1"/>
            </a:solidFill>
            <a:prstDash val="solid"/>
          </a:ln>
        </p:spPr>
      </p:sp>
      <p:sp>
        <p:nvSpPr>
          <p:cNvPr id="52" name="Text 50"/>
          <p:cNvSpPr txBox="1"/>
          <p:nvPr/>
        </p:nvSpPr>
        <p:spPr>
          <a:xfrm>
            <a:off x="301752" y="2377440"/>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Implementation execution</a:t>
            </a:r>
            <a:endParaRPr lang="en-US" sz="800" dirty="0"/>
          </a:p>
        </p:txBody>
      </p:sp>
      <p:sp>
        <p:nvSpPr>
          <p:cNvPr id="53" name="Shape 51"/>
          <p:cNvSpPr/>
          <p:nvPr/>
        </p:nvSpPr>
        <p:spPr>
          <a:xfrm>
            <a:off x="2377440" y="2377440"/>
            <a:ext cx="1005840" cy="301752"/>
          </a:xfrm>
          <a:prstGeom prst="rect">
            <a:avLst/>
          </a:prstGeom>
          <a:solidFill>
            <a:srgbClr val="FFFFFF"/>
          </a:solidFill>
          <a:ln w="12700">
            <a:solidFill>
              <a:srgbClr val="CBD5E1"/>
            </a:solidFill>
            <a:prstDash val="solid"/>
          </a:ln>
        </p:spPr>
      </p:sp>
      <p:sp>
        <p:nvSpPr>
          <p:cNvPr id="54" name="Text 52"/>
          <p:cNvSpPr txBox="1"/>
          <p:nvPr/>
        </p:nvSpPr>
        <p:spPr>
          <a:xfrm>
            <a:off x="2404872" y="2377440"/>
            <a:ext cx="95097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55" name="Shape 53"/>
          <p:cNvSpPr/>
          <p:nvPr/>
        </p:nvSpPr>
        <p:spPr>
          <a:xfrm>
            <a:off x="3383280" y="2377440"/>
            <a:ext cx="1005840" cy="301752"/>
          </a:xfrm>
          <a:prstGeom prst="rect">
            <a:avLst/>
          </a:prstGeom>
          <a:solidFill>
            <a:srgbClr val="FFFFFF"/>
          </a:solidFill>
          <a:ln w="12700">
            <a:solidFill>
              <a:srgbClr val="CBD5E1"/>
            </a:solidFill>
            <a:prstDash val="solid"/>
          </a:ln>
        </p:spPr>
      </p:sp>
      <p:sp>
        <p:nvSpPr>
          <p:cNvPr id="56" name="Text 54"/>
          <p:cNvSpPr txBox="1"/>
          <p:nvPr/>
        </p:nvSpPr>
        <p:spPr>
          <a:xfrm>
            <a:off x="3410712" y="2377440"/>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57" name="Shape 55"/>
          <p:cNvSpPr/>
          <p:nvPr/>
        </p:nvSpPr>
        <p:spPr>
          <a:xfrm>
            <a:off x="4389120" y="2377440"/>
            <a:ext cx="822960" cy="301752"/>
          </a:xfrm>
          <a:prstGeom prst="rect">
            <a:avLst/>
          </a:prstGeom>
          <a:solidFill>
            <a:srgbClr val="FFFFFF"/>
          </a:solidFill>
          <a:ln w="12700">
            <a:solidFill>
              <a:srgbClr val="CBD5E1"/>
            </a:solidFill>
            <a:prstDash val="solid"/>
          </a:ln>
        </p:spPr>
      </p:sp>
      <p:sp>
        <p:nvSpPr>
          <p:cNvPr id="58" name="Text 56"/>
          <p:cNvSpPr txBox="1"/>
          <p:nvPr/>
        </p:nvSpPr>
        <p:spPr>
          <a:xfrm>
            <a:off x="4416552" y="2377440"/>
            <a:ext cx="768096" cy="3017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a:t>
            </a:r>
            <a:endParaRPr lang="en-US" sz="900" dirty="0"/>
          </a:p>
        </p:txBody>
      </p:sp>
      <p:sp>
        <p:nvSpPr>
          <p:cNvPr id="59" name="Shape 57"/>
          <p:cNvSpPr/>
          <p:nvPr/>
        </p:nvSpPr>
        <p:spPr>
          <a:xfrm>
            <a:off x="5212080" y="2377440"/>
            <a:ext cx="1005840" cy="301752"/>
          </a:xfrm>
          <a:prstGeom prst="rect">
            <a:avLst/>
          </a:prstGeom>
          <a:solidFill>
            <a:srgbClr val="FFFFFF"/>
          </a:solidFill>
          <a:ln w="12700">
            <a:solidFill>
              <a:srgbClr val="CBD5E1"/>
            </a:solidFill>
            <a:prstDash val="solid"/>
          </a:ln>
        </p:spPr>
      </p:sp>
      <p:sp>
        <p:nvSpPr>
          <p:cNvPr id="60" name="Text 58"/>
          <p:cNvSpPr txBox="1"/>
          <p:nvPr/>
        </p:nvSpPr>
        <p:spPr>
          <a:xfrm>
            <a:off x="5239512" y="2377440"/>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61" name="Shape 59"/>
          <p:cNvSpPr/>
          <p:nvPr/>
        </p:nvSpPr>
        <p:spPr>
          <a:xfrm>
            <a:off x="6217920" y="2377440"/>
            <a:ext cx="914400" cy="301752"/>
          </a:xfrm>
          <a:prstGeom prst="rect">
            <a:avLst/>
          </a:prstGeom>
          <a:solidFill>
            <a:srgbClr val="FFFFFF"/>
          </a:solidFill>
          <a:ln w="12700">
            <a:solidFill>
              <a:srgbClr val="CBD5E1"/>
            </a:solidFill>
            <a:prstDash val="solid"/>
          </a:ln>
        </p:spPr>
      </p:sp>
      <p:sp>
        <p:nvSpPr>
          <p:cNvPr id="62" name="Text 60"/>
          <p:cNvSpPr txBox="1"/>
          <p:nvPr/>
        </p:nvSpPr>
        <p:spPr>
          <a:xfrm>
            <a:off x="6245352" y="2377440"/>
            <a:ext cx="859536" cy="3017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a:t>
            </a:r>
            <a:endParaRPr lang="en-US" sz="900" dirty="0"/>
          </a:p>
        </p:txBody>
      </p:sp>
      <p:sp>
        <p:nvSpPr>
          <p:cNvPr id="63" name="Shape 61"/>
          <p:cNvSpPr/>
          <p:nvPr/>
        </p:nvSpPr>
        <p:spPr>
          <a:xfrm>
            <a:off x="7132320" y="2377440"/>
            <a:ext cx="822960" cy="301752"/>
          </a:xfrm>
          <a:prstGeom prst="rect">
            <a:avLst/>
          </a:prstGeom>
          <a:solidFill>
            <a:srgbClr val="FFFFFF"/>
          </a:solidFill>
          <a:ln w="12700">
            <a:solidFill>
              <a:srgbClr val="CBD5E1"/>
            </a:solidFill>
            <a:prstDash val="solid"/>
          </a:ln>
        </p:spPr>
      </p:sp>
      <p:sp>
        <p:nvSpPr>
          <p:cNvPr id="64" name="Text 62"/>
          <p:cNvSpPr txBox="1"/>
          <p:nvPr/>
        </p:nvSpPr>
        <p:spPr>
          <a:xfrm>
            <a:off x="7159752" y="2377440"/>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65" name="Shape 63"/>
          <p:cNvSpPr/>
          <p:nvPr/>
        </p:nvSpPr>
        <p:spPr>
          <a:xfrm>
            <a:off x="274320" y="2715768"/>
            <a:ext cx="2103120" cy="301752"/>
          </a:xfrm>
          <a:prstGeom prst="rect">
            <a:avLst/>
          </a:prstGeom>
          <a:solidFill>
            <a:srgbClr val="F2F4F5"/>
          </a:solidFill>
          <a:ln w="12700">
            <a:solidFill>
              <a:srgbClr val="CBD5E1"/>
            </a:solidFill>
            <a:prstDash val="solid"/>
          </a:ln>
        </p:spPr>
      </p:sp>
      <p:sp>
        <p:nvSpPr>
          <p:cNvPr id="66" name="Text 64"/>
          <p:cNvSpPr txBox="1"/>
          <p:nvPr/>
        </p:nvSpPr>
        <p:spPr>
          <a:xfrm>
            <a:off x="301752" y="2715768"/>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Compliance approval</a:t>
            </a:r>
            <a:endParaRPr lang="en-US" sz="800" dirty="0"/>
          </a:p>
        </p:txBody>
      </p:sp>
      <p:sp>
        <p:nvSpPr>
          <p:cNvPr id="67" name="Shape 65"/>
          <p:cNvSpPr/>
          <p:nvPr/>
        </p:nvSpPr>
        <p:spPr>
          <a:xfrm>
            <a:off x="2377440" y="2715768"/>
            <a:ext cx="1005840" cy="301752"/>
          </a:xfrm>
          <a:prstGeom prst="rect">
            <a:avLst/>
          </a:prstGeom>
          <a:solidFill>
            <a:srgbClr val="F2F4F5"/>
          </a:solidFill>
          <a:ln w="12700">
            <a:solidFill>
              <a:srgbClr val="CBD5E1"/>
            </a:solidFill>
            <a:prstDash val="solid"/>
          </a:ln>
        </p:spPr>
      </p:sp>
      <p:sp>
        <p:nvSpPr>
          <p:cNvPr id="68" name="Text 66"/>
          <p:cNvSpPr txBox="1"/>
          <p:nvPr/>
        </p:nvSpPr>
        <p:spPr>
          <a:xfrm>
            <a:off x="2404872" y="2715768"/>
            <a:ext cx="95097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69" name="Shape 67"/>
          <p:cNvSpPr/>
          <p:nvPr/>
        </p:nvSpPr>
        <p:spPr>
          <a:xfrm>
            <a:off x="3383280" y="2715768"/>
            <a:ext cx="1005840" cy="301752"/>
          </a:xfrm>
          <a:prstGeom prst="rect">
            <a:avLst/>
          </a:prstGeom>
          <a:solidFill>
            <a:srgbClr val="F2F4F5"/>
          </a:solidFill>
          <a:ln w="12700">
            <a:solidFill>
              <a:srgbClr val="CBD5E1"/>
            </a:solidFill>
            <a:prstDash val="solid"/>
          </a:ln>
        </p:spPr>
      </p:sp>
      <p:sp>
        <p:nvSpPr>
          <p:cNvPr id="70" name="Text 68"/>
          <p:cNvSpPr txBox="1"/>
          <p:nvPr/>
        </p:nvSpPr>
        <p:spPr>
          <a:xfrm>
            <a:off x="3410712" y="2715768"/>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71" name="Shape 69"/>
          <p:cNvSpPr/>
          <p:nvPr/>
        </p:nvSpPr>
        <p:spPr>
          <a:xfrm>
            <a:off x="4389120" y="2715768"/>
            <a:ext cx="822960" cy="301752"/>
          </a:xfrm>
          <a:prstGeom prst="rect">
            <a:avLst/>
          </a:prstGeom>
          <a:solidFill>
            <a:srgbClr val="F2F4F5"/>
          </a:solidFill>
          <a:ln w="12700">
            <a:solidFill>
              <a:srgbClr val="CBD5E1"/>
            </a:solidFill>
            <a:prstDash val="solid"/>
          </a:ln>
        </p:spPr>
      </p:sp>
      <p:sp>
        <p:nvSpPr>
          <p:cNvPr id="72" name="Text 70"/>
          <p:cNvSpPr txBox="1"/>
          <p:nvPr/>
        </p:nvSpPr>
        <p:spPr>
          <a:xfrm>
            <a:off x="4416552" y="2715768"/>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73" name="Shape 71"/>
          <p:cNvSpPr/>
          <p:nvPr/>
        </p:nvSpPr>
        <p:spPr>
          <a:xfrm>
            <a:off x="5212080" y="2715768"/>
            <a:ext cx="1005840" cy="301752"/>
          </a:xfrm>
          <a:prstGeom prst="rect">
            <a:avLst/>
          </a:prstGeom>
          <a:solidFill>
            <a:srgbClr val="F2F4F5"/>
          </a:solidFill>
          <a:ln w="12700">
            <a:solidFill>
              <a:srgbClr val="CBD5E1"/>
            </a:solidFill>
            <a:prstDash val="solid"/>
          </a:ln>
        </p:spPr>
      </p:sp>
      <p:sp>
        <p:nvSpPr>
          <p:cNvPr id="74" name="Text 72"/>
          <p:cNvSpPr txBox="1"/>
          <p:nvPr/>
        </p:nvSpPr>
        <p:spPr>
          <a:xfrm>
            <a:off x="5239512" y="2715768"/>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75" name="Shape 73"/>
          <p:cNvSpPr/>
          <p:nvPr/>
        </p:nvSpPr>
        <p:spPr>
          <a:xfrm>
            <a:off x="6217920" y="2715768"/>
            <a:ext cx="914400" cy="301752"/>
          </a:xfrm>
          <a:prstGeom prst="rect">
            <a:avLst/>
          </a:prstGeom>
          <a:solidFill>
            <a:srgbClr val="F2F4F5"/>
          </a:solidFill>
          <a:ln w="12700">
            <a:solidFill>
              <a:srgbClr val="CBD5E1"/>
            </a:solidFill>
            <a:prstDash val="solid"/>
          </a:ln>
        </p:spPr>
      </p:sp>
      <p:sp>
        <p:nvSpPr>
          <p:cNvPr id="76" name="Text 74"/>
          <p:cNvSpPr txBox="1"/>
          <p:nvPr/>
        </p:nvSpPr>
        <p:spPr>
          <a:xfrm>
            <a:off x="6245352" y="2715768"/>
            <a:ext cx="85953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77" name="Shape 75"/>
          <p:cNvSpPr/>
          <p:nvPr/>
        </p:nvSpPr>
        <p:spPr>
          <a:xfrm>
            <a:off x="7132320" y="2715768"/>
            <a:ext cx="822960" cy="301752"/>
          </a:xfrm>
          <a:prstGeom prst="rect">
            <a:avLst/>
          </a:prstGeom>
          <a:solidFill>
            <a:srgbClr val="F2F4F5"/>
          </a:solidFill>
          <a:ln w="12700">
            <a:solidFill>
              <a:srgbClr val="CBD5E1"/>
            </a:solidFill>
            <a:prstDash val="solid"/>
          </a:ln>
        </p:spPr>
      </p:sp>
      <p:sp>
        <p:nvSpPr>
          <p:cNvPr id="78" name="Text 76"/>
          <p:cNvSpPr txBox="1"/>
          <p:nvPr/>
        </p:nvSpPr>
        <p:spPr>
          <a:xfrm>
            <a:off x="7159752" y="2715768"/>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79" name="Shape 77"/>
          <p:cNvSpPr/>
          <p:nvPr/>
        </p:nvSpPr>
        <p:spPr>
          <a:xfrm>
            <a:off x="274320" y="3054096"/>
            <a:ext cx="2103120" cy="301752"/>
          </a:xfrm>
          <a:prstGeom prst="rect">
            <a:avLst/>
          </a:prstGeom>
          <a:solidFill>
            <a:srgbClr val="FFFFFF"/>
          </a:solidFill>
          <a:ln w="12700">
            <a:solidFill>
              <a:srgbClr val="CBD5E1"/>
            </a:solidFill>
            <a:prstDash val="solid"/>
          </a:ln>
        </p:spPr>
      </p:sp>
      <p:sp>
        <p:nvSpPr>
          <p:cNvPr id="80" name="Text 78"/>
          <p:cNvSpPr txBox="1"/>
          <p:nvPr/>
        </p:nvSpPr>
        <p:spPr>
          <a:xfrm>
            <a:off x="301752" y="3054096"/>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Anomaly escalation</a:t>
            </a:r>
            <a:endParaRPr lang="en-US" sz="800" dirty="0"/>
          </a:p>
        </p:txBody>
      </p:sp>
      <p:sp>
        <p:nvSpPr>
          <p:cNvPr id="81" name="Shape 79"/>
          <p:cNvSpPr/>
          <p:nvPr/>
        </p:nvSpPr>
        <p:spPr>
          <a:xfrm>
            <a:off x="2377440" y="3054096"/>
            <a:ext cx="1005840" cy="301752"/>
          </a:xfrm>
          <a:prstGeom prst="rect">
            <a:avLst/>
          </a:prstGeom>
          <a:solidFill>
            <a:srgbClr val="FFFFFF"/>
          </a:solidFill>
          <a:ln w="12700">
            <a:solidFill>
              <a:srgbClr val="CBD5E1"/>
            </a:solidFill>
            <a:prstDash val="solid"/>
          </a:ln>
        </p:spPr>
      </p:sp>
      <p:sp>
        <p:nvSpPr>
          <p:cNvPr id="82" name="Text 80"/>
          <p:cNvSpPr txBox="1"/>
          <p:nvPr/>
        </p:nvSpPr>
        <p:spPr>
          <a:xfrm>
            <a:off x="2404872" y="3054096"/>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83" name="Shape 81"/>
          <p:cNvSpPr/>
          <p:nvPr/>
        </p:nvSpPr>
        <p:spPr>
          <a:xfrm>
            <a:off x="3383280" y="3054096"/>
            <a:ext cx="1005840" cy="301752"/>
          </a:xfrm>
          <a:prstGeom prst="rect">
            <a:avLst/>
          </a:prstGeom>
          <a:solidFill>
            <a:srgbClr val="FFFFFF"/>
          </a:solidFill>
          <a:ln w="12700">
            <a:solidFill>
              <a:srgbClr val="CBD5E1"/>
            </a:solidFill>
            <a:prstDash val="solid"/>
          </a:ln>
        </p:spPr>
      </p:sp>
      <p:sp>
        <p:nvSpPr>
          <p:cNvPr id="84" name="Text 82"/>
          <p:cNvSpPr txBox="1"/>
          <p:nvPr/>
        </p:nvSpPr>
        <p:spPr>
          <a:xfrm>
            <a:off x="3410712" y="3054096"/>
            <a:ext cx="950976" cy="3017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a:t>
            </a:r>
            <a:endParaRPr lang="en-US" sz="900" dirty="0"/>
          </a:p>
        </p:txBody>
      </p:sp>
      <p:sp>
        <p:nvSpPr>
          <p:cNvPr id="85" name="Shape 83"/>
          <p:cNvSpPr/>
          <p:nvPr/>
        </p:nvSpPr>
        <p:spPr>
          <a:xfrm>
            <a:off x="4389120" y="3054096"/>
            <a:ext cx="822960" cy="301752"/>
          </a:xfrm>
          <a:prstGeom prst="rect">
            <a:avLst/>
          </a:prstGeom>
          <a:solidFill>
            <a:srgbClr val="FFFFFF"/>
          </a:solidFill>
          <a:ln w="12700">
            <a:solidFill>
              <a:srgbClr val="CBD5E1"/>
            </a:solidFill>
            <a:prstDash val="solid"/>
          </a:ln>
        </p:spPr>
      </p:sp>
      <p:sp>
        <p:nvSpPr>
          <p:cNvPr id="86" name="Text 84"/>
          <p:cNvSpPr txBox="1"/>
          <p:nvPr/>
        </p:nvSpPr>
        <p:spPr>
          <a:xfrm>
            <a:off x="4416552" y="3054096"/>
            <a:ext cx="768096" cy="3017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a:t>
            </a:r>
            <a:endParaRPr lang="en-US" sz="900" dirty="0"/>
          </a:p>
        </p:txBody>
      </p:sp>
      <p:sp>
        <p:nvSpPr>
          <p:cNvPr id="87" name="Shape 85"/>
          <p:cNvSpPr/>
          <p:nvPr/>
        </p:nvSpPr>
        <p:spPr>
          <a:xfrm>
            <a:off x="5212080" y="3054096"/>
            <a:ext cx="1005840" cy="301752"/>
          </a:xfrm>
          <a:prstGeom prst="rect">
            <a:avLst/>
          </a:prstGeom>
          <a:solidFill>
            <a:srgbClr val="FFFFFF"/>
          </a:solidFill>
          <a:ln w="12700">
            <a:solidFill>
              <a:srgbClr val="CBD5E1"/>
            </a:solidFill>
            <a:prstDash val="solid"/>
          </a:ln>
        </p:spPr>
      </p:sp>
      <p:sp>
        <p:nvSpPr>
          <p:cNvPr id="88" name="Text 86"/>
          <p:cNvSpPr txBox="1"/>
          <p:nvPr/>
        </p:nvSpPr>
        <p:spPr>
          <a:xfrm>
            <a:off x="5239512" y="3054096"/>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89" name="Shape 87"/>
          <p:cNvSpPr/>
          <p:nvPr/>
        </p:nvSpPr>
        <p:spPr>
          <a:xfrm>
            <a:off x="6217920" y="3054096"/>
            <a:ext cx="914400" cy="301752"/>
          </a:xfrm>
          <a:prstGeom prst="rect">
            <a:avLst/>
          </a:prstGeom>
          <a:solidFill>
            <a:srgbClr val="FFFFFF"/>
          </a:solidFill>
          <a:ln w="12700">
            <a:solidFill>
              <a:srgbClr val="CBD5E1"/>
            </a:solidFill>
            <a:prstDash val="solid"/>
          </a:ln>
        </p:spPr>
      </p:sp>
      <p:sp>
        <p:nvSpPr>
          <p:cNvPr id="90" name="Text 88"/>
          <p:cNvSpPr txBox="1"/>
          <p:nvPr/>
        </p:nvSpPr>
        <p:spPr>
          <a:xfrm>
            <a:off x="6245352" y="3054096"/>
            <a:ext cx="859536" cy="301752"/>
          </a:xfrm>
          <a:prstGeom prst="rect">
            <a:avLst/>
          </a:prstGeom>
          <a:noFill/>
          <a:ln/>
        </p:spPr>
        <p:txBody>
          <a:bodyPr wrap="square" lIns="0" tIns="0" rIns="0" bIns="0" rtlCol="0" anchor="ctr"/>
          <a:lstStyle/>
          <a:p>
            <a:pPr algn="ctr" indent="0" marL="0">
              <a:buNone/>
            </a:pPr>
            <a:r>
              <a:rPr lang="en-US" sz="900" b="1" dirty="0">
                <a:solidFill>
                  <a:srgbClr val="1A8A4A"/>
                </a:solidFill>
                <a:latin typeface="Calibri" pitchFamily="34" charset="0"/>
                <a:ea typeface="Calibri" pitchFamily="34" charset="-122"/>
                <a:cs typeface="Calibri" pitchFamily="34" charset="-120"/>
              </a:rPr>
              <a:t>R</a:t>
            </a:r>
            <a:endParaRPr lang="en-US" sz="900" dirty="0"/>
          </a:p>
        </p:txBody>
      </p:sp>
      <p:sp>
        <p:nvSpPr>
          <p:cNvPr id="91" name="Shape 89"/>
          <p:cNvSpPr/>
          <p:nvPr/>
        </p:nvSpPr>
        <p:spPr>
          <a:xfrm>
            <a:off x="7132320" y="3054096"/>
            <a:ext cx="822960" cy="301752"/>
          </a:xfrm>
          <a:prstGeom prst="rect">
            <a:avLst/>
          </a:prstGeom>
          <a:solidFill>
            <a:srgbClr val="FFFFFF"/>
          </a:solidFill>
          <a:ln w="12700">
            <a:solidFill>
              <a:srgbClr val="CBD5E1"/>
            </a:solidFill>
            <a:prstDash val="solid"/>
          </a:ln>
        </p:spPr>
      </p:sp>
      <p:sp>
        <p:nvSpPr>
          <p:cNvPr id="92" name="Text 90"/>
          <p:cNvSpPr txBox="1"/>
          <p:nvPr/>
        </p:nvSpPr>
        <p:spPr>
          <a:xfrm>
            <a:off x="7159752" y="3054096"/>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93" name="Shape 91"/>
          <p:cNvSpPr/>
          <p:nvPr/>
        </p:nvSpPr>
        <p:spPr>
          <a:xfrm>
            <a:off x="274320" y="3392424"/>
            <a:ext cx="2103120" cy="301752"/>
          </a:xfrm>
          <a:prstGeom prst="rect">
            <a:avLst/>
          </a:prstGeom>
          <a:solidFill>
            <a:srgbClr val="F2F4F5"/>
          </a:solidFill>
          <a:ln w="12700">
            <a:solidFill>
              <a:srgbClr val="CBD5E1"/>
            </a:solidFill>
            <a:prstDash val="solid"/>
          </a:ln>
        </p:spPr>
      </p:sp>
      <p:sp>
        <p:nvSpPr>
          <p:cNvPr id="94" name="Text 92"/>
          <p:cNvSpPr txBox="1"/>
          <p:nvPr/>
        </p:nvSpPr>
        <p:spPr>
          <a:xfrm>
            <a:off x="301752" y="3392424"/>
            <a:ext cx="2048256" cy="301752"/>
          </a:xfrm>
          <a:prstGeom prst="rect">
            <a:avLst/>
          </a:prstGeom>
          <a:noFill/>
          <a:ln/>
        </p:spPr>
        <p:txBody>
          <a:bodyPr wrap="square" lIns="0" tIns="0" rIns="0" bIns="0" rtlCol="0" anchor="ctr"/>
          <a:lstStyle/>
          <a:p>
            <a:pPr algn="l" indent="0" marL="0">
              <a:buNone/>
            </a:pPr>
            <a:r>
              <a:rPr lang="en-US" sz="800" dirty="0">
                <a:solidFill>
                  <a:srgbClr val="7F8C8D"/>
                </a:solidFill>
                <a:latin typeface="Calibri" pitchFamily="34" charset="0"/>
                <a:ea typeface="Calibri" pitchFamily="34" charset="-122"/>
                <a:cs typeface="Calibri" pitchFamily="34" charset="-120"/>
              </a:rPr>
              <a:t>RI/SP commitment approval</a:t>
            </a:r>
            <a:endParaRPr lang="en-US" sz="800" dirty="0"/>
          </a:p>
        </p:txBody>
      </p:sp>
      <p:sp>
        <p:nvSpPr>
          <p:cNvPr id="95" name="Shape 93"/>
          <p:cNvSpPr/>
          <p:nvPr/>
        </p:nvSpPr>
        <p:spPr>
          <a:xfrm>
            <a:off x="2377440" y="3392424"/>
            <a:ext cx="1005840" cy="301752"/>
          </a:xfrm>
          <a:prstGeom prst="rect">
            <a:avLst/>
          </a:prstGeom>
          <a:solidFill>
            <a:srgbClr val="F2F4F5"/>
          </a:solidFill>
          <a:ln w="12700">
            <a:solidFill>
              <a:srgbClr val="CBD5E1"/>
            </a:solidFill>
            <a:prstDash val="solid"/>
          </a:ln>
        </p:spPr>
      </p:sp>
      <p:sp>
        <p:nvSpPr>
          <p:cNvPr id="96" name="Text 94"/>
          <p:cNvSpPr txBox="1"/>
          <p:nvPr/>
        </p:nvSpPr>
        <p:spPr>
          <a:xfrm>
            <a:off x="2404872" y="3392424"/>
            <a:ext cx="950976" cy="30175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a:t>
            </a:r>
            <a:endParaRPr lang="en-US" sz="900" dirty="0"/>
          </a:p>
        </p:txBody>
      </p:sp>
      <p:sp>
        <p:nvSpPr>
          <p:cNvPr id="97" name="Shape 95"/>
          <p:cNvSpPr/>
          <p:nvPr/>
        </p:nvSpPr>
        <p:spPr>
          <a:xfrm>
            <a:off x="3383280" y="3392424"/>
            <a:ext cx="1005840" cy="301752"/>
          </a:xfrm>
          <a:prstGeom prst="rect">
            <a:avLst/>
          </a:prstGeom>
          <a:solidFill>
            <a:srgbClr val="F2F4F5"/>
          </a:solidFill>
          <a:ln w="12700">
            <a:solidFill>
              <a:srgbClr val="CBD5E1"/>
            </a:solidFill>
            <a:prstDash val="solid"/>
          </a:ln>
        </p:spPr>
      </p:sp>
      <p:sp>
        <p:nvSpPr>
          <p:cNvPr id="98" name="Text 96"/>
          <p:cNvSpPr txBox="1"/>
          <p:nvPr/>
        </p:nvSpPr>
        <p:spPr>
          <a:xfrm>
            <a:off x="3410712" y="3392424"/>
            <a:ext cx="950976" cy="301752"/>
          </a:xfrm>
          <a:prstGeom prst="rect">
            <a:avLst/>
          </a:prstGeom>
          <a:noFill/>
          <a:ln/>
        </p:spPr>
        <p:txBody>
          <a:bodyPr wrap="square" lIns="0" tIns="0" rIns="0" bIns="0" rtlCol="0" anchor="ctr"/>
          <a:lstStyle/>
          <a:p>
            <a:pPr algn="ctr" indent="0" marL="0">
              <a:buNone/>
            </a:pPr>
            <a:r>
              <a:rPr lang="en-US" sz="900" b="1" dirty="0">
                <a:solidFill>
                  <a:srgbClr val="1A5FA8"/>
                </a:solidFill>
                <a:latin typeface="Calibri" pitchFamily="34" charset="0"/>
                <a:ea typeface="Calibri" pitchFamily="34" charset="-122"/>
                <a:cs typeface="Calibri" pitchFamily="34" charset="-120"/>
              </a:rPr>
              <a:t>C</a:t>
            </a:r>
            <a:endParaRPr lang="en-US" sz="900" dirty="0"/>
          </a:p>
        </p:txBody>
      </p:sp>
      <p:sp>
        <p:nvSpPr>
          <p:cNvPr id="99" name="Shape 97"/>
          <p:cNvSpPr/>
          <p:nvPr/>
        </p:nvSpPr>
        <p:spPr>
          <a:xfrm>
            <a:off x="4389120" y="3392424"/>
            <a:ext cx="822960" cy="301752"/>
          </a:xfrm>
          <a:prstGeom prst="rect">
            <a:avLst/>
          </a:prstGeom>
          <a:solidFill>
            <a:srgbClr val="F2F4F5"/>
          </a:solidFill>
          <a:ln w="12700">
            <a:solidFill>
              <a:srgbClr val="CBD5E1"/>
            </a:solidFill>
            <a:prstDash val="solid"/>
          </a:ln>
        </p:spPr>
      </p:sp>
      <p:sp>
        <p:nvSpPr>
          <p:cNvPr id="100" name="Text 98"/>
          <p:cNvSpPr txBox="1"/>
          <p:nvPr/>
        </p:nvSpPr>
        <p:spPr>
          <a:xfrm>
            <a:off x="4416552" y="3392424"/>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101" name="Shape 99"/>
          <p:cNvSpPr/>
          <p:nvPr/>
        </p:nvSpPr>
        <p:spPr>
          <a:xfrm>
            <a:off x="5212080" y="3392424"/>
            <a:ext cx="1005840" cy="301752"/>
          </a:xfrm>
          <a:prstGeom prst="rect">
            <a:avLst/>
          </a:prstGeom>
          <a:solidFill>
            <a:srgbClr val="F2F4F5"/>
          </a:solidFill>
          <a:ln w="12700">
            <a:solidFill>
              <a:srgbClr val="CBD5E1"/>
            </a:solidFill>
            <a:prstDash val="solid"/>
          </a:ln>
        </p:spPr>
      </p:sp>
      <p:sp>
        <p:nvSpPr>
          <p:cNvPr id="102" name="Text 100"/>
          <p:cNvSpPr txBox="1"/>
          <p:nvPr/>
        </p:nvSpPr>
        <p:spPr>
          <a:xfrm>
            <a:off x="5239512" y="3392424"/>
            <a:ext cx="95097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103" name="Shape 101"/>
          <p:cNvSpPr/>
          <p:nvPr/>
        </p:nvSpPr>
        <p:spPr>
          <a:xfrm>
            <a:off x="6217920" y="3392424"/>
            <a:ext cx="914400" cy="301752"/>
          </a:xfrm>
          <a:prstGeom prst="rect">
            <a:avLst/>
          </a:prstGeom>
          <a:solidFill>
            <a:srgbClr val="F2F4F5"/>
          </a:solidFill>
          <a:ln w="12700">
            <a:solidFill>
              <a:srgbClr val="CBD5E1"/>
            </a:solidFill>
            <a:prstDash val="solid"/>
          </a:ln>
        </p:spPr>
      </p:sp>
      <p:sp>
        <p:nvSpPr>
          <p:cNvPr id="104" name="Text 102"/>
          <p:cNvSpPr txBox="1"/>
          <p:nvPr/>
        </p:nvSpPr>
        <p:spPr>
          <a:xfrm>
            <a:off x="6245352" y="3392424"/>
            <a:ext cx="85953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105" name="Shape 103"/>
          <p:cNvSpPr/>
          <p:nvPr/>
        </p:nvSpPr>
        <p:spPr>
          <a:xfrm>
            <a:off x="7132320" y="3392424"/>
            <a:ext cx="822960" cy="301752"/>
          </a:xfrm>
          <a:prstGeom prst="rect">
            <a:avLst/>
          </a:prstGeom>
          <a:solidFill>
            <a:srgbClr val="F2F4F5"/>
          </a:solidFill>
          <a:ln w="12700">
            <a:solidFill>
              <a:srgbClr val="CBD5E1"/>
            </a:solidFill>
            <a:prstDash val="solid"/>
          </a:ln>
        </p:spPr>
      </p:sp>
      <p:sp>
        <p:nvSpPr>
          <p:cNvPr id="106" name="Text 104"/>
          <p:cNvSpPr txBox="1"/>
          <p:nvPr/>
        </p:nvSpPr>
        <p:spPr>
          <a:xfrm>
            <a:off x="7159752" y="3392424"/>
            <a:ext cx="768096" cy="301752"/>
          </a:xfrm>
          <a:prstGeom prst="rect">
            <a:avLst/>
          </a:prstGeom>
          <a:noFill/>
          <a:ln/>
        </p:spPr>
        <p:txBody>
          <a:bodyPr wrap="square" lIns="0" tIns="0" rIns="0" bIns="0" rtlCol="0" anchor="ctr"/>
          <a:lstStyle/>
          <a:p>
            <a:pPr algn="ctr" indent="0" marL="0">
              <a:buNone/>
            </a:pPr>
            <a:r>
              <a:rPr lang="en-US" sz="900" b="1" dirty="0">
                <a:solidFill>
                  <a:srgbClr val="7F8C8D"/>
                </a:solidFill>
                <a:latin typeface="Calibri" pitchFamily="34" charset="0"/>
                <a:ea typeface="Calibri" pitchFamily="34" charset="-122"/>
                <a:cs typeface="Calibri" pitchFamily="34" charset="-120"/>
              </a:rPr>
              <a:t>I</a:t>
            </a:r>
            <a:endParaRPr lang="en-US" sz="900" dirty="0"/>
          </a:p>
        </p:txBody>
      </p:sp>
      <p:sp>
        <p:nvSpPr>
          <p:cNvPr id="107" name="Text 105"/>
          <p:cNvSpPr txBox="1"/>
          <p:nvPr/>
        </p:nvSpPr>
        <p:spPr>
          <a:xfrm>
            <a:off x="274320" y="3913632"/>
            <a:ext cx="3657600" cy="201168"/>
          </a:xfrm>
          <a:prstGeom prst="rect">
            <a:avLst/>
          </a:prstGeom>
          <a:noFill/>
          <a:ln/>
        </p:spPr>
        <p:txBody>
          <a:bodyPr wrap="square" lIns="0" tIns="0" rIns="0" bIns="0" rtlCol="0" anchor="ctr"/>
          <a:lstStyle/>
          <a:p>
            <a:pPr indent="0" marL="0">
              <a:buNone/>
            </a:pPr>
            <a:r>
              <a:rPr lang="en-US" sz="800" b="1" spc="200" kern="0" dirty="0">
                <a:solidFill>
                  <a:srgbClr val="0F2D56"/>
                </a:solidFill>
                <a:latin typeface="Calibri" pitchFamily="34" charset="0"/>
                <a:ea typeface="Calibri" pitchFamily="34" charset="-122"/>
                <a:cs typeface="Calibri" pitchFamily="34" charset="-120"/>
              </a:rPr>
              <a:t>BUDGET ALERT THRESHOLDS</a:t>
            </a:r>
            <a:endParaRPr lang="en-US" sz="800" dirty="0"/>
          </a:p>
        </p:txBody>
      </p:sp>
      <p:sp>
        <p:nvSpPr>
          <p:cNvPr id="108" name="Shape 106"/>
          <p:cNvSpPr/>
          <p:nvPr/>
        </p:nvSpPr>
        <p:spPr>
          <a:xfrm>
            <a:off x="274320" y="4114800"/>
            <a:ext cx="2743200" cy="1645920"/>
          </a:xfrm>
          <a:prstGeom prst="roundRect">
            <a:avLst>
              <a:gd name="adj" fmla="val 5000"/>
            </a:avLst>
          </a:prstGeom>
          <a:solidFill>
            <a:srgbClr val="F2F4F5"/>
          </a:solidFill>
          <a:ln w="12700">
            <a:solidFill>
              <a:srgbClr val="1A5FA8"/>
            </a:solidFill>
            <a:prstDash val="solid"/>
          </a:ln>
        </p:spPr>
      </p:sp>
      <p:sp>
        <p:nvSpPr>
          <p:cNvPr id="109" name="Text 107"/>
          <p:cNvSpPr txBox="1"/>
          <p:nvPr/>
        </p:nvSpPr>
        <p:spPr>
          <a:xfrm>
            <a:off x="274320" y="4187952"/>
            <a:ext cx="2743200" cy="594360"/>
          </a:xfrm>
          <a:prstGeom prst="rect">
            <a:avLst/>
          </a:prstGeom>
          <a:noFill/>
          <a:ln/>
        </p:spPr>
        <p:txBody>
          <a:bodyPr wrap="square" lIns="0" tIns="0" rIns="0" bIns="0" rtlCol="0" anchor="ctr"/>
          <a:lstStyle/>
          <a:p>
            <a:pPr algn="ctr" indent="0" marL="0">
              <a:buNone/>
            </a:pPr>
            <a:r>
              <a:rPr lang="en-US" sz="3200" b="1" dirty="0">
                <a:solidFill>
                  <a:srgbClr val="1A5FA8"/>
                </a:solidFill>
                <a:latin typeface="Calibri" pitchFamily="34" charset="0"/>
                <a:ea typeface="Calibri" pitchFamily="34" charset="-122"/>
                <a:cs typeface="Calibri" pitchFamily="34" charset="-120"/>
              </a:rPr>
              <a:t>80%</a:t>
            </a:r>
            <a:endParaRPr lang="en-US" sz="3200" dirty="0"/>
          </a:p>
        </p:txBody>
      </p:sp>
      <p:sp>
        <p:nvSpPr>
          <p:cNvPr id="110" name="Text 108"/>
          <p:cNvSpPr txBox="1"/>
          <p:nvPr/>
        </p:nvSpPr>
        <p:spPr>
          <a:xfrm>
            <a:off x="365760" y="4773168"/>
            <a:ext cx="2560320" cy="256032"/>
          </a:xfrm>
          <a:prstGeom prst="rect">
            <a:avLst/>
          </a:prstGeom>
          <a:noFill/>
          <a:ln/>
        </p:spPr>
        <p:txBody>
          <a:bodyPr wrap="square" lIns="0" tIns="0" rIns="0" bIns="0" rtlCol="0" anchor="ctr"/>
          <a:lstStyle/>
          <a:p>
            <a:pPr algn="ctr" indent="0" marL="0">
              <a:buNone/>
            </a:pPr>
            <a:r>
              <a:rPr lang="en-US" sz="1000" b="1" dirty="0">
                <a:solidFill>
                  <a:srgbClr val="1A5FA8"/>
                </a:solidFill>
                <a:latin typeface="Calibri" pitchFamily="34" charset="0"/>
                <a:ea typeface="Calibri" pitchFamily="34" charset="-122"/>
                <a:cs typeface="Calibri" pitchFamily="34" charset="-120"/>
              </a:rPr>
              <a:t>Warning</a:t>
            </a:r>
            <a:endParaRPr lang="en-US" sz="1000" dirty="0"/>
          </a:p>
        </p:txBody>
      </p:sp>
      <p:sp>
        <p:nvSpPr>
          <p:cNvPr id="111" name="Text 109"/>
          <p:cNvSpPr txBox="1"/>
          <p:nvPr/>
        </p:nvSpPr>
        <p:spPr>
          <a:xfrm>
            <a:off x="365760" y="5047488"/>
            <a:ext cx="2560320" cy="594360"/>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Automated alert to FinOps + Engineering leads</a:t>
            </a:r>
            <a:endParaRPr lang="en-US" sz="850" dirty="0"/>
          </a:p>
        </p:txBody>
      </p:sp>
      <p:sp>
        <p:nvSpPr>
          <p:cNvPr id="112" name="Shape 110"/>
          <p:cNvSpPr/>
          <p:nvPr/>
        </p:nvSpPr>
        <p:spPr>
          <a:xfrm>
            <a:off x="3218688" y="4114800"/>
            <a:ext cx="2743200" cy="1645920"/>
          </a:xfrm>
          <a:prstGeom prst="roundRect">
            <a:avLst>
              <a:gd name="adj" fmla="val 5000"/>
            </a:avLst>
          </a:prstGeom>
          <a:solidFill>
            <a:srgbClr val="F2F4F5"/>
          </a:solidFill>
          <a:ln w="12700">
            <a:solidFill>
              <a:srgbClr val="E07B00"/>
            </a:solidFill>
            <a:prstDash val="solid"/>
          </a:ln>
        </p:spPr>
      </p:sp>
      <p:sp>
        <p:nvSpPr>
          <p:cNvPr id="113" name="Text 111"/>
          <p:cNvSpPr txBox="1"/>
          <p:nvPr/>
        </p:nvSpPr>
        <p:spPr>
          <a:xfrm>
            <a:off x="3218688" y="4187952"/>
            <a:ext cx="2743200" cy="594360"/>
          </a:xfrm>
          <a:prstGeom prst="rect">
            <a:avLst/>
          </a:prstGeom>
          <a:noFill/>
          <a:ln/>
        </p:spPr>
        <p:txBody>
          <a:bodyPr wrap="square" lIns="0" tIns="0" rIns="0" bIns="0" rtlCol="0" anchor="ctr"/>
          <a:lstStyle/>
          <a:p>
            <a:pPr algn="ctr" indent="0" marL="0">
              <a:buNone/>
            </a:pPr>
            <a:r>
              <a:rPr lang="en-US" sz="3200" b="1" dirty="0">
                <a:solidFill>
                  <a:srgbClr val="E07B00"/>
                </a:solidFill>
                <a:latin typeface="Calibri" pitchFamily="34" charset="0"/>
                <a:ea typeface="Calibri" pitchFamily="34" charset="-122"/>
                <a:cs typeface="Calibri" pitchFamily="34" charset="-120"/>
              </a:rPr>
              <a:t>90%</a:t>
            </a:r>
            <a:endParaRPr lang="en-US" sz="3200" dirty="0"/>
          </a:p>
        </p:txBody>
      </p:sp>
      <p:sp>
        <p:nvSpPr>
          <p:cNvPr id="114" name="Text 112"/>
          <p:cNvSpPr txBox="1"/>
          <p:nvPr/>
        </p:nvSpPr>
        <p:spPr>
          <a:xfrm>
            <a:off x="3310128" y="4773168"/>
            <a:ext cx="2560320" cy="256032"/>
          </a:xfrm>
          <a:prstGeom prst="rect">
            <a:avLst/>
          </a:prstGeom>
          <a:noFill/>
          <a:ln/>
        </p:spPr>
        <p:txBody>
          <a:bodyPr wrap="square" lIns="0" tIns="0" rIns="0" bIns="0" rtlCol="0" anchor="ctr"/>
          <a:lstStyle/>
          <a:p>
            <a:pPr algn="ctr" indent="0" marL="0">
              <a:buNone/>
            </a:pPr>
            <a:r>
              <a:rPr lang="en-US" sz="1000" b="1" dirty="0">
                <a:solidFill>
                  <a:srgbClr val="E07B00"/>
                </a:solidFill>
                <a:latin typeface="Calibri" pitchFamily="34" charset="0"/>
                <a:ea typeface="Calibri" pitchFamily="34" charset="-122"/>
                <a:cs typeface="Calibri" pitchFamily="34" charset="-120"/>
              </a:rPr>
              <a:t>Action Plan</a:t>
            </a:r>
            <a:endParaRPr lang="en-US" sz="1000" dirty="0"/>
          </a:p>
        </p:txBody>
      </p:sp>
      <p:sp>
        <p:nvSpPr>
          <p:cNvPr id="115" name="Text 113"/>
          <p:cNvSpPr txBox="1"/>
          <p:nvPr/>
        </p:nvSpPr>
        <p:spPr>
          <a:xfrm>
            <a:off x="3310128" y="5047488"/>
            <a:ext cx="2560320" cy="594360"/>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Immediate review — identify reduction actions</a:t>
            </a:r>
            <a:endParaRPr lang="en-US" sz="850" dirty="0"/>
          </a:p>
        </p:txBody>
      </p:sp>
      <p:sp>
        <p:nvSpPr>
          <p:cNvPr id="116" name="Shape 114"/>
          <p:cNvSpPr/>
          <p:nvPr/>
        </p:nvSpPr>
        <p:spPr>
          <a:xfrm>
            <a:off x="6163056" y="4114800"/>
            <a:ext cx="2743200" cy="1645920"/>
          </a:xfrm>
          <a:prstGeom prst="roundRect">
            <a:avLst>
              <a:gd name="adj" fmla="val 5000"/>
            </a:avLst>
          </a:prstGeom>
          <a:solidFill>
            <a:srgbClr val="F2F4F5"/>
          </a:solidFill>
          <a:ln w="12700">
            <a:solidFill>
              <a:srgbClr val="C0392B"/>
            </a:solidFill>
            <a:prstDash val="solid"/>
          </a:ln>
        </p:spPr>
      </p:sp>
      <p:sp>
        <p:nvSpPr>
          <p:cNvPr id="117" name="Text 115"/>
          <p:cNvSpPr txBox="1"/>
          <p:nvPr/>
        </p:nvSpPr>
        <p:spPr>
          <a:xfrm>
            <a:off x="6163056" y="4187952"/>
            <a:ext cx="2743200" cy="594360"/>
          </a:xfrm>
          <a:prstGeom prst="rect">
            <a:avLst/>
          </a:prstGeom>
          <a:noFill/>
          <a:ln/>
        </p:spPr>
        <p:txBody>
          <a:bodyPr wrap="square" lIns="0" tIns="0" rIns="0" bIns="0" rtlCol="0" anchor="ctr"/>
          <a:lstStyle/>
          <a:p>
            <a:pPr algn="ctr" indent="0" marL="0">
              <a:buNone/>
            </a:pPr>
            <a:r>
              <a:rPr lang="en-US" sz="3200" b="1" dirty="0">
                <a:solidFill>
                  <a:srgbClr val="C0392B"/>
                </a:solidFill>
                <a:latin typeface="Calibri" pitchFamily="34" charset="0"/>
                <a:ea typeface="Calibri" pitchFamily="34" charset="-122"/>
                <a:cs typeface="Calibri" pitchFamily="34" charset="-120"/>
              </a:rPr>
              <a:t>100%</a:t>
            </a:r>
            <a:endParaRPr lang="en-US" sz="3200" dirty="0"/>
          </a:p>
        </p:txBody>
      </p:sp>
      <p:sp>
        <p:nvSpPr>
          <p:cNvPr id="118" name="Text 116"/>
          <p:cNvSpPr txBox="1"/>
          <p:nvPr/>
        </p:nvSpPr>
        <p:spPr>
          <a:xfrm>
            <a:off x="6254496" y="4773168"/>
            <a:ext cx="2560320" cy="256032"/>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Approval Gate</a:t>
            </a:r>
            <a:endParaRPr lang="en-US" sz="1000" dirty="0"/>
          </a:p>
        </p:txBody>
      </p:sp>
      <p:sp>
        <p:nvSpPr>
          <p:cNvPr id="119" name="Text 117"/>
          <p:cNvSpPr txBox="1"/>
          <p:nvPr/>
        </p:nvSpPr>
        <p:spPr>
          <a:xfrm>
            <a:off x="6254496" y="5047488"/>
            <a:ext cx="2560320" cy="594360"/>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CFO/CTO approval required for additional spend</a:t>
            </a:r>
            <a:endParaRPr lang="en-US" sz="850" dirty="0"/>
          </a:p>
        </p:txBody>
      </p:sp>
      <p:sp>
        <p:nvSpPr>
          <p:cNvPr id="120" name="Shape 118"/>
          <p:cNvSpPr/>
          <p:nvPr/>
        </p:nvSpPr>
        <p:spPr>
          <a:xfrm>
            <a:off x="9107424" y="4114800"/>
            <a:ext cx="2743200" cy="1645920"/>
          </a:xfrm>
          <a:prstGeom prst="roundRect">
            <a:avLst>
              <a:gd name="adj" fmla="val 5000"/>
            </a:avLst>
          </a:prstGeom>
          <a:solidFill>
            <a:srgbClr val="F2F4F5"/>
          </a:solidFill>
          <a:ln w="12700">
            <a:solidFill>
              <a:srgbClr val="C0392B"/>
            </a:solidFill>
            <a:prstDash val="solid"/>
          </a:ln>
        </p:spPr>
      </p:sp>
      <p:sp>
        <p:nvSpPr>
          <p:cNvPr id="121" name="Text 119"/>
          <p:cNvSpPr txBox="1"/>
          <p:nvPr/>
        </p:nvSpPr>
        <p:spPr>
          <a:xfrm>
            <a:off x="9107424" y="4187952"/>
            <a:ext cx="2743200" cy="594360"/>
          </a:xfrm>
          <a:prstGeom prst="rect">
            <a:avLst/>
          </a:prstGeom>
          <a:noFill/>
          <a:ln/>
        </p:spPr>
        <p:txBody>
          <a:bodyPr wrap="square" lIns="0" tIns="0" rIns="0" bIns="0" rtlCol="0" anchor="ctr"/>
          <a:lstStyle/>
          <a:p>
            <a:pPr algn="ctr" indent="0" marL="0">
              <a:buNone/>
            </a:pPr>
            <a:r>
              <a:rPr lang="en-US" sz="3200" b="1" dirty="0">
                <a:solidFill>
                  <a:srgbClr val="C0392B"/>
                </a:solidFill>
                <a:latin typeface="Calibri" pitchFamily="34" charset="0"/>
                <a:ea typeface="Calibri" pitchFamily="34" charset="-122"/>
                <a:cs typeface="Calibri" pitchFamily="34" charset="-120"/>
              </a:rPr>
              <a:t>120%</a:t>
            </a:r>
            <a:endParaRPr lang="en-US" sz="3200" dirty="0"/>
          </a:p>
        </p:txBody>
      </p:sp>
      <p:sp>
        <p:nvSpPr>
          <p:cNvPr id="122" name="Text 120"/>
          <p:cNvSpPr txBox="1"/>
          <p:nvPr/>
        </p:nvSpPr>
        <p:spPr>
          <a:xfrm>
            <a:off x="9198864" y="4773168"/>
            <a:ext cx="2560320" cy="256032"/>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Exec Escalation</a:t>
            </a:r>
            <a:endParaRPr lang="en-US" sz="1000" dirty="0"/>
          </a:p>
        </p:txBody>
      </p:sp>
      <p:sp>
        <p:nvSpPr>
          <p:cNvPr id="123" name="Text 121"/>
          <p:cNvSpPr txBox="1"/>
          <p:nvPr/>
        </p:nvSpPr>
        <p:spPr>
          <a:xfrm>
            <a:off x="9198864" y="5047488"/>
            <a:ext cx="2560320" cy="594360"/>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Board-level escalation — emergency review</a:t>
            </a:r>
            <a:endParaRPr lang="en-US" sz="850" dirty="0"/>
          </a:p>
        </p:txBody>
      </p:sp>
      <p:sp>
        <p:nvSpPr>
          <p:cNvPr id="124" name="Shape 122"/>
          <p:cNvSpPr/>
          <p:nvPr/>
        </p:nvSpPr>
        <p:spPr>
          <a:xfrm>
            <a:off x="274320" y="5870448"/>
            <a:ext cx="11612880" cy="713232"/>
          </a:xfrm>
          <a:prstGeom prst="roundRect">
            <a:avLst>
              <a:gd name="adj" fmla="val 10256"/>
            </a:avLst>
          </a:prstGeom>
          <a:solidFill>
            <a:srgbClr val="0F2D56"/>
          </a:solidFill>
          <a:ln w="12700">
            <a:solidFill>
              <a:srgbClr val="0F2D56"/>
            </a:solidFill>
            <a:prstDash val="solid"/>
          </a:ln>
        </p:spPr>
      </p:sp>
      <p:sp>
        <p:nvSpPr>
          <p:cNvPr id="125" name="Text 123"/>
          <p:cNvSpPr txBox="1"/>
          <p:nvPr/>
        </p:nvSpPr>
        <p:spPr>
          <a:xfrm>
            <a:off x="457200" y="5943600"/>
            <a:ext cx="2743200" cy="256032"/>
          </a:xfrm>
          <a:prstGeom prst="rect">
            <a:avLst/>
          </a:prstGeom>
          <a:noFill/>
          <a:ln/>
        </p:spPr>
        <p:txBody>
          <a:bodyPr wrap="square" lIns="0" tIns="0" rIns="0" bIns="0" rtlCol="0" anchor="ctr"/>
          <a:lstStyle/>
          <a:p>
            <a:pPr algn="ctr" indent="0" marL="0">
              <a:buNone/>
            </a:pPr>
            <a:r>
              <a:rPr lang="en-US" sz="1100" b="1" dirty="0">
                <a:solidFill>
                  <a:srgbClr val="0E7C87"/>
                </a:solidFill>
                <a:latin typeface="Calibri" pitchFamily="34" charset="0"/>
                <a:ea typeface="Calibri" pitchFamily="34" charset="-122"/>
                <a:cs typeface="Calibri" pitchFamily="34" charset="-120"/>
              </a:rPr>
              <a:t>Daily</a:t>
            </a:r>
            <a:endParaRPr lang="en-US" sz="1100" dirty="0"/>
          </a:p>
        </p:txBody>
      </p:sp>
      <p:sp>
        <p:nvSpPr>
          <p:cNvPr id="126" name="Text 124"/>
          <p:cNvSpPr txBox="1"/>
          <p:nvPr/>
        </p:nvSpPr>
        <p:spPr>
          <a:xfrm>
            <a:off x="457200" y="6199632"/>
            <a:ext cx="274320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Automated anomaly monitoring + alerts</a:t>
            </a:r>
            <a:endParaRPr lang="en-US" sz="900" dirty="0"/>
          </a:p>
        </p:txBody>
      </p:sp>
      <p:sp>
        <p:nvSpPr>
          <p:cNvPr id="127" name="Text 125"/>
          <p:cNvSpPr txBox="1"/>
          <p:nvPr/>
        </p:nvSpPr>
        <p:spPr>
          <a:xfrm>
            <a:off x="3383280" y="5943600"/>
            <a:ext cx="2743200" cy="256032"/>
          </a:xfrm>
          <a:prstGeom prst="rect">
            <a:avLst/>
          </a:prstGeom>
          <a:noFill/>
          <a:ln/>
        </p:spPr>
        <p:txBody>
          <a:bodyPr wrap="square" lIns="0" tIns="0" rIns="0" bIns="0" rtlCol="0" anchor="ctr"/>
          <a:lstStyle/>
          <a:p>
            <a:pPr algn="ctr" indent="0" marL="0">
              <a:buNone/>
            </a:pPr>
            <a:r>
              <a:rPr lang="en-US" sz="1100" b="1" dirty="0">
                <a:solidFill>
                  <a:srgbClr val="0E7C87"/>
                </a:solidFill>
                <a:latin typeface="Calibri" pitchFamily="34" charset="0"/>
                <a:ea typeface="Calibri" pitchFamily="34" charset="-122"/>
                <a:cs typeface="Calibri" pitchFamily="34" charset="-120"/>
              </a:rPr>
              <a:t>Weekly</a:t>
            </a:r>
            <a:endParaRPr lang="en-US" sz="1100" dirty="0"/>
          </a:p>
        </p:txBody>
      </p:sp>
      <p:sp>
        <p:nvSpPr>
          <p:cNvPr id="128" name="Text 126"/>
          <p:cNvSpPr txBox="1"/>
          <p:nvPr/>
        </p:nvSpPr>
        <p:spPr>
          <a:xfrm>
            <a:off x="3383280" y="6199632"/>
            <a:ext cx="274320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Tactical review — FinOps + Eng leads</a:t>
            </a:r>
            <a:endParaRPr lang="en-US" sz="900" dirty="0"/>
          </a:p>
        </p:txBody>
      </p:sp>
      <p:sp>
        <p:nvSpPr>
          <p:cNvPr id="129" name="Text 127"/>
          <p:cNvSpPr txBox="1"/>
          <p:nvPr/>
        </p:nvSpPr>
        <p:spPr>
          <a:xfrm>
            <a:off x="6309360" y="5943600"/>
            <a:ext cx="2743200" cy="256032"/>
          </a:xfrm>
          <a:prstGeom prst="rect">
            <a:avLst/>
          </a:prstGeom>
          <a:noFill/>
          <a:ln/>
        </p:spPr>
        <p:txBody>
          <a:bodyPr wrap="square" lIns="0" tIns="0" rIns="0" bIns="0" rtlCol="0" anchor="ctr"/>
          <a:lstStyle/>
          <a:p>
            <a:pPr algn="ctr" indent="0" marL="0">
              <a:buNone/>
            </a:pPr>
            <a:r>
              <a:rPr lang="en-US" sz="1100" b="1" dirty="0">
                <a:solidFill>
                  <a:srgbClr val="0E7C87"/>
                </a:solidFill>
                <a:latin typeface="Calibri" pitchFamily="34" charset="0"/>
                <a:ea typeface="Calibri" pitchFamily="34" charset="-122"/>
                <a:cs typeface="Calibri" pitchFamily="34" charset="-120"/>
              </a:rPr>
              <a:t>Monthly</a:t>
            </a:r>
            <a:endParaRPr lang="en-US" sz="1100" dirty="0"/>
          </a:p>
        </p:txBody>
      </p:sp>
      <p:sp>
        <p:nvSpPr>
          <p:cNvPr id="130" name="Text 128"/>
          <p:cNvSpPr txBox="1"/>
          <p:nvPr/>
        </p:nvSpPr>
        <p:spPr>
          <a:xfrm>
            <a:off x="6309360" y="6199632"/>
            <a:ext cx="274320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Operational review — all stakeholders</a:t>
            </a:r>
            <a:endParaRPr lang="en-US" sz="900" dirty="0"/>
          </a:p>
        </p:txBody>
      </p:sp>
      <p:sp>
        <p:nvSpPr>
          <p:cNvPr id="131" name="Text 129"/>
          <p:cNvSpPr txBox="1"/>
          <p:nvPr/>
        </p:nvSpPr>
        <p:spPr>
          <a:xfrm>
            <a:off x="9235440" y="5943600"/>
            <a:ext cx="2743200" cy="256032"/>
          </a:xfrm>
          <a:prstGeom prst="rect">
            <a:avLst/>
          </a:prstGeom>
          <a:noFill/>
          <a:ln/>
        </p:spPr>
        <p:txBody>
          <a:bodyPr wrap="square" lIns="0" tIns="0" rIns="0" bIns="0" rtlCol="0" anchor="ctr"/>
          <a:lstStyle/>
          <a:p>
            <a:pPr algn="ctr" indent="0" marL="0">
              <a:buNone/>
            </a:pPr>
            <a:r>
              <a:rPr lang="en-US" sz="1100" b="1" dirty="0">
                <a:solidFill>
                  <a:srgbClr val="0E7C87"/>
                </a:solidFill>
                <a:latin typeface="Calibri" pitchFamily="34" charset="0"/>
                <a:ea typeface="Calibri" pitchFamily="34" charset="-122"/>
                <a:cs typeface="Calibri" pitchFamily="34" charset="-120"/>
              </a:rPr>
              <a:t>Quarterly</a:t>
            </a:r>
            <a:endParaRPr lang="en-US" sz="1100" dirty="0"/>
          </a:p>
        </p:txBody>
      </p:sp>
      <p:sp>
        <p:nvSpPr>
          <p:cNvPr id="132" name="Text 130"/>
          <p:cNvSpPr txBox="1"/>
          <p:nvPr/>
        </p:nvSpPr>
        <p:spPr>
          <a:xfrm>
            <a:off x="9235440" y="6199632"/>
            <a:ext cx="274320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Strategic review — CFO + CTO</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Policy-as-Code &amp; Automation</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From periodic review to continuous, automated cost enforcement</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13 / 18</a:t>
            </a:r>
            <a:endParaRPr lang="en-US" sz="700" dirty="0"/>
          </a:p>
        </p:txBody>
      </p:sp>
      <p:sp>
        <p:nvSpPr>
          <p:cNvPr id="8" name="Shape 6"/>
          <p:cNvSpPr/>
          <p:nvPr/>
        </p:nvSpPr>
        <p:spPr>
          <a:xfrm>
            <a:off x="274320" y="1874520"/>
            <a:ext cx="1188720" cy="749808"/>
          </a:xfrm>
          <a:prstGeom prst="roundRect">
            <a:avLst>
              <a:gd name="adj" fmla="val 8537"/>
            </a:avLst>
          </a:prstGeom>
          <a:solidFill>
            <a:srgbClr val="0F2D56"/>
          </a:solidFill>
          <a:ln w="12700">
            <a:solidFill>
              <a:srgbClr val="0F2D56"/>
            </a:solidFill>
            <a:prstDash val="solid"/>
          </a:ln>
        </p:spPr>
      </p:sp>
      <p:sp>
        <p:nvSpPr>
          <p:cNvPr id="9" name="Text 7"/>
          <p:cNvSpPr txBox="1"/>
          <p:nvPr/>
        </p:nvSpPr>
        <p:spPr>
          <a:xfrm>
            <a:off x="27432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Terraform</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Code</a:t>
            </a:r>
            <a:endParaRPr lang="en-US" sz="850" dirty="0"/>
          </a:p>
        </p:txBody>
      </p:sp>
      <p:sp>
        <p:nvSpPr>
          <p:cNvPr id="10" name="Shape 8"/>
          <p:cNvSpPr/>
          <p:nvPr/>
        </p:nvSpPr>
        <p:spPr>
          <a:xfrm>
            <a:off x="1463040" y="2185416"/>
            <a:ext cx="137160" cy="128016"/>
          </a:xfrm>
          <a:prstGeom prst="rect">
            <a:avLst/>
          </a:prstGeom>
          <a:solidFill>
            <a:srgbClr val="0F2D56"/>
          </a:solidFill>
          <a:ln w="12700">
            <a:solidFill>
              <a:srgbClr val="0F2D56"/>
            </a:solidFill>
            <a:prstDash val="solid"/>
          </a:ln>
        </p:spPr>
      </p:sp>
      <p:sp>
        <p:nvSpPr>
          <p:cNvPr id="11" name="Shape 9"/>
          <p:cNvSpPr/>
          <p:nvPr/>
        </p:nvSpPr>
        <p:spPr>
          <a:xfrm>
            <a:off x="1600200" y="1874520"/>
            <a:ext cx="1188720" cy="749808"/>
          </a:xfrm>
          <a:prstGeom prst="roundRect">
            <a:avLst>
              <a:gd name="adj" fmla="val 8537"/>
            </a:avLst>
          </a:prstGeom>
          <a:solidFill>
            <a:srgbClr val="1A5FA8"/>
          </a:solidFill>
          <a:ln w="12700">
            <a:solidFill>
              <a:srgbClr val="1A5FA8"/>
            </a:solidFill>
            <a:prstDash val="solid"/>
          </a:ln>
        </p:spPr>
      </p:sp>
      <p:sp>
        <p:nvSpPr>
          <p:cNvPr id="12" name="Text 10"/>
          <p:cNvSpPr txBox="1"/>
          <p:nvPr/>
        </p:nvSpPr>
        <p:spPr>
          <a:xfrm>
            <a:off x="160020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CI</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Validation</a:t>
            </a:r>
            <a:endParaRPr lang="en-US" sz="850" dirty="0"/>
          </a:p>
        </p:txBody>
      </p:sp>
      <p:sp>
        <p:nvSpPr>
          <p:cNvPr id="13" name="Shape 11"/>
          <p:cNvSpPr/>
          <p:nvPr/>
        </p:nvSpPr>
        <p:spPr>
          <a:xfrm>
            <a:off x="2788920" y="2185416"/>
            <a:ext cx="137160" cy="128016"/>
          </a:xfrm>
          <a:prstGeom prst="rect">
            <a:avLst/>
          </a:prstGeom>
          <a:solidFill>
            <a:srgbClr val="0F2D56"/>
          </a:solidFill>
          <a:ln w="12700">
            <a:solidFill>
              <a:srgbClr val="0F2D56"/>
            </a:solidFill>
            <a:prstDash val="solid"/>
          </a:ln>
        </p:spPr>
      </p:sp>
      <p:sp>
        <p:nvSpPr>
          <p:cNvPr id="14" name="Shape 12"/>
          <p:cNvSpPr/>
          <p:nvPr/>
        </p:nvSpPr>
        <p:spPr>
          <a:xfrm>
            <a:off x="2926080" y="1874520"/>
            <a:ext cx="1188720" cy="749808"/>
          </a:xfrm>
          <a:prstGeom prst="roundRect">
            <a:avLst>
              <a:gd name="adj" fmla="val 8537"/>
            </a:avLst>
          </a:prstGeom>
          <a:solidFill>
            <a:srgbClr val="0E7C87"/>
          </a:solidFill>
          <a:ln w="12700">
            <a:solidFill>
              <a:srgbClr val="0E7C87"/>
            </a:solidFill>
            <a:prstDash val="solid"/>
          </a:ln>
        </p:spPr>
      </p:sp>
      <p:sp>
        <p:nvSpPr>
          <p:cNvPr id="15" name="Text 13"/>
          <p:cNvSpPr txBox="1"/>
          <p:nvPr/>
        </p:nvSpPr>
        <p:spPr>
          <a:xfrm>
            <a:off x="292608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Infracost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Estimate</a:t>
            </a:r>
            <a:endParaRPr lang="en-US" sz="850" dirty="0"/>
          </a:p>
        </p:txBody>
      </p:sp>
      <p:sp>
        <p:nvSpPr>
          <p:cNvPr id="16" name="Shape 14"/>
          <p:cNvSpPr/>
          <p:nvPr/>
        </p:nvSpPr>
        <p:spPr>
          <a:xfrm>
            <a:off x="4114800" y="2185416"/>
            <a:ext cx="137160" cy="128016"/>
          </a:xfrm>
          <a:prstGeom prst="rect">
            <a:avLst/>
          </a:prstGeom>
          <a:solidFill>
            <a:srgbClr val="0F2D56"/>
          </a:solidFill>
          <a:ln w="12700">
            <a:solidFill>
              <a:srgbClr val="0F2D56"/>
            </a:solidFill>
            <a:prstDash val="solid"/>
          </a:ln>
        </p:spPr>
      </p:sp>
      <p:sp>
        <p:nvSpPr>
          <p:cNvPr id="17" name="Shape 15"/>
          <p:cNvSpPr/>
          <p:nvPr/>
        </p:nvSpPr>
        <p:spPr>
          <a:xfrm>
            <a:off x="4251960" y="1874520"/>
            <a:ext cx="1188720" cy="749808"/>
          </a:xfrm>
          <a:prstGeom prst="roundRect">
            <a:avLst>
              <a:gd name="adj" fmla="val 8537"/>
            </a:avLst>
          </a:prstGeom>
          <a:solidFill>
            <a:srgbClr val="E07B00"/>
          </a:solidFill>
          <a:ln w="12700">
            <a:solidFill>
              <a:srgbClr val="E07B00"/>
            </a:solidFill>
            <a:prstDash val="solid"/>
          </a:ln>
        </p:spPr>
      </p:sp>
      <p:sp>
        <p:nvSpPr>
          <p:cNvPr id="18" name="Text 16"/>
          <p:cNvSpPr txBox="1"/>
          <p:nvPr/>
        </p:nvSpPr>
        <p:spPr>
          <a:xfrm>
            <a:off x="425196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Cost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Threshold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Gate</a:t>
            </a:r>
            <a:endParaRPr lang="en-US" sz="850" dirty="0"/>
          </a:p>
        </p:txBody>
      </p:sp>
      <p:sp>
        <p:nvSpPr>
          <p:cNvPr id="19" name="Shape 17"/>
          <p:cNvSpPr/>
          <p:nvPr/>
        </p:nvSpPr>
        <p:spPr>
          <a:xfrm>
            <a:off x="5440680" y="2185416"/>
            <a:ext cx="137160" cy="128016"/>
          </a:xfrm>
          <a:prstGeom prst="rect">
            <a:avLst/>
          </a:prstGeom>
          <a:solidFill>
            <a:srgbClr val="0F2D56"/>
          </a:solidFill>
          <a:ln w="12700">
            <a:solidFill>
              <a:srgbClr val="0F2D56"/>
            </a:solidFill>
            <a:prstDash val="solid"/>
          </a:ln>
        </p:spPr>
      </p:sp>
      <p:sp>
        <p:nvSpPr>
          <p:cNvPr id="20" name="Shape 18"/>
          <p:cNvSpPr/>
          <p:nvPr/>
        </p:nvSpPr>
        <p:spPr>
          <a:xfrm>
            <a:off x="5577840" y="1874520"/>
            <a:ext cx="1188720" cy="749808"/>
          </a:xfrm>
          <a:prstGeom prst="roundRect">
            <a:avLst>
              <a:gd name="adj" fmla="val 8537"/>
            </a:avLst>
          </a:prstGeom>
          <a:solidFill>
            <a:srgbClr val="0F2D56"/>
          </a:solidFill>
          <a:ln w="12700">
            <a:solidFill>
              <a:srgbClr val="0F2D56"/>
            </a:solidFill>
            <a:prstDash val="solid"/>
          </a:ln>
        </p:spPr>
      </p:sp>
      <p:sp>
        <p:nvSpPr>
          <p:cNvPr id="21" name="Text 19"/>
          <p:cNvSpPr txBox="1"/>
          <p:nvPr/>
        </p:nvSpPr>
        <p:spPr>
          <a:xfrm>
            <a:off x="557784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AWS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Provision</a:t>
            </a:r>
            <a:endParaRPr lang="en-US" sz="850" dirty="0"/>
          </a:p>
        </p:txBody>
      </p:sp>
      <p:sp>
        <p:nvSpPr>
          <p:cNvPr id="22" name="Shape 20"/>
          <p:cNvSpPr/>
          <p:nvPr/>
        </p:nvSpPr>
        <p:spPr>
          <a:xfrm>
            <a:off x="6766560" y="2185416"/>
            <a:ext cx="137160" cy="128016"/>
          </a:xfrm>
          <a:prstGeom prst="rect">
            <a:avLst/>
          </a:prstGeom>
          <a:solidFill>
            <a:srgbClr val="0F2D56"/>
          </a:solidFill>
          <a:ln w="12700">
            <a:solidFill>
              <a:srgbClr val="0F2D56"/>
            </a:solidFill>
            <a:prstDash val="solid"/>
          </a:ln>
        </p:spPr>
      </p:sp>
      <p:sp>
        <p:nvSpPr>
          <p:cNvPr id="23" name="Shape 21"/>
          <p:cNvSpPr/>
          <p:nvPr/>
        </p:nvSpPr>
        <p:spPr>
          <a:xfrm>
            <a:off x="6903720" y="1874520"/>
            <a:ext cx="1188720" cy="749808"/>
          </a:xfrm>
          <a:prstGeom prst="roundRect">
            <a:avLst>
              <a:gd name="adj" fmla="val 8537"/>
            </a:avLst>
          </a:prstGeom>
          <a:solidFill>
            <a:srgbClr val="1A5FA8"/>
          </a:solidFill>
          <a:ln w="12700">
            <a:solidFill>
              <a:srgbClr val="1A5FA8"/>
            </a:solidFill>
            <a:prstDash val="solid"/>
          </a:ln>
        </p:spPr>
      </p:sp>
      <p:sp>
        <p:nvSpPr>
          <p:cNvPr id="24" name="Text 22"/>
          <p:cNvSpPr txBox="1"/>
          <p:nvPr/>
        </p:nvSpPr>
        <p:spPr>
          <a:xfrm>
            <a:off x="690372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AWS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Config</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Rules</a:t>
            </a:r>
            <a:endParaRPr lang="en-US" sz="850" dirty="0"/>
          </a:p>
        </p:txBody>
      </p:sp>
      <p:sp>
        <p:nvSpPr>
          <p:cNvPr id="25" name="Shape 23"/>
          <p:cNvSpPr/>
          <p:nvPr/>
        </p:nvSpPr>
        <p:spPr>
          <a:xfrm>
            <a:off x="8092440" y="2185416"/>
            <a:ext cx="137160" cy="128016"/>
          </a:xfrm>
          <a:prstGeom prst="rect">
            <a:avLst/>
          </a:prstGeom>
          <a:solidFill>
            <a:srgbClr val="0F2D56"/>
          </a:solidFill>
          <a:ln w="12700">
            <a:solidFill>
              <a:srgbClr val="0F2D56"/>
            </a:solidFill>
            <a:prstDash val="solid"/>
          </a:ln>
        </p:spPr>
      </p:sp>
      <p:sp>
        <p:nvSpPr>
          <p:cNvPr id="26" name="Shape 24"/>
          <p:cNvSpPr/>
          <p:nvPr/>
        </p:nvSpPr>
        <p:spPr>
          <a:xfrm>
            <a:off x="8229600" y="1874520"/>
            <a:ext cx="1188720" cy="749808"/>
          </a:xfrm>
          <a:prstGeom prst="roundRect">
            <a:avLst>
              <a:gd name="adj" fmla="val 8537"/>
            </a:avLst>
          </a:prstGeom>
          <a:solidFill>
            <a:srgbClr val="0E7C87"/>
          </a:solidFill>
          <a:ln w="12700">
            <a:solidFill>
              <a:srgbClr val="0E7C87"/>
            </a:solidFill>
            <a:prstDash val="solid"/>
          </a:ln>
        </p:spPr>
      </p:sp>
      <p:sp>
        <p:nvSpPr>
          <p:cNvPr id="27" name="Text 25"/>
          <p:cNvSpPr txBox="1"/>
          <p:nvPr/>
        </p:nvSpPr>
        <p:spPr>
          <a:xfrm>
            <a:off x="822960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EventBridge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Trigger</a:t>
            </a:r>
            <a:endParaRPr lang="en-US" sz="850" dirty="0"/>
          </a:p>
        </p:txBody>
      </p:sp>
      <p:sp>
        <p:nvSpPr>
          <p:cNvPr id="28" name="Shape 26"/>
          <p:cNvSpPr/>
          <p:nvPr/>
        </p:nvSpPr>
        <p:spPr>
          <a:xfrm>
            <a:off x="9418320" y="2185416"/>
            <a:ext cx="137160" cy="128016"/>
          </a:xfrm>
          <a:prstGeom prst="rect">
            <a:avLst/>
          </a:prstGeom>
          <a:solidFill>
            <a:srgbClr val="0F2D56"/>
          </a:solidFill>
          <a:ln w="12700">
            <a:solidFill>
              <a:srgbClr val="0F2D56"/>
            </a:solidFill>
            <a:prstDash val="solid"/>
          </a:ln>
        </p:spPr>
      </p:sp>
      <p:sp>
        <p:nvSpPr>
          <p:cNvPr id="29" name="Shape 27"/>
          <p:cNvSpPr/>
          <p:nvPr/>
        </p:nvSpPr>
        <p:spPr>
          <a:xfrm>
            <a:off x="9555480" y="1874520"/>
            <a:ext cx="1188720" cy="749808"/>
          </a:xfrm>
          <a:prstGeom prst="roundRect">
            <a:avLst>
              <a:gd name="adj" fmla="val 8537"/>
            </a:avLst>
          </a:prstGeom>
          <a:solidFill>
            <a:srgbClr val="1A8A4A"/>
          </a:solidFill>
          <a:ln w="12700">
            <a:solidFill>
              <a:srgbClr val="1A8A4A"/>
            </a:solidFill>
            <a:prstDash val="solid"/>
          </a:ln>
        </p:spPr>
      </p:sp>
      <p:sp>
        <p:nvSpPr>
          <p:cNvPr id="30" name="Text 28"/>
          <p:cNvSpPr txBox="1"/>
          <p:nvPr/>
        </p:nvSpPr>
        <p:spPr>
          <a:xfrm>
            <a:off x="955548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Lambda</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Remediation</a:t>
            </a:r>
            <a:endParaRPr lang="en-US" sz="850" dirty="0"/>
          </a:p>
        </p:txBody>
      </p:sp>
      <p:sp>
        <p:nvSpPr>
          <p:cNvPr id="31" name="Shape 29"/>
          <p:cNvSpPr/>
          <p:nvPr/>
        </p:nvSpPr>
        <p:spPr>
          <a:xfrm>
            <a:off x="10744200" y="2185416"/>
            <a:ext cx="137160" cy="128016"/>
          </a:xfrm>
          <a:prstGeom prst="rect">
            <a:avLst/>
          </a:prstGeom>
          <a:solidFill>
            <a:srgbClr val="0F2D56"/>
          </a:solidFill>
          <a:ln w="12700">
            <a:solidFill>
              <a:srgbClr val="0F2D56"/>
            </a:solidFill>
            <a:prstDash val="solid"/>
          </a:ln>
        </p:spPr>
      </p:sp>
      <p:sp>
        <p:nvSpPr>
          <p:cNvPr id="32" name="Shape 30"/>
          <p:cNvSpPr/>
          <p:nvPr/>
        </p:nvSpPr>
        <p:spPr>
          <a:xfrm>
            <a:off x="10881360" y="1874520"/>
            <a:ext cx="1188720" cy="749808"/>
          </a:xfrm>
          <a:prstGeom prst="roundRect">
            <a:avLst>
              <a:gd name="adj" fmla="val 8537"/>
            </a:avLst>
          </a:prstGeom>
          <a:solidFill>
            <a:srgbClr val="0F2D56"/>
          </a:solidFill>
          <a:ln w="12700">
            <a:solidFill>
              <a:srgbClr val="0F2D56"/>
            </a:solidFill>
            <a:prstDash val="solid"/>
          </a:ln>
        </p:spPr>
      </p:sp>
      <p:sp>
        <p:nvSpPr>
          <p:cNvPr id="33" name="Text 31"/>
          <p:cNvSpPr txBox="1"/>
          <p:nvPr/>
        </p:nvSpPr>
        <p:spPr>
          <a:xfrm>
            <a:off x="10881360" y="1874520"/>
            <a:ext cx="1188720" cy="7498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Slack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JIRA Alert</a:t>
            </a:r>
            <a:endParaRPr lang="en-US" sz="850" dirty="0"/>
          </a:p>
        </p:txBody>
      </p:sp>
      <p:sp>
        <p:nvSpPr>
          <p:cNvPr id="34" name="Text 32"/>
          <p:cNvSpPr txBox="1"/>
          <p:nvPr/>
        </p:nvSpPr>
        <p:spPr>
          <a:xfrm>
            <a:off x="274320" y="2670048"/>
            <a:ext cx="2377440" cy="256032"/>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 Developer commits code</a:t>
            </a:r>
            <a:endParaRPr lang="en-US" sz="800" dirty="0"/>
          </a:p>
        </p:txBody>
      </p:sp>
      <p:sp>
        <p:nvSpPr>
          <p:cNvPr id="35" name="Text 33"/>
          <p:cNvSpPr txBox="1"/>
          <p:nvPr/>
        </p:nvSpPr>
        <p:spPr>
          <a:xfrm>
            <a:off x="3840480" y="2670048"/>
            <a:ext cx="2377440" cy="256032"/>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 Cost estimate in PR</a:t>
            </a:r>
            <a:endParaRPr lang="en-US" sz="800" dirty="0"/>
          </a:p>
        </p:txBody>
      </p:sp>
      <p:sp>
        <p:nvSpPr>
          <p:cNvPr id="36" name="Text 34"/>
          <p:cNvSpPr txBox="1"/>
          <p:nvPr/>
        </p:nvSpPr>
        <p:spPr>
          <a:xfrm>
            <a:off x="5166360" y="2670048"/>
            <a:ext cx="2377440" cy="256032"/>
          </a:xfrm>
          <a:prstGeom prst="rect">
            <a:avLst/>
          </a:prstGeom>
          <a:noFill/>
          <a:ln/>
        </p:spPr>
        <p:txBody>
          <a:bodyPr wrap="square" lIns="0" tIns="0" rIns="0" bIns="0" rtlCol="0" anchor="ctr"/>
          <a:lstStyle/>
          <a:p>
            <a:pPr algn="ctr" indent="0" marL="0">
              <a:buNone/>
            </a:pPr>
            <a:r>
              <a:rPr lang="en-US" sz="800" dirty="0">
                <a:solidFill>
                  <a:srgbClr val="E07B00"/>
                </a:solidFill>
                <a:latin typeface="Calibri" pitchFamily="34" charset="0"/>
                <a:ea typeface="Calibri" pitchFamily="34" charset="-122"/>
                <a:cs typeface="Calibri" pitchFamily="34" charset="-120"/>
              </a:rPr>
              <a:t>↑ Block if over threshold</a:t>
            </a:r>
            <a:endParaRPr lang="en-US" sz="800" dirty="0"/>
          </a:p>
        </p:txBody>
      </p:sp>
      <p:sp>
        <p:nvSpPr>
          <p:cNvPr id="37" name="Text 35"/>
          <p:cNvSpPr txBox="1"/>
          <p:nvPr/>
        </p:nvSpPr>
        <p:spPr>
          <a:xfrm>
            <a:off x="9281160" y="2670048"/>
            <a:ext cx="2377440" cy="256032"/>
          </a:xfrm>
          <a:prstGeom prst="rect">
            <a:avLst/>
          </a:prstGeom>
          <a:noFill/>
          <a:ln/>
        </p:spPr>
        <p:txBody>
          <a:bodyPr wrap="square" lIns="0" tIns="0" rIns="0" bIns="0" rtlCol="0" anchor="ctr"/>
          <a:lstStyle/>
          <a:p>
            <a:pPr algn="ctr" indent="0" marL="0">
              <a:buNone/>
            </a:pPr>
            <a:r>
              <a:rPr lang="en-US" sz="800" dirty="0">
                <a:solidFill>
                  <a:srgbClr val="1A8A4A"/>
                </a:solidFill>
                <a:latin typeface="Calibri" pitchFamily="34" charset="0"/>
                <a:ea typeface="Calibri" pitchFamily="34" charset="-122"/>
                <a:cs typeface="Calibri" pitchFamily="34" charset="-120"/>
              </a:rPr>
              <a:t>↑ Automated fix + alert</a:t>
            </a:r>
            <a:endParaRPr lang="en-US" sz="800" dirty="0"/>
          </a:p>
        </p:txBody>
      </p:sp>
      <p:sp>
        <p:nvSpPr>
          <p:cNvPr id="38" name="Text 36"/>
          <p:cNvSpPr txBox="1"/>
          <p:nvPr/>
        </p:nvSpPr>
        <p:spPr>
          <a:xfrm>
            <a:off x="274320" y="3063240"/>
            <a:ext cx="3657600" cy="201168"/>
          </a:xfrm>
          <a:prstGeom prst="rect">
            <a:avLst/>
          </a:prstGeom>
          <a:noFill/>
          <a:ln/>
        </p:spPr>
        <p:txBody>
          <a:bodyPr wrap="square" lIns="0" tIns="0" rIns="0" bIns="0" rtlCol="0" anchor="ctr"/>
          <a:lstStyle/>
          <a:p>
            <a:pPr indent="0" marL="0">
              <a:buNone/>
            </a:pPr>
            <a:r>
              <a:rPr lang="en-US" sz="800" b="1" spc="200" kern="0" dirty="0">
                <a:solidFill>
                  <a:srgbClr val="0F2D56"/>
                </a:solidFill>
                <a:latin typeface="Calibri" pitchFamily="34" charset="0"/>
                <a:ea typeface="Calibri" pitchFamily="34" charset="-122"/>
                <a:cs typeface="Calibri" pitchFamily="34" charset="-120"/>
              </a:rPr>
              <a:t>SCP PREVENTIVE GUARDRAILS (ALWAYS-ON)</a:t>
            </a:r>
            <a:endParaRPr lang="en-US" sz="800" dirty="0"/>
          </a:p>
        </p:txBody>
      </p:sp>
      <p:sp>
        <p:nvSpPr>
          <p:cNvPr id="39" name="Shape 37"/>
          <p:cNvSpPr/>
          <p:nvPr/>
        </p:nvSpPr>
        <p:spPr>
          <a:xfrm>
            <a:off x="274320" y="3291840"/>
            <a:ext cx="5715000" cy="822960"/>
          </a:xfrm>
          <a:prstGeom prst="roundRect">
            <a:avLst>
              <a:gd name="adj" fmla="val 7778"/>
            </a:avLst>
          </a:prstGeom>
          <a:solidFill>
            <a:srgbClr val="FADBD8"/>
          </a:solidFill>
          <a:ln w="12700">
            <a:solidFill>
              <a:srgbClr val="C0392B"/>
            </a:solidFill>
            <a:prstDash val="solid"/>
          </a:ln>
        </p:spPr>
      </p:sp>
      <p:sp>
        <p:nvSpPr>
          <p:cNvPr id="40" name="Shape 38"/>
          <p:cNvSpPr/>
          <p:nvPr/>
        </p:nvSpPr>
        <p:spPr>
          <a:xfrm>
            <a:off x="274320" y="3291840"/>
            <a:ext cx="91440" cy="822960"/>
          </a:xfrm>
          <a:prstGeom prst="rect">
            <a:avLst/>
          </a:prstGeom>
          <a:solidFill>
            <a:srgbClr val="C0392B"/>
          </a:solidFill>
          <a:ln w="12700">
            <a:solidFill>
              <a:srgbClr val="C0392B"/>
            </a:solidFill>
            <a:prstDash val="solid"/>
          </a:ln>
        </p:spPr>
      </p:sp>
      <p:sp>
        <p:nvSpPr>
          <p:cNvPr id="41" name="Text 39"/>
          <p:cNvSpPr txBox="1"/>
          <p:nvPr/>
        </p:nvSpPr>
        <p:spPr>
          <a:xfrm>
            <a:off x="457200" y="3346704"/>
            <a:ext cx="5440680" cy="274320"/>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Mandatory Tagging SCP</a:t>
            </a:r>
            <a:endParaRPr lang="en-US" sz="1000" dirty="0"/>
          </a:p>
        </p:txBody>
      </p:sp>
      <p:sp>
        <p:nvSpPr>
          <p:cNvPr id="42" name="Text 40"/>
          <p:cNvSpPr txBox="1"/>
          <p:nvPr/>
        </p:nvSpPr>
        <p:spPr>
          <a:xfrm>
            <a:off x="457200" y="3639312"/>
            <a:ext cx="5440680" cy="402336"/>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Blocks resource creation without required cost tags (team, env, service, owner)</a:t>
            </a:r>
            <a:endParaRPr lang="en-US" sz="900" dirty="0"/>
          </a:p>
        </p:txBody>
      </p:sp>
      <p:sp>
        <p:nvSpPr>
          <p:cNvPr id="43" name="Shape 41"/>
          <p:cNvSpPr/>
          <p:nvPr/>
        </p:nvSpPr>
        <p:spPr>
          <a:xfrm>
            <a:off x="6263640" y="3291840"/>
            <a:ext cx="5715000" cy="822960"/>
          </a:xfrm>
          <a:prstGeom prst="roundRect">
            <a:avLst>
              <a:gd name="adj" fmla="val 7778"/>
            </a:avLst>
          </a:prstGeom>
          <a:solidFill>
            <a:srgbClr val="FADBD8"/>
          </a:solidFill>
          <a:ln w="12700">
            <a:solidFill>
              <a:srgbClr val="C0392B"/>
            </a:solidFill>
            <a:prstDash val="solid"/>
          </a:ln>
        </p:spPr>
      </p:sp>
      <p:sp>
        <p:nvSpPr>
          <p:cNvPr id="44" name="Shape 42"/>
          <p:cNvSpPr/>
          <p:nvPr/>
        </p:nvSpPr>
        <p:spPr>
          <a:xfrm>
            <a:off x="6263640" y="3291840"/>
            <a:ext cx="91440" cy="822960"/>
          </a:xfrm>
          <a:prstGeom prst="rect">
            <a:avLst/>
          </a:prstGeom>
          <a:solidFill>
            <a:srgbClr val="C0392B"/>
          </a:solidFill>
          <a:ln w="12700">
            <a:solidFill>
              <a:srgbClr val="C0392B"/>
            </a:solidFill>
            <a:prstDash val="solid"/>
          </a:ln>
        </p:spPr>
      </p:sp>
      <p:sp>
        <p:nvSpPr>
          <p:cNvPr id="45" name="Text 43"/>
          <p:cNvSpPr txBox="1"/>
          <p:nvPr/>
        </p:nvSpPr>
        <p:spPr>
          <a:xfrm>
            <a:off x="6446520" y="3346704"/>
            <a:ext cx="5440680" cy="274320"/>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GPU Launch Restrictions</a:t>
            </a:r>
            <a:endParaRPr lang="en-US" sz="1000" dirty="0"/>
          </a:p>
        </p:txBody>
      </p:sp>
      <p:sp>
        <p:nvSpPr>
          <p:cNvPr id="46" name="Text 44"/>
          <p:cNvSpPr txBox="1"/>
          <p:nvPr/>
        </p:nvSpPr>
        <p:spPr>
          <a:xfrm>
            <a:off x="6446520" y="3639312"/>
            <a:ext cx="5440680" cy="402336"/>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Restricts expensive GPU instance types — approval required for p3/p4/g4 families</a:t>
            </a:r>
            <a:endParaRPr lang="en-US" sz="900" dirty="0"/>
          </a:p>
        </p:txBody>
      </p:sp>
      <p:sp>
        <p:nvSpPr>
          <p:cNvPr id="47" name="Shape 45"/>
          <p:cNvSpPr/>
          <p:nvPr/>
        </p:nvSpPr>
        <p:spPr>
          <a:xfrm>
            <a:off x="274320" y="4251960"/>
            <a:ext cx="5715000" cy="822960"/>
          </a:xfrm>
          <a:prstGeom prst="roundRect">
            <a:avLst>
              <a:gd name="adj" fmla="val 7778"/>
            </a:avLst>
          </a:prstGeom>
          <a:solidFill>
            <a:srgbClr val="FADBD8"/>
          </a:solidFill>
          <a:ln w="12700">
            <a:solidFill>
              <a:srgbClr val="C0392B"/>
            </a:solidFill>
            <a:prstDash val="solid"/>
          </a:ln>
        </p:spPr>
      </p:sp>
      <p:sp>
        <p:nvSpPr>
          <p:cNvPr id="48" name="Shape 46"/>
          <p:cNvSpPr/>
          <p:nvPr/>
        </p:nvSpPr>
        <p:spPr>
          <a:xfrm>
            <a:off x="274320" y="4251960"/>
            <a:ext cx="91440" cy="822960"/>
          </a:xfrm>
          <a:prstGeom prst="rect">
            <a:avLst/>
          </a:prstGeom>
          <a:solidFill>
            <a:srgbClr val="C0392B"/>
          </a:solidFill>
          <a:ln w="12700">
            <a:solidFill>
              <a:srgbClr val="C0392B"/>
            </a:solidFill>
            <a:prstDash val="solid"/>
          </a:ln>
        </p:spPr>
      </p:sp>
      <p:sp>
        <p:nvSpPr>
          <p:cNvPr id="49" name="Text 47"/>
          <p:cNvSpPr txBox="1"/>
          <p:nvPr/>
        </p:nvSpPr>
        <p:spPr>
          <a:xfrm>
            <a:off x="457200" y="4306824"/>
            <a:ext cx="5440680" cy="274320"/>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Approved Region SCP</a:t>
            </a:r>
            <a:endParaRPr lang="en-US" sz="1000" dirty="0"/>
          </a:p>
        </p:txBody>
      </p:sp>
      <p:sp>
        <p:nvSpPr>
          <p:cNvPr id="50" name="Text 48"/>
          <p:cNvSpPr txBox="1"/>
          <p:nvPr/>
        </p:nvSpPr>
        <p:spPr>
          <a:xfrm>
            <a:off x="457200" y="4599432"/>
            <a:ext cx="5440680" cy="402336"/>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Prevents resource creation in unapproved AWS regions — compliance + cost control</a:t>
            </a:r>
            <a:endParaRPr lang="en-US" sz="900" dirty="0"/>
          </a:p>
        </p:txBody>
      </p:sp>
      <p:sp>
        <p:nvSpPr>
          <p:cNvPr id="51" name="Shape 49"/>
          <p:cNvSpPr/>
          <p:nvPr/>
        </p:nvSpPr>
        <p:spPr>
          <a:xfrm>
            <a:off x="6263640" y="4251960"/>
            <a:ext cx="5715000" cy="822960"/>
          </a:xfrm>
          <a:prstGeom prst="roundRect">
            <a:avLst>
              <a:gd name="adj" fmla="val 7778"/>
            </a:avLst>
          </a:prstGeom>
          <a:solidFill>
            <a:srgbClr val="FADBD8"/>
          </a:solidFill>
          <a:ln w="12700">
            <a:solidFill>
              <a:srgbClr val="C0392B"/>
            </a:solidFill>
            <a:prstDash val="solid"/>
          </a:ln>
        </p:spPr>
      </p:sp>
      <p:sp>
        <p:nvSpPr>
          <p:cNvPr id="52" name="Shape 50"/>
          <p:cNvSpPr/>
          <p:nvPr/>
        </p:nvSpPr>
        <p:spPr>
          <a:xfrm>
            <a:off x="6263640" y="4251960"/>
            <a:ext cx="91440" cy="822960"/>
          </a:xfrm>
          <a:prstGeom prst="rect">
            <a:avLst/>
          </a:prstGeom>
          <a:solidFill>
            <a:srgbClr val="C0392B"/>
          </a:solidFill>
          <a:ln w="12700">
            <a:solidFill>
              <a:srgbClr val="C0392B"/>
            </a:solidFill>
            <a:prstDash val="solid"/>
          </a:ln>
        </p:spPr>
      </p:sp>
      <p:sp>
        <p:nvSpPr>
          <p:cNvPr id="53" name="Text 51"/>
          <p:cNvSpPr txBox="1"/>
          <p:nvPr/>
        </p:nvSpPr>
        <p:spPr>
          <a:xfrm>
            <a:off x="6446520" y="4306824"/>
            <a:ext cx="5440680" cy="274320"/>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EC2 Launch Guardrail</a:t>
            </a:r>
            <a:endParaRPr lang="en-US" sz="1000" dirty="0"/>
          </a:p>
        </p:txBody>
      </p:sp>
      <p:sp>
        <p:nvSpPr>
          <p:cNvPr id="54" name="Text 52"/>
          <p:cNvSpPr txBox="1"/>
          <p:nvPr/>
        </p:nvSpPr>
        <p:spPr>
          <a:xfrm>
            <a:off x="6446520" y="4599432"/>
            <a:ext cx="5440680" cy="402336"/>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Enforces instance type allowlist — blocks oversized instances without approval</a:t>
            </a:r>
            <a:endParaRPr lang="en-US" sz="900" dirty="0"/>
          </a:p>
        </p:txBody>
      </p:sp>
      <p:sp>
        <p:nvSpPr>
          <p:cNvPr id="55" name="Text 53"/>
          <p:cNvSpPr txBox="1"/>
          <p:nvPr/>
        </p:nvSpPr>
        <p:spPr>
          <a:xfrm>
            <a:off x="274320" y="5239512"/>
            <a:ext cx="3657600" cy="201168"/>
          </a:xfrm>
          <a:prstGeom prst="rect">
            <a:avLst/>
          </a:prstGeom>
          <a:noFill/>
          <a:ln/>
        </p:spPr>
        <p:txBody>
          <a:bodyPr wrap="square" lIns="0" tIns="0" rIns="0" bIns="0" rtlCol="0" anchor="ctr"/>
          <a:lstStyle/>
          <a:p>
            <a:pPr indent="0" marL="0">
              <a:buNone/>
            </a:pPr>
            <a:r>
              <a:rPr lang="en-US" sz="800" b="1" spc="200" kern="0" dirty="0">
                <a:solidFill>
                  <a:srgbClr val="0E7C87"/>
                </a:solidFill>
                <a:latin typeface="Calibri" pitchFamily="34" charset="0"/>
                <a:ea typeface="Calibri" pitchFamily="34" charset="-122"/>
                <a:cs typeface="Calibri" pitchFamily="34" charset="-120"/>
              </a:rPr>
              <a:t>AWS CONFIG RULES + AUTOMATED REMEDIATION</a:t>
            </a:r>
            <a:endParaRPr lang="en-US" sz="800" dirty="0"/>
          </a:p>
        </p:txBody>
      </p:sp>
      <p:sp>
        <p:nvSpPr>
          <p:cNvPr id="56" name="Shape 54"/>
          <p:cNvSpPr/>
          <p:nvPr/>
        </p:nvSpPr>
        <p:spPr>
          <a:xfrm>
            <a:off x="320040" y="5458968"/>
            <a:ext cx="91440" cy="91440"/>
          </a:xfrm>
          <a:prstGeom prst="ellipse">
            <a:avLst/>
          </a:prstGeom>
          <a:solidFill>
            <a:srgbClr val="0E7C87"/>
          </a:solidFill>
          <a:ln w="12700">
            <a:solidFill>
              <a:srgbClr val="0E7C87"/>
            </a:solidFill>
            <a:prstDash val="solid"/>
          </a:ln>
        </p:spPr>
      </p:sp>
      <p:sp>
        <p:nvSpPr>
          <p:cNvPr id="57" name="Text 55"/>
          <p:cNvSpPr txBox="1"/>
          <p:nvPr/>
        </p:nvSpPr>
        <p:spPr>
          <a:xfrm>
            <a:off x="475488" y="5413248"/>
            <a:ext cx="11338560" cy="228600"/>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Untagged resources → alert + auto-tag</a:t>
            </a:r>
            <a:endParaRPr lang="en-US" sz="900" dirty="0"/>
          </a:p>
        </p:txBody>
      </p:sp>
      <p:sp>
        <p:nvSpPr>
          <p:cNvPr id="58" name="Shape 56"/>
          <p:cNvSpPr/>
          <p:nvPr/>
        </p:nvSpPr>
        <p:spPr>
          <a:xfrm>
            <a:off x="320040" y="5705856"/>
            <a:ext cx="91440" cy="91440"/>
          </a:xfrm>
          <a:prstGeom prst="ellipse">
            <a:avLst/>
          </a:prstGeom>
          <a:solidFill>
            <a:srgbClr val="0E7C87"/>
          </a:solidFill>
          <a:ln w="12700">
            <a:solidFill>
              <a:srgbClr val="0E7C87"/>
            </a:solidFill>
            <a:prstDash val="solid"/>
          </a:ln>
        </p:spPr>
      </p:sp>
      <p:sp>
        <p:nvSpPr>
          <p:cNvPr id="59" name="Text 57"/>
          <p:cNvSpPr txBox="1"/>
          <p:nvPr/>
        </p:nvSpPr>
        <p:spPr>
          <a:xfrm>
            <a:off x="475488" y="5660136"/>
            <a:ext cx="11338560" cy="228600"/>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Stopped instances &gt;72h → scheduled termination</a:t>
            </a:r>
            <a:endParaRPr lang="en-US" sz="900" dirty="0"/>
          </a:p>
        </p:txBody>
      </p:sp>
      <p:sp>
        <p:nvSpPr>
          <p:cNvPr id="60" name="Shape 58"/>
          <p:cNvSpPr/>
          <p:nvPr/>
        </p:nvSpPr>
        <p:spPr>
          <a:xfrm>
            <a:off x="320040" y="5952744"/>
            <a:ext cx="91440" cy="91440"/>
          </a:xfrm>
          <a:prstGeom prst="ellipse">
            <a:avLst/>
          </a:prstGeom>
          <a:solidFill>
            <a:srgbClr val="0E7C87"/>
          </a:solidFill>
          <a:ln w="12700">
            <a:solidFill>
              <a:srgbClr val="0E7C87"/>
            </a:solidFill>
            <a:prstDash val="solid"/>
          </a:ln>
        </p:spPr>
      </p:sp>
      <p:sp>
        <p:nvSpPr>
          <p:cNvPr id="61" name="Text 59"/>
          <p:cNvSpPr txBox="1"/>
          <p:nvPr/>
        </p:nvSpPr>
        <p:spPr>
          <a:xfrm>
            <a:off x="475488" y="5907024"/>
            <a:ext cx="11338560" cy="228600"/>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Public S3 buckets → immediate block</a:t>
            </a:r>
            <a:endParaRPr lang="en-US" sz="900" dirty="0"/>
          </a:p>
        </p:txBody>
      </p:sp>
      <p:sp>
        <p:nvSpPr>
          <p:cNvPr id="62" name="Shape 60"/>
          <p:cNvSpPr/>
          <p:nvPr/>
        </p:nvSpPr>
        <p:spPr>
          <a:xfrm>
            <a:off x="320040" y="6199632"/>
            <a:ext cx="91440" cy="91440"/>
          </a:xfrm>
          <a:prstGeom prst="ellipse">
            <a:avLst/>
          </a:prstGeom>
          <a:solidFill>
            <a:srgbClr val="0E7C87"/>
          </a:solidFill>
          <a:ln w="12700">
            <a:solidFill>
              <a:srgbClr val="0E7C87"/>
            </a:solidFill>
            <a:prstDash val="solid"/>
          </a:ln>
        </p:spPr>
      </p:sp>
      <p:sp>
        <p:nvSpPr>
          <p:cNvPr id="63" name="Text 61"/>
          <p:cNvSpPr txBox="1"/>
          <p:nvPr/>
        </p:nvSpPr>
        <p:spPr>
          <a:xfrm>
            <a:off x="475488" y="6153912"/>
            <a:ext cx="11338560" cy="228600"/>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Non-encrypted volumes → compliance flag</a:t>
            </a:r>
            <a:endParaRPr lang="en-US" sz="900" dirty="0"/>
          </a:p>
        </p:txBody>
      </p:sp>
      <p:sp>
        <p:nvSpPr>
          <p:cNvPr id="64" name="Shape 62"/>
          <p:cNvSpPr/>
          <p:nvPr/>
        </p:nvSpPr>
        <p:spPr>
          <a:xfrm>
            <a:off x="320040" y="6446520"/>
            <a:ext cx="91440" cy="91440"/>
          </a:xfrm>
          <a:prstGeom prst="ellipse">
            <a:avLst/>
          </a:prstGeom>
          <a:solidFill>
            <a:srgbClr val="0E7C87"/>
          </a:solidFill>
          <a:ln w="12700">
            <a:solidFill>
              <a:srgbClr val="0E7C87"/>
            </a:solidFill>
            <a:prstDash val="solid"/>
          </a:ln>
        </p:spPr>
      </p:sp>
      <p:sp>
        <p:nvSpPr>
          <p:cNvPr id="65" name="Text 63"/>
          <p:cNvSpPr txBox="1"/>
          <p:nvPr/>
        </p:nvSpPr>
        <p:spPr>
          <a:xfrm>
            <a:off x="475488" y="6400800"/>
            <a:ext cx="11338560" cy="228600"/>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Weekly compliance report to Slack</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90-Day Implementation Timeline</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Phased delivery with decision gates and savings measurement checkpoints</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14 / 18</a:t>
            </a:r>
            <a:endParaRPr lang="en-US" sz="700" dirty="0"/>
          </a:p>
        </p:txBody>
      </p:sp>
      <p:sp>
        <p:nvSpPr>
          <p:cNvPr id="8" name="Shape 6"/>
          <p:cNvSpPr/>
          <p:nvPr/>
        </p:nvSpPr>
        <p:spPr>
          <a:xfrm>
            <a:off x="274320" y="1170432"/>
            <a:ext cx="2194560" cy="320040"/>
          </a:xfrm>
          <a:prstGeom prst="rect">
            <a:avLst/>
          </a:prstGeom>
          <a:solidFill>
            <a:srgbClr val="0F2D56"/>
          </a:solidFill>
          <a:ln w="12700">
            <a:solidFill>
              <a:srgbClr val="0F2D56"/>
            </a:solidFill>
            <a:prstDash val="solid"/>
          </a:ln>
        </p:spPr>
      </p:sp>
      <p:sp>
        <p:nvSpPr>
          <p:cNvPr id="9" name="Text 7"/>
          <p:cNvSpPr txBox="1"/>
          <p:nvPr/>
        </p:nvSpPr>
        <p:spPr>
          <a:xfrm>
            <a:off x="274320" y="1170432"/>
            <a:ext cx="219456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Task</a:t>
            </a:r>
            <a:endParaRPr lang="en-US" sz="800" dirty="0"/>
          </a:p>
        </p:txBody>
      </p:sp>
      <p:sp>
        <p:nvSpPr>
          <p:cNvPr id="10" name="Shape 8"/>
          <p:cNvSpPr/>
          <p:nvPr/>
        </p:nvSpPr>
        <p:spPr>
          <a:xfrm>
            <a:off x="2468880" y="1170432"/>
            <a:ext cx="777240" cy="320040"/>
          </a:xfrm>
          <a:prstGeom prst="rect">
            <a:avLst/>
          </a:prstGeom>
          <a:solidFill>
            <a:srgbClr val="0F2D56"/>
          </a:solidFill>
          <a:ln w="12700">
            <a:solidFill>
              <a:srgbClr val="0F2D56"/>
            </a:solidFill>
            <a:prstDash val="solid"/>
          </a:ln>
        </p:spPr>
      </p:sp>
      <p:sp>
        <p:nvSpPr>
          <p:cNvPr id="11" name="Text 9"/>
          <p:cNvSpPr txBox="1"/>
          <p:nvPr/>
        </p:nvSpPr>
        <p:spPr>
          <a:xfrm>
            <a:off x="246888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W1</a:t>
            </a:r>
            <a:endParaRPr lang="en-US" sz="800" dirty="0"/>
          </a:p>
        </p:txBody>
      </p:sp>
      <p:sp>
        <p:nvSpPr>
          <p:cNvPr id="12" name="Shape 10"/>
          <p:cNvSpPr/>
          <p:nvPr/>
        </p:nvSpPr>
        <p:spPr>
          <a:xfrm>
            <a:off x="3246120" y="1170432"/>
            <a:ext cx="777240" cy="320040"/>
          </a:xfrm>
          <a:prstGeom prst="rect">
            <a:avLst/>
          </a:prstGeom>
          <a:solidFill>
            <a:srgbClr val="0F2D56"/>
          </a:solidFill>
          <a:ln w="12700">
            <a:solidFill>
              <a:srgbClr val="0F2D56"/>
            </a:solidFill>
            <a:prstDash val="solid"/>
          </a:ln>
        </p:spPr>
      </p:sp>
      <p:sp>
        <p:nvSpPr>
          <p:cNvPr id="13" name="Text 11"/>
          <p:cNvSpPr txBox="1"/>
          <p:nvPr/>
        </p:nvSpPr>
        <p:spPr>
          <a:xfrm>
            <a:off x="324612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W2</a:t>
            </a:r>
            <a:endParaRPr lang="en-US" sz="800" dirty="0"/>
          </a:p>
        </p:txBody>
      </p:sp>
      <p:sp>
        <p:nvSpPr>
          <p:cNvPr id="14" name="Shape 12"/>
          <p:cNvSpPr/>
          <p:nvPr/>
        </p:nvSpPr>
        <p:spPr>
          <a:xfrm>
            <a:off x="4023360" y="1170432"/>
            <a:ext cx="777240" cy="320040"/>
          </a:xfrm>
          <a:prstGeom prst="rect">
            <a:avLst/>
          </a:prstGeom>
          <a:solidFill>
            <a:srgbClr val="0F2D56"/>
          </a:solidFill>
          <a:ln w="12700">
            <a:solidFill>
              <a:srgbClr val="0F2D56"/>
            </a:solidFill>
            <a:prstDash val="solid"/>
          </a:ln>
        </p:spPr>
      </p:sp>
      <p:sp>
        <p:nvSpPr>
          <p:cNvPr id="15" name="Text 13"/>
          <p:cNvSpPr txBox="1"/>
          <p:nvPr/>
        </p:nvSpPr>
        <p:spPr>
          <a:xfrm>
            <a:off x="402336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W3</a:t>
            </a:r>
            <a:endParaRPr lang="en-US" sz="800" dirty="0"/>
          </a:p>
        </p:txBody>
      </p:sp>
      <p:sp>
        <p:nvSpPr>
          <p:cNvPr id="16" name="Shape 14"/>
          <p:cNvSpPr/>
          <p:nvPr/>
        </p:nvSpPr>
        <p:spPr>
          <a:xfrm>
            <a:off x="4800600" y="1170432"/>
            <a:ext cx="777240" cy="320040"/>
          </a:xfrm>
          <a:prstGeom prst="rect">
            <a:avLst/>
          </a:prstGeom>
          <a:solidFill>
            <a:srgbClr val="E07B00"/>
          </a:solidFill>
          <a:ln w="12700">
            <a:solidFill>
              <a:srgbClr val="0F2D56"/>
            </a:solidFill>
            <a:prstDash val="solid"/>
          </a:ln>
        </p:spPr>
      </p:sp>
      <p:sp>
        <p:nvSpPr>
          <p:cNvPr id="17" name="Text 15"/>
          <p:cNvSpPr txBox="1"/>
          <p:nvPr/>
        </p:nvSpPr>
        <p:spPr>
          <a:xfrm>
            <a:off x="480060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W4⬥</a:t>
            </a:r>
            <a:endParaRPr lang="en-US" sz="800" dirty="0"/>
          </a:p>
        </p:txBody>
      </p:sp>
      <p:sp>
        <p:nvSpPr>
          <p:cNvPr id="18" name="Shape 16"/>
          <p:cNvSpPr/>
          <p:nvPr/>
        </p:nvSpPr>
        <p:spPr>
          <a:xfrm>
            <a:off x="5577840" y="1170432"/>
            <a:ext cx="777240" cy="320040"/>
          </a:xfrm>
          <a:prstGeom prst="rect">
            <a:avLst/>
          </a:prstGeom>
          <a:solidFill>
            <a:srgbClr val="0F2D56"/>
          </a:solidFill>
          <a:ln w="12700">
            <a:solidFill>
              <a:srgbClr val="0F2D56"/>
            </a:solidFill>
            <a:prstDash val="solid"/>
          </a:ln>
        </p:spPr>
      </p:sp>
      <p:sp>
        <p:nvSpPr>
          <p:cNvPr id="19" name="Text 17"/>
          <p:cNvSpPr txBox="1"/>
          <p:nvPr/>
        </p:nvSpPr>
        <p:spPr>
          <a:xfrm>
            <a:off x="557784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W5</a:t>
            </a:r>
            <a:endParaRPr lang="en-US" sz="800" dirty="0"/>
          </a:p>
        </p:txBody>
      </p:sp>
      <p:sp>
        <p:nvSpPr>
          <p:cNvPr id="20" name="Shape 18"/>
          <p:cNvSpPr/>
          <p:nvPr/>
        </p:nvSpPr>
        <p:spPr>
          <a:xfrm>
            <a:off x="6355080" y="1170432"/>
            <a:ext cx="777240" cy="320040"/>
          </a:xfrm>
          <a:prstGeom prst="rect">
            <a:avLst/>
          </a:prstGeom>
          <a:solidFill>
            <a:srgbClr val="0F2D56"/>
          </a:solidFill>
          <a:ln w="12700">
            <a:solidFill>
              <a:srgbClr val="0F2D56"/>
            </a:solidFill>
            <a:prstDash val="solid"/>
          </a:ln>
        </p:spPr>
      </p:sp>
      <p:sp>
        <p:nvSpPr>
          <p:cNvPr id="21" name="Text 19"/>
          <p:cNvSpPr txBox="1"/>
          <p:nvPr/>
        </p:nvSpPr>
        <p:spPr>
          <a:xfrm>
            <a:off x="635508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W6</a:t>
            </a:r>
            <a:endParaRPr lang="en-US" sz="800" dirty="0"/>
          </a:p>
        </p:txBody>
      </p:sp>
      <p:sp>
        <p:nvSpPr>
          <p:cNvPr id="22" name="Shape 20"/>
          <p:cNvSpPr/>
          <p:nvPr/>
        </p:nvSpPr>
        <p:spPr>
          <a:xfrm>
            <a:off x="7132320" y="1170432"/>
            <a:ext cx="777240" cy="320040"/>
          </a:xfrm>
          <a:prstGeom prst="rect">
            <a:avLst/>
          </a:prstGeom>
          <a:solidFill>
            <a:srgbClr val="0F2D56"/>
          </a:solidFill>
          <a:ln w="12700">
            <a:solidFill>
              <a:srgbClr val="0F2D56"/>
            </a:solidFill>
            <a:prstDash val="solid"/>
          </a:ln>
        </p:spPr>
      </p:sp>
      <p:sp>
        <p:nvSpPr>
          <p:cNvPr id="23" name="Text 21"/>
          <p:cNvSpPr txBox="1"/>
          <p:nvPr/>
        </p:nvSpPr>
        <p:spPr>
          <a:xfrm>
            <a:off x="713232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W7</a:t>
            </a:r>
            <a:endParaRPr lang="en-US" sz="800" dirty="0"/>
          </a:p>
        </p:txBody>
      </p:sp>
      <p:sp>
        <p:nvSpPr>
          <p:cNvPr id="24" name="Shape 22"/>
          <p:cNvSpPr/>
          <p:nvPr/>
        </p:nvSpPr>
        <p:spPr>
          <a:xfrm>
            <a:off x="7909560" y="1170432"/>
            <a:ext cx="777240" cy="320040"/>
          </a:xfrm>
          <a:prstGeom prst="rect">
            <a:avLst/>
          </a:prstGeom>
          <a:solidFill>
            <a:srgbClr val="E07B00"/>
          </a:solidFill>
          <a:ln w="12700">
            <a:solidFill>
              <a:srgbClr val="0F2D56"/>
            </a:solidFill>
            <a:prstDash val="solid"/>
          </a:ln>
        </p:spPr>
      </p:sp>
      <p:sp>
        <p:nvSpPr>
          <p:cNvPr id="25" name="Text 23"/>
          <p:cNvSpPr txBox="1"/>
          <p:nvPr/>
        </p:nvSpPr>
        <p:spPr>
          <a:xfrm>
            <a:off x="790956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W8⬥</a:t>
            </a:r>
            <a:endParaRPr lang="en-US" sz="800" dirty="0"/>
          </a:p>
        </p:txBody>
      </p:sp>
      <p:sp>
        <p:nvSpPr>
          <p:cNvPr id="26" name="Shape 24"/>
          <p:cNvSpPr/>
          <p:nvPr/>
        </p:nvSpPr>
        <p:spPr>
          <a:xfrm>
            <a:off x="8686800" y="1170432"/>
            <a:ext cx="777240" cy="320040"/>
          </a:xfrm>
          <a:prstGeom prst="rect">
            <a:avLst/>
          </a:prstGeom>
          <a:solidFill>
            <a:srgbClr val="0F2D56"/>
          </a:solidFill>
          <a:ln w="12700">
            <a:solidFill>
              <a:srgbClr val="0F2D56"/>
            </a:solidFill>
            <a:prstDash val="solid"/>
          </a:ln>
        </p:spPr>
      </p:sp>
      <p:sp>
        <p:nvSpPr>
          <p:cNvPr id="27" name="Text 25"/>
          <p:cNvSpPr txBox="1"/>
          <p:nvPr/>
        </p:nvSpPr>
        <p:spPr>
          <a:xfrm>
            <a:off x="868680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W9</a:t>
            </a:r>
            <a:endParaRPr lang="en-US" sz="800" dirty="0"/>
          </a:p>
        </p:txBody>
      </p:sp>
      <p:sp>
        <p:nvSpPr>
          <p:cNvPr id="28" name="Shape 26"/>
          <p:cNvSpPr/>
          <p:nvPr/>
        </p:nvSpPr>
        <p:spPr>
          <a:xfrm>
            <a:off x="9464040" y="1170432"/>
            <a:ext cx="777240" cy="320040"/>
          </a:xfrm>
          <a:prstGeom prst="rect">
            <a:avLst/>
          </a:prstGeom>
          <a:solidFill>
            <a:srgbClr val="0F2D56"/>
          </a:solidFill>
          <a:ln w="12700">
            <a:solidFill>
              <a:srgbClr val="0F2D56"/>
            </a:solidFill>
            <a:prstDash val="solid"/>
          </a:ln>
        </p:spPr>
      </p:sp>
      <p:sp>
        <p:nvSpPr>
          <p:cNvPr id="29" name="Text 27"/>
          <p:cNvSpPr txBox="1"/>
          <p:nvPr/>
        </p:nvSpPr>
        <p:spPr>
          <a:xfrm>
            <a:off x="946404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W10</a:t>
            </a:r>
            <a:endParaRPr lang="en-US" sz="800" dirty="0"/>
          </a:p>
        </p:txBody>
      </p:sp>
      <p:sp>
        <p:nvSpPr>
          <p:cNvPr id="30" name="Shape 28"/>
          <p:cNvSpPr/>
          <p:nvPr/>
        </p:nvSpPr>
        <p:spPr>
          <a:xfrm>
            <a:off x="10241280" y="1170432"/>
            <a:ext cx="777240" cy="320040"/>
          </a:xfrm>
          <a:prstGeom prst="rect">
            <a:avLst/>
          </a:prstGeom>
          <a:solidFill>
            <a:srgbClr val="0F2D56"/>
          </a:solidFill>
          <a:ln w="12700">
            <a:solidFill>
              <a:srgbClr val="0F2D56"/>
            </a:solidFill>
            <a:prstDash val="solid"/>
          </a:ln>
        </p:spPr>
      </p:sp>
      <p:sp>
        <p:nvSpPr>
          <p:cNvPr id="31" name="Text 29"/>
          <p:cNvSpPr txBox="1"/>
          <p:nvPr/>
        </p:nvSpPr>
        <p:spPr>
          <a:xfrm>
            <a:off x="1024128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W11</a:t>
            </a:r>
            <a:endParaRPr lang="en-US" sz="800" dirty="0"/>
          </a:p>
        </p:txBody>
      </p:sp>
      <p:sp>
        <p:nvSpPr>
          <p:cNvPr id="32" name="Shape 30"/>
          <p:cNvSpPr/>
          <p:nvPr/>
        </p:nvSpPr>
        <p:spPr>
          <a:xfrm>
            <a:off x="11018520" y="1170432"/>
            <a:ext cx="777240" cy="320040"/>
          </a:xfrm>
          <a:prstGeom prst="rect">
            <a:avLst/>
          </a:prstGeom>
          <a:solidFill>
            <a:srgbClr val="E07B00"/>
          </a:solidFill>
          <a:ln w="12700">
            <a:solidFill>
              <a:srgbClr val="0F2D56"/>
            </a:solidFill>
            <a:prstDash val="solid"/>
          </a:ln>
        </p:spPr>
      </p:sp>
      <p:sp>
        <p:nvSpPr>
          <p:cNvPr id="33" name="Text 31"/>
          <p:cNvSpPr txBox="1"/>
          <p:nvPr/>
        </p:nvSpPr>
        <p:spPr>
          <a:xfrm>
            <a:off x="11018520" y="1170432"/>
            <a:ext cx="7772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W12⬥</a:t>
            </a:r>
            <a:endParaRPr lang="en-US" sz="800" dirty="0"/>
          </a:p>
        </p:txBody>
      </p:sp>
      <p:sp>
        <p:nvSpPr>
          <p:cNvPr id="34" name="Shape 32"/>
          <p:cNvSpPr/>
          <p:nvPr/>
        </p:nvSpPr>
        <p:spPr>
          <a:xfrm>
            <a:off x="274320" y="1508760"/>
            <a:ext cx="2194560" cy="347472"/>
          </a:xfrm>
          <a:prstGeom prst="rect">
            <a:avLst/>
          </a:prstGeom>
          <a:solidFill>
            <a:srgbClr val="F2F4F5"/>
          </a:solidFill>
          <a:ln w="12700">
            <a:solidFill>
              <a:srgbClr val="CBD5E1"/>
            </a:solidFill>
            <a:prstDash val="solid"/>
          </a:ln>
        </p:spPr>
      </p:sp>
      <p:sp>
        <p:nvSpPr>
          <p:cNvPr id="35" name="Shape 33"/>
          <p:cNvSpPr/>
          <p:nvPr/>
        </p:nvSpPr>
        <p:spPr>
          <a:xfrm>
            <a:off x="274320" y="1508760"/>
            <a:ext cx="54864" cy="347472"/>
          </a:xfrm>
          <a:prstGeom prst="rect">
            <a:avLst/>
          </a:prstGeom>
          <a:solidFill>
            <a:srgbClr val="1A8A4A"/>
          </a:solidFill>
          <a:ln w="12700">
            <a:solidFill>
              <a:srgbClr val="1A8A4A"/>
            </a:solidFill>
            <a:prstDash val="solid"/>
          </a:ln>
        </p:spPr>
      </p:sp>
      <p:sp>
        <p:nvSpPr>
          <p:cNvPr id="36" name="Text 34"/>
          <p:cNvSpPr txBox="1"/>
          <p:nvPr/>
        </p:nvSpPr>
        <p:spPr>
          <a:xfrm>
            <a:off x="384048" y="154533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Storage lifecycle policies</a:t>
            </a:r>
            <a:endParaRPr lang="en-US" sz="800" dirty="0"/>
          </a:p>
        </p:txBody>
      </p:sp>
      <p:sp>
        <p:nvSpPr>
          <p:cNvPr id="37" name="Shape 35"/>
          <p:cNvSpPr/>
          <p:nvPr/>
        </p:nvSpPr>
        <p:spPr>
          <a:xfrm>
            <a:off x="2468880" y="1508760"/>
            <a:ext cx="777240" cy="347472"/>
          </a:xfrm>
          <a:prstGeom prst="rect">
            <a:avLst/>
          </a:prstGeom>
          <a:solidFill>
            <a:srgbClr val="1A8A4A"/>
          </a:solidFill>
          <a:ln w="12700">
            <a:solidFill>
              <a:srgbClr val="CBD5E1"/>
            </a:solidFill>
            <a:prstDash val="solid"/>
          </a:ln>
        </p:spPr>
      </p:sp>
      <p:sp>
        <p:nvSpPr>
          <p:cNvPr id="38" name="Shape 36"/>
          <p:cNvSpPr/>
          <p:nvPr/>
        </p:nvSpPr>
        <p:spPr>
          <a:xfrm>
            <a:off x="3246120" y="1508760"/>
            <a:ext cx="777240" cy="347472"/>
          </a:xfrm>
          <a:prstGeom prst="rect">
            <a:avLst/>
          </a:prstGeom>
          <a:solidFill>
            <a:srgbClr val="1A8A4A"/>
          </a:solidFill>
          <a:ln w="12700">
            <a:solidFill>
              <a:srgbClr val="CBD5E1"/>
            </a:solidFill>
            <a:prstDash val="solid"/>
          </a:ln>
        </p:spPr>
      </p:sp>
      <p:sp>
        <p:nvSpPr>
          <p:cNvPr id="39" name="Shape 37"/>
          <p:cNvSpPr/>
          <p:nvPr/>
        </p:nvSpPr>
        <p:spPr>
          <a:xfrm>
            <a:off x="4023360" y="1508760"/>
            <a:ext cx="777240" cy="347472"/>
          </a:xfrm>
          <a:prstGeom prst="rect">
            <a:avLst/>
          </a:prstGeom>
          <a:solidFill>
            <a:srgbClr val="FFFFFF"/>
          </a:solidFill>
          <a:ln w="12700">
            <a:solidFill>
              <a:srgbClr val="CBD5E1"/>
            </a:solidFill>
            <a:prstDash val="solid"/>
          </a:ln>
        </p:spPr>
      </p:sp>
      <p:sp>
        <p:nvSpPr>
          <p:cNvPr id="40" name="Shape 38"/>
          <p:cNvSpPr/>
          <p:nvPr/>
        </p:nvSpPr>
        <p:spPr>
          <a:xfrm>
            <a:off x="4800600" y="1508760"/>
            <a:ext cx="777240" cy="347472"/>
          </a:xfrm>
          <a:prstGeom prst="rect">
            <a:avLst/>
          </a:prstGeom>
          <a:solidFill>
            <a:srgbClr val="F2F4F5"/>
          </a:solidFill>
          <a:ln w="12700">
            <a:solidFill>
              <a:srgbClr val="CBD5E1"/>
            </a:solidFill>
            <a:prstDash val="solid"/>
          </a:ln>
        </p:spPr>
      </p:sp>
      <p:sp>
        <p:nvSpPr>
          <p:cNvPr id="41" name="Shape 39"/>
          <p:cNvSpPr/>
          <p:nvPr/>
        </p:nvSpPr>
        <p:spPr>
          <a:xfrm>
            <a:off x="5577840" y="1508760"/>
            <a:ext cx="777240" cy="347472"/>
          </a:xfrm>
          <a:prstGeom prst="rect">
            <a:avLst/>
          </a:prstGeom>
          <a:solidFill>
            <a:srgbClr val="FFFFFF"/>
          </a:solidFill>
          <a:ln w="12700">
            <a:solidFill>
              <a:srgbClr val="CBD5E1"/>
            </a:solidFill>
            <a:prstDash val="solid"/>
          </a:ln>
        </p:spPr>
      </p:sp>
      <p:sp>
        <p:nvSpPr>
          <p:cNvPr id="42" name="Shape 40"/>
          <p:cNvSpPr/>
          <p:nvPr/>
        </p:nvSpPr>
        <p:spPr>
          <a:xfrm>
            <a:off x="6355080" y="1508760"/>
            <a:ext cx="777240" cy="347472"/>
          </a:xfrm>
          <a:prstGeom prst="rect">
            <a:avLst/>
          </a:prstGeom>
          <a:solidFill>
            <a:srgbClr val="F2F4F5"/>
          </a:solidFill>
          <a:ln w="12700">
            <a:solidFill>
              <a:srgbClr val="CBD5E1"/>
            </a:solidFill>
            <a:prstDash val="solid"/>
          </a:ln>
        </p:spPr>
      </p:sp>
      <p:sp>
        <p:nvSpPr>
          <p:cNvPr id="43" name="Shape 41"/>
          <p:cNvSpPr/>
          <p:nvPr/>
        </p:nvSpPr>
        <p:spPr>
          <a:xfrm>
            <a:off x="7132320" y="1508760"/>
            <a:ext cx="777240" cy="347472"/>
          </a:xfrm>
          <a:prstGeom prst="rect">
            <a:avLst/>
          </a:prstGeom>
          <a:solidFill>
            <a:srgbClr val="FFFFFF"/>
          </a:solidFill>
          <a:ln w="12700">
            <a:solidFill>
              <a:srgbClr val="CBD5E1"/>
            </a:solidFill>
            <a:prstDash val="solid"/>
          </a:ln>
        </p:spPr>
      </p:sp>
      <p:sp>
        <p:nvSpPr>
          <p:cNvPr id="44" name="Shape 42"/>
          <p:cNvSpPr/>
          <p:nvPr/>
        </p:nvSpPr>
        <p:spPr>
          <a:xfrm>
            <a:off x="7909560" y="1508760"/>
            <a:ext cx="777240" cy="347472"/>
          </a:xfrm>
          <a:prstGeom prst="rect">
            <a:avLst/>
          </a:prstGeom>
          <a:solidFill>
            <a:srgbClr val="F2F4F5"/>
          </a:solidFill>
          <a:ln w="12700">
            <a:solidFill>
              <a:srgbClr val="CBD5E1"/>
            </a:solidFill>
            <a:prstDash val="solid"/>
          </a:ln>
        </p:spPr>
      </p:sp>
      <p:sp>
        <p:nvSpPr>
          <p:cNvPr id="45" name="Shape 43"/>
          <p:cNvSpPr/>
          <p:nvPr/>
        </p:nvSpPr>
        <p:spPr>
          <a:xfrm>
            <a:off x="8686800" y="1508760"/>
            <a:ext cx="777240" cy="347472"/>
          </a:xfrm>
          <a:prstGeom prst="rect">
            <a:avLst/>
          </a:prstGeom>
          <a:solidFill>
            <a:srgbClr val="FFFFFF"/>
          </a:solidFill>
          <a:ln w="12700">
            <a:solidFill>
              <a:srgbClr val="CBD5E1"/>
            </a:solidFill>
            <a:prstDash val="solid"/>
          </a:ln>
        </p:spPr>
      </p:sp>
      <p:sp>
        <p:nvSpPr>
          <p:cNvPr id="46" name="Shape 44"/>
          <p:cNvSpPr/>
          <p:nvPr/>
        </p:nvSpPr>
        <p:spPr>
          <a:xfrm>
            <a:off x="9464040" y="1508760"/>
            <a:ext cx="777240" cy="347472"/>
          </a:xfrm>
          <a:prstGeom prst="rect">
            <a:avLst/>
          </a:prstGeom>
          <a:solidFill>
            <a:srgbClr val="F2F4F5"/>
          </a:solidFill>
          <a:ln w="12700">
            <a:solidFill>
              <a:srgbClr val="CBD5E1"/>
            </a:solidFill>
            <a:prstDash val="solid"/>
          </a:ln>
        </p:spPr>
      </p:sp>
      <p:sp>
        <p:nvSpPr>
          <p:cNvPr id="47" name="Shape 45"/>
          <p:cNvSpPr/>
          <p:nvPr/>
        </p:nvSpPr>
        <p:spPr>
          <a:xfrm>
            <a:off x="10241280" y="1508760"/>
            <a:ext cx="777240" cy="347472"/>
          </a:xfrm>
          <a:prstGeom prst="rect">
            <a:avLst/>
          </a:prstGeom>
          <a:solidFill>
            <a:srgbClr val="FFFFFF"/>
          </a:solidFill>
          <a:ln w="12700">
            <a:solidFill>
              <a:srgbClr val="CBD5E1"/>
            </a:solidFill>
            <a:prstDash val="solid"/>
          </a:ln>
        </p:spPr>
      </p:sp>
      <p:sp>
        <p:nvSpPr>
          <p:cNvPr id="48" name="Shape 46"/>
          <p:cNvSpPr/>
          <p:nvPr/>
        </p:nvSpPr>
        <p:spPr>
          <a:xfrm>
            <a:off x="11018520" y="1508760"/>
            <a:ext cx="777240" cy="347472"/>
          </a:xfrm>
          <a:prstGeom prst="rect">
            <a:avLst/>
          </a:prstGeom>
          <a:solidFill>
            <a:srgbClr val="F2F4F5"/>
          </a:solidFill>
          <a:ln w="12700">
            <a:solidFill>
              <a:srgbClr val="CBD5E1"/>
            </a:solidFill>
            <a:prstDash val="solid"/>
          </a:ln>
        </p:spPr>
      </p:sp>
      <p:sp>
        <p:nvSpPr>
          <p:cNvPr id="49" name="Shape 47"/>
          <p:cNvSpPr/>
          <p:nvPr/>
        </p:nvSpPr>
        <p:spPr>
          <a:xfrm>
            <a:off x="274320" y="1874520"/>
            <a:ext cx="2194560" cy="347472"/>
          </a:xfrm>
          <a:prstGeom prst="rect">
            <a:avLst/>
          </a:prstGeom>
          <a:solidFill>
            <a:srgbClr val="F2F4F5"/>
          </a:solidFill>
          <a:ln w="12700">
            <a:solidFill>
              <a:srgbClr val="CBD5E1"/>
            </a:solidFill>
            <a:prstDash val="solid"/>
          </a:ln>
        </p:spPr>
      </p:sp>
      <p:sp>
        <p:nvSpPr>
          <p:cNvPr id="50" name="Text 48"/>
          <p:cNvSpPr txBox="1"/>
          <p:nvPr/>
        </p:nvSpPr>
        <p:spPr>
          <a:xfrm>
            <a:off x="384048" y="191109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EC2 right-sizing (Phase 1)</a:t>
            </a:r>
            <a:endParaRPr lang="en-US" sz="800" dirty="0"/>
          </a:p>
        </p:txBody>
      </p:sp>
      <p:sp>
        <p:nvSpPr>
          <p:cNvPr id="51" name="Shape 49"/>
          <p:cNvSpPr/>
          <p:nvPr/>
        </p:nvSpPr>
        <p:spPr>
          <a:xfrm>
            <a:off x="2468880" y="1874520"/>
            <a:ext cx="777240" cy="347472"/>
          </a:xfrm>
          <a:prstGeom prst="rect">
            <a:avLst/>
          </a:prstGeom>
          <a:solidFill>
            <a:srgbClr val="1A8A4A"/>
          </a:solidFill>
          <a:ln w="12700">
            <a:solidFill>
              <a:srgbClr val="CBD5E1"/>
            </a:solidFill>
            <a:prstDash val="solid"/>
          </a:ln>
        </p:spPr>
      </p:sp>
      <p:sp>
        <p:nvSpPr>
          <p:cNvPr id="52" name="Shape 50"/>
          <p:cNvSpPr/>
          <p:nvPr/>
        </p:nvSpPr>
        <p:spPr>
          <a:xfrm>
            <a:off x="3246120" y="1874520"/>
            <a:ext cx="777240" cy="347472"/>
          </a:xfrm>
          <a:prstGeom prst="rect">
            <a:avLst/>
          </a:prstGeom>
          <a:solidFill>
            <a:srgbClr val="1A8A4A"/>
          </a:solidFill>
          <a:ln w="12700">
            <a:solidFill>
              <a:srgbClr val="CBD5E1"/>
            </a:solidFill>
            <a:prstDash val="solid"/>
          </a:ln>
        </p:spPr>
      </p:sp>
      <p:sp>
        <p:nvSpPr>
          <p:cNvPr id="53" name="Shape 51"/>
          <p:cNvSpPr/>
          <p:nvPr/>
        </p:nvSpPr>
        <p:spPr>
          <a:xfrm>
            <a:off x="4023360" y="1874520"/>
            <a:ext cx="777240" cy="347472"/>
          </a:xfrm>
          <a:prstGeom prst="rect">
            <a:avLst/>
          </a:prstGeom>
          <a:solidFill>
            <a:srgbClr val="FFFFFF"/>
          </a:solidFill>
          <a:ln w="12700">
            <a:solidFill>
              <a:srgbClr val="CBD5E1"/>
            </a:solidFill>
            <a:prstDash val="solid"/>
          </a:ln>
        </p:spPr>
      </p:sp>
      <p:sp>
        <p:nvSpPr>
          <p:cNvPr id="54" name="Shape 52"/>
          <p:cNvSpPr/>
          <p:nvPr/>
        </p:nvSpPr>
        <p:spPr>
          <a:xfrm>
            <a:off x="4800600" y="1874520"/>
            <a:ext cx="777240" cy="347472"/>
          </a:xfrm>
          <a:prstGeom prst="rect">
            <a:avLst/>
          </a:prstGeom>
          <a:solidFill>
            <a:srgbClr val="F2F4F5"/>
          </a:solidFill>
          <a:ln w="12700">
            <a:solidFill>
              <a:srgbClr val="CBD5E1"/>
            </a:solidFill>
            <a:prstDash val="solid"/>
          </a:ln>
        </p:spPr>
      </p:sp>
      <p:sp>
        <p:nvSpPr>
          <p:cNvPr id="55" name="Shape 53"/>
          <p:cNvSpPr/>
          <p:nvPr/>
        </p:nvSpPr>
        <p:spPr>
          <a:xfrm>
            <a:off x="5577840" y="1874520"/>
            <a:ext cx="777240" cy="347472"/>
          </a:xfrm>
          <a:prstGeom prst="rect">
            <a:avLst/>
          </a:prstGeom>
          <a:solidFill>
            <a:srgbClr val="FFFFFF"/>
          </a:solidFill>
          <a:ln w="12700">
            <a:solidFill>
              <a:srgbClr val="CBD5E1"/>
            </a:solidFill>
            <a:prstDash val="solid"/>
          </a:ln>
        </p:spPr>
      </p:sp>
      <p:sp>
        <p:nvSpPr>
          <p:cNvPr id="56" name="Shape 54"/>
          <p:cNvSpPr/>
          <p:nvPr/>
        </p:nvSpPr>
        <p:spPr>
          <a:xfrm>
            <a:off x="6355080" y="1874520"/>
            <a:ext cx="777240" cy="347472"/>
          </a:xfrm>
          <a:prstGeom prst="rect">
            <a:avLst/>
          </a:prstGeom>
          <a:solidFill>
            <a:srgbClr val="F2F4F5"/>
          </a:solidFill>
          <a:ln w="12700">
            <a:solidFill>
              <a:srgbClr val="CBD5E1"/>
            </a:solidFill>
            <a:prstDash val="solid"/>
          </a:ln>
        </p:spPr>
      </p:sp>
      <p:sp>
        <p:nvSpPr>
          <p:cNvPr id="57" name="Shape 55"/>
          <p:cNvSpPr/>
          <p:nvPr/>
        </p:nvSpPr>
        <p:spPr>
          <a:xfrm>
            <a:off x="7132320" y="1874520"/>
            <a:ext cx="777240" cy="347472"/>
          </a:xfrm>
          <a:prstGeom prst="rect">
            <a:avLst/>
          </a:prstGeom>
          <a:solidFill>
            <a:srgbClr val="FFFFFF"/>
          </a:solidFill>
          <a:ln w="12700">
            <a:solidFill>
              <a:srgbClr val="CBD5E1"/>
            </a:solidFill>
            <a:prstDash val="solid"/>
          </a:ln>
        </p:spPr>
      </p:sp>
      <p:sp>
        <p:nvSpPr>
          <p:cNvPr id="58" name="Shape 56"/>
          <p:cNvSpPr/>
          <p:nvPr/>
        </p:nvSpPr>
        <p:spPr>
          <a:xfrm>
            <a:off x="7909560" y="1874520"/>
            <a:ext cx="777240" cy="347472"/>
          </a:xfrm>
          <a:prstGeom prst="rect">
            <a:avLst/>
          </a:prstGeom>
          <a:solidFill>
            <a:srgbClr val="F2F4F5"/>
          </a:solidFill>
          <a:ln w="12700">
            <a:solidFill>
              <a:srgbClr val="CBD5E1"/>
            </a:solidFill>
            <a:prstDash val="solid"/>
          </a:ln>
        </p:spPr>
      </p:sp>
      <p:sp>
        <p:nvSpPr>
          <p:cNvPr id="59" name="Shape 57"/>
          <p:cNvSpPr/>
          <p:nvPr/>
        </p:nvSpPr>
        <p:spPr>
          <a:xfrm>
            <a:off x="8686800" y="1874520"/>
            <a:ext cx="777240" cy="347472"/>
          </a:xfrm>
          <a:prstGeom prst="rect">
            <a:avLst/>
          </a:prstGeom>
          <a:solidFill>
            <a:srgbClr val="FFFFFF"/>
          </a:solidFill>
          <a:ln w="12700">
            <a:solidFill>
              <a:srgbClr val="CBD5E1"/>
            </a:solidFill>
            <a:prstDash val="solid"/>
          </a:ln>
        </p:spPr>
      </p:sp>
      <p:sp>
        <p:nvSpPr>
          <p:cNvPr id="60" name="Shape 58"/>
          <p:cNvSpPr/>
          <p:nvPr/>
        </p:nvSpPr>
        <p:spPr>
          <a:xfrm>
            <a:off x="9464040" y="1874520"/>
            <a:ext cx="777240" cy="347472"/>
          </a:xfrm>
          <a:prstGeom prst="rect">
            <a:avLst/>
          </a:prstGeom>
          <a:solidFill>
            <a:srgbClr val="F2F4F5"/>
          </a:solidFill>
          <a:ln w="12700">
            <a:solidFill>
              <a:srgbClr val="CBD5E1"/>
            </a:solidFill>
            <a:prstDash val="solid"/>
          </a:ln>
        </p:spPr>
      </p:sp>
      <p:sp>
        <p:nvSpPr>
          <p:cNvPr id="61" name="Shape 59"/>
          <p:cNvSpPr/>
          <p:nvPr/>
        </p:nvSpPr>
        <p:spPr>
          <a:xfrm>
            <a:off x="10241280" y="1874520"/>
            <a:ext cx="777240" cy="347472"/>
          </a:xfrm>
          <a:prstGeom prst="rect">
            <a:avLst/>
          </a:prstGeom>
          <a:solidFill>
            <a:srgbClr val="FFFFFF"/>
          </a:solidFill>
          <a:ln w="12700">
            <a:solidFill>
              <a:srgbClr val="CBD5E1"/>
            </a:solidFill>
            <a:prstDash val="solid"/>
          </a:ln>
        </p:spPr>
      </p:sp>
      <p:sp>
        <p:nvSpPr>
          <p:cNvPr id="62" name="Shape 60"/>
          <p:cNvSpPr/>
          <p:nvPr/>
        </p:nvSpPr>
        <p:spPr>
          <a:xfrm>
            <a:off x="11018520" y="1874520"/>
            <a:ext cx="777240" cy="347472"/>
          </a:xfrm>
          <a:prstGeom prst="rect">
            <a:avLst/>
          </a:prstGeom>
          <a:solidFill>
            <a:srgbClr val="F2F4F5"/>
          </a:solidFill>
          <a:ln w="12700">
            <a:solidFill>
              <a:srgbClr val="CBD5E1"/>
            </a:solidFill>
            <a:prstDash val="solid"/>
          </a:ln>
        </p:spPr>
      </p:sp>
      <p:sp>
        <p:nvSpPr>
          <p:cNvPr id="63" name="Shape 61"/>
          <p:cNvSpPr/>
          <p:nvPr/>
        </p:nvSpPr>
        <p:spPr>
          <a:xfrm>
            <a:off x="274320" y="2240280"/>
            <a:ext cx="2194560" cy="347472"/>
          </a:xfrm>
          <a:prstGeom prst="rect">
            <a:avLst/>
          </a:prstGeom>
          <a:solidFill>
            <a:srgbClr val="F2F4F5"/>
          </a:solidFill>
          <a:ln w="12700">
            <a:solidFill>
              <a:srgbClr val="CBD5E1"/>
            </a:solidFill>
            <a:prstDash val="solid"/>
          </a:ln>
        </p:spPr>
      </p:sp>
      <p:sp>
        <p:nvSpPr>
          <p:cNvPr id="64" name="Text 62"/>
          <p:cNvSpPr txBox="1"/>
          <p:nvPr/>
        </p:nvSpPr>
        <p:spPr>
          <a:xfrm>
            <a:off x="384048" y="227685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Tagging remediation</a:t>
            </a:r>
            <a:endParaRPr lang="en-US" sz="800" dirty="0"/>
          </a:p>
        </p:txBody>
      </p:sp>
      <p:sp>
        <p:nvSpPr>
          <p:cNvPr id="65" name="Shape 63"/>
          <p:cNvSpPr/>
          <p:nvPr/>
        </p:nvSpPr>
        <p:spPr>
          <a:xfrm>
            <a:off x="2468880" y="2240280"/>
            <a:ext cx="777240" cy="347472"/>
          </a:xfrm>
          <a:prstGeom prst="rect">
            <a:avLst/>
          </a:prstGeom>
          <a:solidFill>
            <a:srgbClr val="1A8A4A"/>
          </a:solidFill>
          <a:ln w="12700">
            <a:solidFill>
              <a:srgbClr val="CBD5E1"/>
            </a:solidFill>
            <a:prstDash val="solid"/>
          </a:ln>
        </p:spPr>
      </p:sp>
      <p:sp>
        <p:nvSpPr>
          <p:cNvPr id="66" name="Shape 64"/>
          <p:cNvSpPr/>
          <p:nvPr/>
        </p:nvSpPr>
        <p:spPr>
          <a:xfrm>
            <a:off x="3246120" y="2240280"/>
            <a:ext cx="777240" cy="347472"/>
          </a:xfrm>
          <a:prstGeom prst="rect">
            <a:avLst/>
          </a:prstGeom>
          <a:solidFill>
            <a:srgbClr val="1A8A4A"/>
          </a:solidFill>
          <a:ln w="12700">
            <a:solidFill>
              <a:srgbClr val="CBD5E1"/>
            </a:solidFill>
            <a:prstDash val="solid"/>
          </a:ln>
        </p:spPr>
      </p:sp>
      <p:sp>
        <p:nvSpPr>
          <p:cNvPr id="67" name="Shape 65"/>
          <p:cNvSpPr/>
          <p:nvPr/>
        </p:nvSpPr>
        <p:spPr>
          <a:xfrm>
            <a:off x="4023360" y="2240280"/>
            <a:ext cx="777240" cy="347472"/>
          </a:xfrm>
          <a:prstGeom prst="rect">
            <a:avLst/>
          </a:prstGeom>
          <a:solidFill>
            <a:srgbClr val="1A8A4A"/>
          </a:solidFill>
          <a:ln w="12700">
            <a:solidFill>
              <a:srgbClr val="CBD5E1"/>
            </a:solidFill>
            <a:prstDash val="solid"/>
          </a:ln>
        </p:spPr>
      </p:sp>
      <p:sp>
        <p:nvSpPr>
          <p:cNvPr id="68" name="Shape 66"/>
          <p:cNvSpPr/>
          <p:nvPr/>
        </p:nvSpPr>
        <p:spPr>
          <a:xfrm>
            <a:off x="4800600" y="2240280"/>
            <a:ext cx="777240" cy="347472"/>
          </a:xfrm>
          <a:prstGeom prst="rect">
            <a:avLst/>
          </a:prstGeom>
          <a:solidFill>
            <a:srgbClr val="F2F4F5"/>
          </a:solidFill>
          <a:ln w="12700">
            <a:solidFill>
              <a:srgbClr val="CBD5E1"/>
            </a:solidFill>
            <a:prstDash val="solid"/>
          </a:ln>
        </p:spPr>
      </p:sp>
      <p:sp>
        <p:nvSpPr>
          <p:cNvPr id="69" name="Shape 67"/>
          <p:cNvSpPr/>
          <p:nvPr/>
        </p:nvSpPr>
        <p:spPr>
          <a:xfrm>
            <a:off x="5577840" y="2240280"/>
            <a:ext cx="777240" cy="347472"/>
          </a:xfrm>
          <a:prstGeom prst="rect">
            <a:avLst/>
          </a:prstGeom>
          <a:solidFill>
            <a:srgbClr val="FFFFFF"/>
          </a:solidFill>
          <a:ln w="12700">
            <a:solidFill>
              <a:srgbClr val="CBD5E1"/>
            </a:solidFill>
            <a:prstDash val="solid"/>
          </a:ln>
        </p:spPr>
      </p:sp>
      <p:sp>
        <p:nvSpPr>
          <p:cNvPr id="70" name="Shape 68"/>
          <p:cNvSpPr/>
          <p:nvPr/>
        </p:nvSpPr>
        <p:spPr>
          <a:xfrm>
            <a:off x="6355080" y="2240280"/>
            <a:ext cx="777240" cy="347472"/>
          </a:xfrm>
          <a:prstGeom prst="rect">
            <a:avLst/>
          </a:prstGeom>
          <a:solidFill>
            <a:srgbClr val="F2F4F5"/>
          </a:solidFill>
          <a:ln w="12700">
            <a:solidFill>
              <a:srgbClr val="CBD5E1"/>
            </a:solidFill>
            <a:prstDash val="solid"/>
          </a:ln>
        </p:spPr>
      </p:sp>
      <p:sp>
        <p:nvSpPr>
          <p:cNvPr id="71" name="Shape 69"/>
          <p:cNvSpPr/>
          <p:nvPr/>
        </p:nvSpPr>
        <p:spPr>
          <a:xfrm>
            <a:off x="7132320" y="2240280"/>
            <a:ext cx="777240" cy="347472"/>
          </a:xfrm>
          <a:prstGeom prst="rect">
            <a:avLst/>
          </a:prstGeom>
          <a:solidFill>
            <a:srgbClr val="FFFFFF"/>
          </a:solidFill>
          <a:ln w="12700">
            <a:solidFill>
              <a:srgbClr val="CBD5E1"/>
            </a:solidFill>
            <a:prstDash val="solid"/>
          </a:ln>
        </p:spPr>
      </p:sp>
      <p:sp>
        <p:nvSpPr>
          <p:cNvPr id="72" name="Shape 70"/>
          <p:cNvSpPr/>
          <p:nvPr/>
        </p:nvSpPr>
        <p:spPr>
          <a:xfrm>
            <a:off x="7909560" y="2240280"/>
            <a:ext cx="777240" cy="347472"/>
          </a:xfrm>
          <a:prstGeom prst="rect">
            <a:avLst/>
          </a:prstGeom>
          <a:solidFill>
            <a:srgbClr val="F2F4F5"/>
          </a:solidFill>
          <a:ln w="12700">
            <a:solidFill>
              <a:srgbClr val="CBD5E1"/>
            </a:solidFill>
            <a:prstDash val="solid"/>
          </a:ln>
        </p:spPr>
      </p:sp>
      <p:sp>
        <p:nvSpPr>
          <p:cNvPr id="73" name="Shape 71"/>
          <p:cNvSpPr/>
          <p:nvPr/>
        </p:nvSpPr>
        <p:spPr>
          <a:xfrm>
            <a:off x="8686800" y="2240280"/>
            <a:ext cx="777240" cy="347472"/>
          </a:xfrm>
          <a:prstGeom prst="rect">
            <a:avLst/>
          </a:prstGeom>
          <a:solidFill>
            <a:srgbClr val="FFFFFF"/>
          </a:solidFill>
          <a:ln w="12700">
            <a:solidFill>
              <a:srgbClr val="CBD5E1"/>
            </a:solidFill>
            <a:prstDash val="solid"/>
          </a:ln>
        </p:spPr>
      </p:sp>
      <p:sp>
        <p:nvSpPr>
          <p:cNvPr id="74" name="Shape 72"/>
          <p:cNvSpPr/>
          <p:nvPr/>
        </p:nvSpPr>
        <p:spPr>
          <a:xfrm>
            <a:off x="9464040" y="2240280"/>
            <a:ext cx="777240" cy="347472"/>
          </a:xfrm>
          <a:prstGeom prst="rect">
            <a:avLst/>
          </a:prstGeom>
          <a:solidFill>
            <a:srgbClr val="F2F4F5"/>
          </a:solidFill>
          <a:ln w="12700">
            <a:solidFill>
              <a:srgbClr val="CBD5E1"/>
            </a:solidFill>
            <a:prstDash val="solid"/>
          </a:ln>
        </p:spPr>
      </p:sp>
      <p:sp>
        <p:nvSpPr>
          <p:cNvPr id="75" name="Shape 73"/>
          <p:cNvSpPr/>
          <p:nvPr/>
        </p:nvSpPr>
        <p:spPr>
          <a:xfrm>
            <a:off x="10241280" y="2240280"/>
            <a:ext cx="777240" cy="347472"/>
          </a:xfrm>
          <a:prstGeom prst="rect">
            <a:avLst/>
          </a:prstGeom>
          <a:solidFill>
            <a:srgbClr val="FFFFFF"/>
          </a:solidFill>
          <a:ln w="12700">
            <a:solidFill>
              <a:srgbClr val="CBD5E1"/>
            </a:solidFill>
            <a:prstDash val="solid"/>
          </a:ln>
        </p:spPr>
      </p:sp>
      <p:sp>
        <p:nvSpPr>
          <p:cNvPr id="76" name="Shape 74"/>
          <p:cNvSpPr/>
          <p:nvPr/>
        </p:nvSpPr>
        <p:spPr>
          <a:xfrm>
            <a:off x="11018520" y="2240280"/>
            <a:ext cx="777240" cy="347472"/>
          </a:xfrm>
          <a:prstGeom prst="rect">
            <a:avLst/>
          </a:prstGeom>
          <a:solidFill>
            <a:srgbClr val="F2F4F5"/>
          </a:solidFill>
          <a:ln w="12700">
            <a:solidFill>
              <a:srgbClr val="CBD5E1"/>
            </a:solidFill>
            <a:prstDash val="solid"/>
          </a:ln>
        </p:spPr>
      </p:sp>
      <p:sp>
        <p:nvSpPr>
          <p:cNvPr id="77" name="Shape 75"/>
          <p:cNvSpPr/>
          <p:nvPr/>
        </p:nvSpPr>
        <p:spPr>
          <a:xfrm>
            <a:off x="274320" y="2606040"/>
            <a:ext cx="2194560" cy="347472"/>
          </a:xfrm>
          <a:prstGeom prst="rect">
            <a:avLst/>
          </a:prstGeom>
          <a:solidFill>
            <a:srgbClr val="F2F4F5"/>
          </a:solidFill>
          <a:ln w="12700">
            <a:solidFill>
              <a:srgbClr val="CBD5E1"/>
            </a:solidFill>
            <a:prstDash val="solid"/>
          </a:ln>
        </p:spPr>
      </p:sp>
      <p:sp>
        <p:nvSpPr>
          <p:cNvPr id="78" name="Text 76"/>
          <p:cNvSpPr txBox="1"/>
          <p:nvPr/>
        </p:nvSpPr>
        <p:spPr>
          <a:xfrm>
            <a:off x="384048" y="264261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Anomaly alert routing</a:t>
            </a:r>
            <a:endParaRPr lang="en-US" sz="800" dirty="0"/>
          </a:p>
        </p:txBody>
      </p:sp>
      <p:sp>
        <p:nvSpPr>
          <p:cNvPr id="79" name="Shape 77"/>
          <p:cNvSpPr/>
          <p:nvPr/>
        </p:nvSpPr>
        <p:spPr>
          <a:xfrm>
            <a:off x="2468880" y="2606040"/>
            <a:ext cx="777240" cy="347472"/>
          </a:xfrm>
          <a:prstGeom prst="rect">
            <a:avLst/>
          </a:prstGeom>
          <a:solidFill>
            <a:srgbClr val="1A8A4A"/>
          </a:solidFill>
          <a:ln w="12700">
            <a:solidFill>
              <a:srgbClr val="CBD5E1"/>
            </a:solidFill>
            <a:prstDash val="solid"/>
          </a:ln>
        </p:spPr>
      </p:sp>
      <p:sp>
        <p:nvSpPr>
          <p:cNvPr id="80" name="Shape 78"/>
          <p:cNvSpPr/>
          <p:nvPr/>
        </p:nvSpPr>
        <p:spPr>
          <a:xfrm>
            <a:off x="3246120" y="2606040"/>
            <a:ext cx="777240" cy="347472"/>
          </a:xfrm>
          <a:prstGeom prst="rect">
            <a:avLst/>
          </a:prstGeom>
          <a:solidFill>
            <a:srgbClr val="1A8A4A"/>
          </a:solidFill>
          <a:ln w="12700">
            <a:solidFill>
              <a:srgbClr val="CBD5E1"/>
            </a:solidFill>
            <a:prstDash val="solid"/>
          </a:ln>
        </p:spPr>
      </p:sp>
      <p:sp>
        <p:nvSpPr>
          <p:cNvPr id="81" name="Shape 79"/>
          <p:cNvSpPr/>
          <p:nvPr/>
        </p:nvSpPr>
        <p:spPr>
          <a:xfrm>
            <a:off x="4023360" y="2606040"/>
            <a:ext cx="777240" cy="347472"/>
          </a:xfrm>
          <a:prstGeom prst="rect">
            <a:avLst/>
          </a:prstGeom>
          <a:solidFill>
            <a:srgbClr val="FFFFFF"/>
          </a:solidFill>
          <a:ln w="12700">
            <a:solidFill>
              <a:srgbClr val="CBD5E1"/>
            </a:solidFill>
            <a:prstDash val="solid"/>
          </a:ln>
        </p:spPr>
      </p:sp>
      <p:sp>
        <p:nvSpPr>
          <p:cNvPr id="82" name="Shape 80"/>
          <p:cNvSpPr/>
          <p:nvPr/>
        </p:nvSpPr>
        <p:spPr>
          <a:xfrm>
            <a:off x="4800600" y="2606040"/>
            <a:ext cx="777240" cy="347472"/>
          </a:xfrm>
          <a:prstGeom prst="rect">
            <a:avLst/>
          </a:prstGeom>
          <a:solidFill>
            <a:srgbClr val="F2F4F5"/>
          </a:solidFill>
          <a:ln w="12700">
            <a:solidFill>
              <a:srgbClr val="CBD5E1"/>
            </a:solidFill>
            <a:prstDash val="solid"/>
          </a:ln>
        </p:spPr>
      </p:sp>
      <p:sp>
        <p:nvSpPr>
          <p:cNvPr id="83" name="Shape 81"/>
          <p:cNvSpPr/>
          <p:nvPr/>
        </p:nvSpPr>
        <p:spPr>
          <a:xfrm>
            <a:off x="5577840" y="2606040"/>
            <a:ext cx="777240" cy="347472"/>
          </a:xfrm>
          <a:prstGeom prst="rect">
            <a:avLst/>
          </a:prstGeom>
          <a:solidFill>
            <a:srgbClr val="FFFFFF"/>
          </a:solidFill>
          <a:ln w="12700">
            <a:solidFill>
              <a:srgbClr val="CBD5E1"/>
            </a:solidFill>
            <a:prstDash val="solid"/>
          </a:ln>
        </p:spPr>
      </p:sp>
      <p:sp>
        <p:nvSpPr>
          <p:cNvPr id="84" name="Shape 82"/>
          <p:cNvSpPr/>
          <p:nvPr/>
        </p:nvSpPr>
        <p:spPr>
          <a:xfrm>
            <a:off x="6355080" y="2606040"/>
            <a:ext cx="777240" cy="347472"/>
          </a:xfrm>
          <a:prstGeom prst="rect">
            <a:avLst/>
          </a:prstGeom>
          <a:solidFill>
            <a:srgbClr val="F2F4F5"/>
          </a:solidFill>
          <a:ln w="12700">
            <a:solidFill>
              <a:srgbClr val="CBD5E1"/>
            </a:solidFill>
            <a:prstDash val="solid"/>
          </a:ln>
        </p:spPr>
      </p:sp>
      <p:sp>
        <p:nvSpPr>
          <p:cNvPr id="85" name="Shape 83"/>
          <p:cNvSpPr/>
          <p:nvPr/>
        </p:nvSpPr>
        <p:spPr>
          <a:xfrm>
            <a:off x="7132320" y="2606040"/>
            <a:ext cx="777240" cy="347472"/>
          </a:xfrm>
          <a:prstGeom prst="rect">
            <a:avLst/>
          </a:prstGeom>
          <a:solidFill>
            <a:srgbClr val="FFFFFF"/>
          </a:solidFill>
          <a:ln w="12700">
            <a:solidFill>
              <a:srgbClr val="CBD5E1"/>
            </a:solidFill>
            <a:prstDash val="solid"/>
          </a:ln>
        </p:spPr>
      </p:sp>
      <p:sp>
        <p:nvSpPr>
          <p:cNvPr id="86" name="Shape 84"/>
          <p:cNvSpPr/>
          <p:nvPr/>
        </p:nvSpPr>
        <p:spPr>
          <a:xfrm>
            <a:off x="7909560" y="2606040"/>
            <a:ext cx="777240" cy="347472"/>
          </a:xfrm>
          <a:prstGeom prst="rect">
            <a:avLst/>
          </a:prstGeom>
          <a:solidFill>
            <a:srgbClr val="F2F4F5"/>
          </a:solidFill>
          <a:ln w="12700">
            <a:solidFill>
              <a:srgbClr val="CBD5E1"/>
            </a:solidFill>
            <a:prstDash val="solid"/>
          </a:ln>
        </p:spPr>
      </p:sp>
      <p:sp>
        <p:nvSpPr>
          <p:cNvPr id="87" name="Shape 85"/>
          <p:cNvSpPr/>
          <p:nvPr/>
        </p:nvSpPr>
        <p:spPr>
          <a:xfrm>
            <a:off x="8686800" y="2606040"/>
            <a:ext cx="777240" cy="347472"/>
          </a:xfrm>
          <a:prstGeom prst="rect">
            <a:avLst/>
          </a:prstGeom>
          <a:solidFill>
            <a:srgbClr val="FFFFFF"/>
          </a:solidFill>
          <a:ln w="12700">
            <a:solidFill>
              <a:srgbClr val="CBD5E1"/>
            </a:solidFill>
            <a:prstDash val="solid"/>
          </a:ln>
        </p:spPr>
      </p:sp>
      <p:sp>
        <p:nvSpPr>
          <p:cNvPr id="88" name="Shape 86"/>
          <p:cNvSpPr/>
          <p:nvPr/>
        </p:nvSpPr>
        <p:spPr>
          <a:xfrm>
            <a:off x="9464040" y="2606040"/>
            <a:ext cx="777240" cy="347472"/>
          </a:xfrm>
          <a:prstGeom prst="rect">
            <a:avLst/>
          </a:prstGeom>
          <a:solidFill>
            <a:srgbClr val="F2F4F5"/>
          </a:solidFill>
          <a:ln w="12700">
            <a:solidFill>
              <a:srgbClr val="CBD5E1"/>
            </a:solidFill>
            <a:prstDash val="solid"/>
          </a:ln>
        </p:spPr>
      </p:sp>
      <p:sp>
        <p:nvSpPr>
          <p:cNvPr id="89" name="Shape 87"/>
          <p:cNvSpPr/>
          <p:nvPr/>
        </p:nvSpPr>
        <p:spPr>
          <a:xfrm>
            <a:off x="10241280" y="2606040"/>
            <a:ext cx="777240" cy="347472"/>
          </a:xfrm>
          <a:prstGeom prst="rect">
            <a:avLst/>
          </a:prstGeom>
          <a:solidFill>
            <a:srgbClr val="FFFFFF"/>
          </a:solidFill>
          <a:ln w="12700">
            <a:solidFill>
              <a:srgbClr val="CBD5E1"/>
            </a:solidFill>
            <a:prstDash val="solid"/>
          </a:ln>
        </p:spPr>
      </p:sp>
      <p:sp>
        <p:nvSpPr>
          <p:cNvPr id="90" name="Shape 88"/>
          <p:cNvSpPr/>
          <p:nvPr/>
        </p:nvSpPr>
        <p:spPr>
          <a:xfrm>
            <a:off x="11018520" y="2606040"/>
            <a:ext cx="777240" cy="347472"/>
          </a:xfrm>
          <a:prstGeom prst="rect">
            <a:avLst/>
          </a:prstGeom>
          <a:solidFill>
            <a:srgbClr val="F2F4F5"/>
          </a:solidFill>
          <a:ln w="12700">
            <a:solidFill>
              <a:srgbClr val="CBD5E1"/>
            </a:solidFill>
            <a:prstDash val="solid"/>
          </a:ln>
        </p:spPr>
      </p:sp>
      <p:sp>
        <p:nvSpPr>
          <p:cNvPr id="91" name="Shape 89"/>
          <p:cNvSpPr/>
          <p:nvPr/>
        </p:nvSpPr>
        <p:spPr>
          <a:xfrm>
            <a:off x="274320" y="2971800"/>
            <a:ext cx="2194560" cy="347472"/>
          </a:xfrm>
          <a:prstGeom prst="rect">
            <a:avLst/>
          </a:prstGeom>
          <a:solidFill>
            <a:srgbClr val="F2F4F5"/>
          </a:solidFill>
          <a:ln w="12700">
            <a:solidFill>
              <a:srgbClr val="CBD5E1"/>
            </a:solidFill>
            <a:prstDash val="solid"/>
          </a:ln>
        </p:spPr>
      </p:sp>
      <p:sp>
        <p:nvSpPr>
          <p:cNvPr id="92" name="Text 90"/>
          <p:cNvSpPr txBox="1"/>
          <p:nvPr/>
        </p:nvSpPr>
        <p:spPr>
          <a:xfrm>
            <a:off x="384048" y="300837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Non-prod scheduled shutdown</a:t>
            </a:r>
            <a:endParaRPr lang="en-US" sz="800" dirty="0"/>
          </a:p>
        </p:txBody>
      </p:sp>
      <p:sp>
        <p:nvSpPr>
          <p:cNvPr id="93" name="Shape 91"/>
          <p:cNvSpPr/>
          <p:nvPr/>
        </p:nvSpPr>
        <p:spPr>
          <a:xfrm>
            <a:off x="2468880" y="2971800"/>
            <a:ext cx="777240" cy="347472"/>
          </a:xfrm>
          <a:prstGeom prst="rect">
            <a:avLst/>
          </a:prstGeom>
          <a:solidFill>
            <a:srgbClr val="1A8A4A"/>
          </a:solidFill>
          <a:ln w="12700">
            <a:solidFill>
              <a:srgbClr val="CBD5E1"/>
            </a:solidFill>
            <a:prstDash val="solid"/>
          </a:ln>
        </p:spPr>
      </p:sp>
      <p:sp>
        <p:nvSpPr>
          <p:cNvPr id="94" name="Shape 92"/>
          <p:cNvSpPr/>
          <p:nvPr/>
        </p:nvSpPr>
        <p:spPr>
          <a:xfrm>
            <a:off x="3246120" y="2971800"/>
            <a:ext cx="777240" cy="347472"/>
          </a:xfrm>
          <a:prstGeom prst="rect">
            <a:avLst/>
          </a:prstGeom>
          <a:solidFill>
            <a:srgbClr val="1A8A4A"/>
          </a:solidFill>
          <a:ln w="12700">
            <a:solidFill>
              <a:srgbClr val="CBD5E1"/>
            </a:solidFill>
            <a:prstDash val="solid"/>
          </a:ln>
        </p:spPr>
      </p:sp>
      <p:sp>
        <p:nvSpPr>
          <p:cNvPr id="95" name="Shape 93"/>
          <p:cNvSpPr/>
          <p:nvPr/>
        </p:nvSpPr>
        <p:spPr>
          <a:xfrm>
            <a:off x="4023360" y="2971800"/>
            <a:ext cx="777240" cy="347472"/>
          </a:xfrm>
          <a:prstGeom prst="rect">
            <a:avLst/>
          </a:prstGeom>
          <a:solidFill>
            <a:srgbClr val="FFFFFF"/>
          </a:solidFill>
          <a:ln w="12700">
            <a:solidFill>
              <a:srgbClr val="CBD5E1"/>
            </a:solidFill>
            <a:prstDash val="solid"/>
          </a:ln>
        </p:spPr>
      </p:sp>
      <p:sp>
        <p:nvSpPr>
          <p:cNvPr id="96" name="Shape 94"/>
          <p:cNvSpPr/>
          <p:nvPr/>
        </p:nvSpPr>
        <p:spPr>
          <a:xfrm>
            <a:off x="4800600" y="2971800"/>
            <a:ext cx="777240" cy="347472"/>
          </a:xfrm>
          <a:prstGeom prst="rect">
            <a:avLst/>
          </a:prstGeom>
          <a:solidFill>
            <a:srgbClr val="F2F4F5"/>
          </a:solidFill>
          <a:ln w="12700">
            <a:solidFill>
              <a:srgbClr val="CBD5E1"/>
            </a:solidFill>
            <a:prstDash val="solid"/>
          </a:ln>
        </p:spPr>
      </p:sp>
      <p:sp>
        <p:nvSpPr>
          <p:cNvPr id="97" name="Shape 95"/>
          <p:cNvSpPr/>
          <p:nvPr/>
        </p:nvSpPr>
        <p:spPr>
          <a:xfrm>
            <a:off x="5577840" y="2971800"/>
            <a:ext cx="777240" cy="347472"/>
          </a:xfrm>
          <a:prstGeom prst="rect">
            <a:avLst/>
          </a:prstGeom>
          <a:solidFill>
            <a:srgbClr val="FFFFFF"/>
          </a:solidFill>
          <a:ln w="12700">
            <a:solidFill>
              <a:srgbClr val="CBD5E1"/>
            </a:solidFill>
            <a:prstDash val="solid"/>
          </a:ln>
        </p:spPr>
      </p:sp>
      <p:sp>
        <p:nvSpPr>
          <p:cNvPr id="98" name="Shape 96"/>
          <p:cNvSpPr/>
          <p:nvPr/>
        </p:nvSpPr>
        <p:spPr>
          <a:xfrm>
            <a:off x="6355080" y="2971800"/>
            <a:ext cx="777240" cy="347472"/>
          </a:xfrm>
          <a:prstGeom prst="rect">
            <a:avLst/>
          </a:prstGeom>
          <a:solidFill>
            <a:srgbClr val="F2F4F5"/>
          </a:solidFill>
          <a:ln w="12700">
            <a:solidFill>
              <a:srgbClr val="CBD5E1"/>
            </a:solidFill>
            <a:prstDash val="solid"/>
          </a:ln>
        </p:spPr>
      </p:sp>
      <p:sp>
        <p:nvSpPr>
          <p:cNvPr id="99" name="Shape 97"/>
          <p:cNvSpPr/>
          <p:nvPr/>
        </p:nvSpPr>
        <p:spPr>
          <a:xfrm>
            <a:off x="7132320" y="2971800"/>
            <a:ext cx="777240" cy="347472"/>
          </a:xfrm>
          <a:prstGeom prst="rect">
            <a:avLst/>
          </a:prstGeom>
          <a:solidFill>
            <a:srgbClr val="FFFFFF"/>
          </a:solidFill>
          <a:ln w="12700">
            <a:solidFill>
              <a:srgbClr val="CBD5E1"/>
            </a:solidFill>
            <a:prstDash val="solid"/>
          </a:ln>
        </p:spPr>
      </p:sp>
      <p:sp>
        <p:nvSpPr>
          <p:cNvPr id="100" name="Shape 98"/>
          <p:cNvSpPr/>
          <p:nvPr/>
        </p:nvSpPr>
        <p:spPr>
          <a:xfrm>
            <a:off x="7909560" y="2971800"/>
            <a:ext cx="777240" cy="347472"/>
          </a:xfrm>
          <a:prstGeom prst="rect">
            <a:avLst/>
          </a:prstGeom>
          <a:solidFill>
            <a:srgbClr val="F2F4F5"/>
          </a:solidFill>
          <a:ln w="12700">
            <a:solidFill>
              <a:srgbClr val="CBD5E1"/>
            </a:solidFill>
            <a:prstDash val="solid"/>
          </a:ln>
        </p:spPr>
      </p:sp>
      <p:sp>
        <p:nvSpPr>
          <p:cNvPr id="101" name="Shape 99"/>
          <p:cNvSpPr/>
          <p:nvPr/>
        </p:nvSpPr>
        <p:spPr>
          <a:xfrm>
            <a:off x="8686800" y="2971800"/>
            <a:ext cx="777240" cy="347472"/>
          </a:xfrm>
          <a:prstGeom prst="rect">
            <a:avLst/>
          </a:prstGeom>
          <a:solidFill>
            <a:srgbClr val="FFFFFF"/>
          </a:solidFill>
          <a:ln w="12700">
            <a:solidFill>
              <a:srgbClr val="CBD5E1"/>
            </a:solidFill>
            <a:prstDash val="solid"/>
          </a:ln>
        </p:spPr>
      </p:sp>
      <p:sp>
        <p:nvSpPr>
          <p:cNvPr id="102" name="Shape 100"/>
          <p:cNvSpPr/>
          <p:nvPr/>
        </p:nvSpPr>
        <p:spPr>
          <a:xfrm>
            <a:off x="9464040" y="2971800"/>
            <a:ext cx="777240" cy="347472"/>
          </a:xfrm>
          <a:prstGeom prst="rect">
            <a:avLst/>
          </a:prstGeom>
          <a:solidFill>
            <a:srgbClr val="F2F4F5"/>
          </a:solidFill>
          <a:ln w="12700">
            <a:solidFill>
              <a:srgbClr val="CBD5E1"/>
            </a:solidFill>
            <a:prstDash val="solid"/>
          </a:ln>
        </p:spPr>
      </p:sp>
      <p:sp>
        <p:nvSpPr>
          <p:cNvPr id="103" name="Shape 101"/>
          <p:cNvSpPr/>
          <p:nvPr/>
        </p:nvSpPr>
        <p:spPr>
          <a:xfrm>
            <a:off x="10241280" y="2971800"/>
            <a:ext cx="777240" cy="347472"/>
          </a:xfrm>
          <a:prstGeom prst="rect">
            <a:avLst/>
          </a:prstGeom>
          <a:solidFill>
            <a:srgbClr val="FFFFFF"/>
          </a:solidFill>
          <a:ln w="12700">
            <a:solidFill>
              <a:srgbClr val="CBD5E1"/>
            </a:solidFill>
            <a:prstDash val="solid"/>
          </a:ln>
        </p:spPr>
      </p:sp>
      <p:sp>
        <p:nvSpPr>
          <p:cNvPr id="104" name="Shape 102"/>
          <p:cNvSpPr/>
          <p:nvPr/>
        </p:nvSpPr>
        <p:spPr>
          <a:xfrm>
            <a:off x="11018520" y="2971800"/>
            <a:ext cx="777240" cy="347472"/>
          </a:xfrm>
          <a:prstGeom prst="rect">
            <a:avLst/>
          </a:prstGeom>
          <a:solidFill>
            <a:srgbClr val="F2F4F5"/>
          </a:solidFill>
          <a:ln w="12700">
            <a:solidFill>
              <a:srgbClr val="CBD5E1"/>
            </a:solidFill>
            <a:prstDash val="solid"/>
          </a:ln>
        </p:spPr>
      </p:sp>
      <p:sp>
        <p:nvSpPr>
          <p:cNvPr id="105" name="Shape 103"/>
          <p:cNvSpPr/>
          <p:nvPr/>
        </p:nvSpPr>
        <p:spPr>
          <a:xfrm>
            <a:off x="274320" y="3337560"/>
            <a:ext cx="2194560" cy="347472"/>
          </a:xfrm>
          <a:prstGeom prst="rect">
            <a:avLst/>
          </a:prstGeom>
          <a:solidFill>
            <a:srgbClr val="F2F4F5"/>
          </a:solidFill>
          <a:ln w="12700">
            <a:solidFill>
              <a:srgbClr val="CBD5E1"/>
            </a:solidFill>
            <a:prstDash val="solid"/>
          </a:ln>
        </p:spPr>
      </p:sp>
      <p:sp>
        <p:nvSpPr>
          <p:cNvPr id="106" name="Shape 104"/>
          <p:cNvSpPr/>
          <p:nvPr/>
        </p:nvSpPr>
        <p:spPr>
          <a:xfrm>
            <a:off x="274320" y="3337560"/>
            <a:ext cx="54864" cy="347472"/>
          </a:xfrm>
          <a:prstGeom prst="rect">
            <a:avLst/>
          </a:prstGeom>
          <a:solidFill>
            <a:srgbClr val="1A5FA8"/>
          </a:solidFill>
          <a:ln w="12700">
            <a:solidFill>
              <a:srgbClr val="1A5FA8"/>
            </a:solidFill>
            <a:prstDash val="solid"/>
          </a:ln>
        </p:spPr>
      </p:sp>
      <p:sp>
        <p:nvSpPr>
          <p:cNvPr id="107" name="Text 105"/>
          <p:cNvSpPr txBox="1"/>
          <p:nvPr/>
        </p:nvSpPr>
        <p:spPr>
          <a:xfrm>
            <a:off x="384048" y="337413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Storage lifecycle (EFS)</a:t>
            </a:r>
            <a:endParaRPr lang="en-US" sz="800" dirty="0"/>
          </a:p>
        </p:txBody>
      </p:sp>
      <p:sp>
        <p:nvSpPr>
          <p:cNvPr id="108" name="Shape 106"/>
          <p:cNvSpPr/>
          <p:nvPr/>
        </p:nvSpPr>
        <p:spPr>
          <a:xfrm>
            <a:off x="2468880" y="3337560"/>
            <a:ext cx="777240" cy="347472"/>
          </a:xfrm>
          <a:prstGeom prst="rect">
            <a:avLst/>
          </a:prstGeom>
          <a:solidFill>
            <a:srgbClr val="FFFFFF"/>
          </a:solidFill>
          <a:ln w="12700">
            <a:solidFill>
              <a:srgbClr val="CBD5E1"/>
            </a:solidFill>
            <a:prstDash val="solid"/>
          </a:ln>
        </p:spPr>
      </p:sp>
      <p:sp>
        <p:nvSpPr>
          <p:cNvPr id="109" name="Shape 107"/>
          <p:cNvSpPr/>
          <p:nvPr/>
        </p:nvSpPr>
        <p:spPr>
          <a:xfrm>
            <a:off x="3246120" y="3337560"/>
            <a:ext cx="777240" cy="347472"/>
          </a:xfrm>
          <a:prstGeom prst="rect">
            <a:avLst/>
          </a:prstGeom>
          <a:solidFill>
            <a:srgbClr val="F2F4F5"/>
          </a:solidFill>
          <a:ln w="12700">
            <a:solidFill>
              <a:srgbClr val="CBD5E1"/>
            </a:solidFill>
            <a:prstDash val="solid"/>
          </a:ln>
        </p:spPr>
      </p:sp>
      <p:sp>
        <p:nvSpPr>
          <p:cNvPr id="110" name="Shape 108"/>
          <p:cNvSpPr/>
          <p:nvPr/>
        </p:nvSpPr>
        <p:spPr>
          <a:xfrm>
            <a:off x="4023360" y="3337560"/>
            <a:ext cx="777240" cy="347472"/>
          </a:xfrm>
          <a:prstGeom prst="rect">
            <a:avLst/>
          </a:prstGeom>
          <a:solidFill>
            <a:srgbClr val="1A5FA8"/>
          </a:solidFill>
          <a:ln w="12700">
            <a:solidFill>
              <a:srgbClr val="CBD5E1"/>
            </a:solidFill>
            <a:prstDash val="solid"/>
          </a:ln>
        </p:spPr>
      </p:sp>
      <p:sp>
        <p:nvSpPr>
          <p:cNvPr id="111" name="Shape 109"/>
          <p:cNvSpPr/>
          <p:nvPr/>
        </p:nvSpPr>
        <p:spPr>
          <a:xfrm>
            <a:off x="4800600" y="3337560"/>
            <a:ext cx="777240" cy="347472"/>
          </a:xfrm>
          <a:prstGeom prst="rect">
            <a:avLst/>
          </a:prstGeom>
          <a:solidFill>
            <a:srgbClr val="1A5FA8"/>
          </a:solidFill>
          <a:ln w="12700">
            <a:solidFill>
              <a:srgbClr val="CBD5E1"/>
            </a:solidFill>
            <a:prstDash val="solid"/>
          </a:ln>
        </p:spPr>
      </p:sp>
      <p:sp>
        <p:nvSpPr>
          <p:cNvPr id="112" name="Shape 110"/>
          <p:cNvSpPr/>
          <p:nvPr/>
        </p:nvSpPr>
        <p:spPr>
          <a:xfrm>
            <a:off x="5577840" y="3337560"/>
            <a:ext cx="777240" cy="347472"/>
          </a:xfrm>
          <a:prstGeom prst="rect">
            <a:avLst/>
          </a:prstGeom>
          <a:solidFill>
            <a:srgbClr val="FFFFFF"/>
          </a:solidFill>
          <a:ln w="12700">
            <a:solidFill>
              <a:srgbClr val="CBD5E1"/>
            </a:solidFill>
            <a:prstDash val="solid"/>
          </a:ln>
        </p:spPr>
      </p:sp>
      <p:sp>
        <p:nvSpPr>
          <p:cNvPr id="113" name="Shape 111"/>
          <p:cNvSpPr/>
          <p:nvPr/>
        </p:nvSpPr>
        <p:spPr>
          <a:xfrm>
            <a:off x="6355080" y="3337560"/>
            <a:ext cx="777240" cy="347472"/>
          </a:xfrm>
          <a:prstGeom prst="rect">
            <a:avLst/>
          </a:prstGeom>
          <a:solidFill>
            <a:srgbClr val="F2F4F5"/>
          </a:solidFill>
          <a:ln w="12700">
            <a:solidFill>
              <a:srgbClr val="CBD5E1"/>
            </a:solidFill>
            <a:prstDash val="solid"/>
          </a:ln>
        </p:spPr>
      </p:sp>
      <p:sp>
        <p:nvSpPr>
          <p:cNvPr id="114" name="Shape 112"/>
          <p:cNvSpPr/>
          <p:nvPr/>
        </p:nvSpPr>
        <p:spPr>
          <a:xfrm>
            <a:off x="7132320" y="3337560"/>
            <a:ext cx="777240" cy="347472"/>
          </a:xfrm>
          <a:prstGeom prst="rect">
            <a:avLst/>
          </a:prstGeom>
          <a:solidFill>
            <a:srgbClr val="FFFFFF"/>
          </a:solidFill>
          <a:ln w="12700">
            <a:solidFill>
              <a:srgbClr val="CBD5E1"/>
            </a:solidFill>
            <a:prstDash val="solid"/>
          </a:ln>
        </p:spPr>
      </p:sp>
      <p:sp>
        <p:nvSpPr>
          <p:cNvPr id="115" name="Shape 113"/>
          <p:cNvSpPr/>
          <p:nvPr/>
        </p:nvSpPr>
        <p:spPr>
          <a:xfrm>
            <a:off x="7909560" y="3337560"/>
            <a:ext cx="777240" cy="347472"/>
          </a:xfrm>
          <a:prstGeom prst="rect">
            <a:avLst/>
          </a:prstGeom>
          <a:solidFill>
            <a:srgbClr val="F2F4F5"/>
          </a:solidFill>
          <a:ln w="12700">
            <a:solidFill>
              <a:srgbClr val="CBD5E1"/>
            </a:solidFill>
            <a:prstDash val="solid"/>
          </a:ln>
        </p:spPr>
      </p:sp>
      <p:sp>
        <p:nvSpPr>
          <p:cNvPr id="116" name="Shape 114"/>
          <p:cNvSpPr/>
          <p:nvPr/>
        </p:nvSpPr>
        <p:spPr>
          <a:xfrm>
            <a:off x="8686800" y="3337560"/>
            <a:ext cx="777240" cy="347472"/>
          </a:xfrm>
          <a:prstGeom prst="rect">
            <a:avLst/>
          </a:prstGeom>
          <a:solidFill>
            <a:srgbClr val="FFFFFF"/>
          </a:solidFill>
          <a:ln w="12700">
            <a:solidFill>
              <a:srgbClr val="CBD5E1"/>
            </a:solidFill>
            <a:prstDash val="solid"/>
          </a:ln>
        </p:spPr>
      </p:sp>
      <p:sp>
        <p:nvSpPr>
          <p:cNvPr id="117" name="Shape 115"/>
          <p:cNvSpPr/>
          <p:nvPr/>
        </p:nvSpPr>
        <p:spPr>
          <a:xfrm>
            <a:off x="9464040" y="3337560"/>
            <a:ext cx="777240" cy="347472"/>
          </a:xfrm>
          <a:prstGeom prst="rect">
            <a:avLst/>
          </a:prstGeom>
          <a:solidFill>
            <a:srgbClr val="F2F4F5"/>
          </a:solidFill>
          <a:ln w="12700">
            <a:solidFill>
              <a:srgbClr val="CBD5E1"/>
            </a:solidFill>
            <a:prstDash val="solid"/>
          </a:ln>
        </p:spPr>
      </p:sp>
      <p:sp>
        <p:nvSpPr>
          <p:cNvPr id="118" name="Shape 116"/>
          <p:cNvSpPr/>
          <p:nvPr/>
        </p:nvSpPr>
        <p:spPr>
          <a:xfrm>
            <a:off x="10241280" y="3337560"/>
            <a:ext cx="777240" cy="347472"/>
          </a:xfrm>
          <a:prstGeom prst="rect">
            <a:avLst/>
          </a:prstGeom>
          <a:solidFill>
            <a:srgbClr val="FFFFFF"/>
          </a:solidFill>
          <a:ln w="12700">
            <a:solidFill>
              <a:srgbClr val="CBD5E1"/>
            </a:solidFill>
            <a:prstDash val="solid"/>
          </a:ln>
        </p:spPr>
      </p:sp>
      <p:sp>
        <p:nvSpPr>
          <p:cNvPr id="119" name="Shape 117"/>
          <p:cNvSpPr/>
          <p:nvPr/>
        </p:nvSpPr>
        <p:spPr>
          <a:xfrm>
            <a:off x="11018520" y="3337560"/>
            <a:ext cx="777240" cy="347472"/>
          </a:xfrm>
          <a:prstGeom prst="rect">
            <a:avLst/>
          </a:prstGeom>
          <a:solidFill>
            <a:srgbClr val="F2F4F5"/>
          </a:solidFill>
          <a:ln w="12700">
            <a:solidFill>
              <a:srgbClr val="CBD5E1"/>
            </a:solidFill>
            <a:prstDash val="solid"/>
          </a:ln>
        </p:spPr>
      </p:sp>
      <p:sp>
        <p:nvSpPr>
          <p:cNvPr id="120" name="Shape 118"/>
          <p:cNvSpPr/>
          <p:nvPr/>
        </p:nvSpPr>
        <p:spPr>
          <a:xfrm>
            <a:off x="274320" y="3703320"/>
            <a:ext cx="2194560" cy="347472"/>
          </a:xfrm>
          <a:prstGeom prst="rect">
            <a:avLst/>
          </a:prstGeom>
          <a:solidFill>
            <a:srgbClr val="F2F4F5"/>
          </a:solidFill>
          <a:ln w="12700">
            <a:solidFill>
              <a:srgbClr val="CBD5E1"/>
            </a:solidFill>
            <a:prstDash val="solid"/>
          </a:ln>
        </p:spPr>
      </p:sp>
      <p:sp>
        <p:nvSpPr>
          <p:cNvPr id="121" name="Text 119"/>
          <p:cNvSpPr txBox="1"/>
          <p:nvPr/>
        </p:nvSpPr>
        <p:spPr>
          <a:xfrm>
            <a:off x="384048" y="373989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NAT Gateway optimisation</a:t>
            </a:r>
            <a:endParaRPr lang="en-US" sz="800" dirty="0"/>
          </a:p>
        </p:txBody>
      </p:sp>
      <p:sp>
        <p:nvSpPr>
          <p:cNvPr id="122" name="Shape 120"/>
          <p:cNvSpPr/>
          <p:nvPr/>
        </p:nvSpPr>
        <p:spPr>
          <a:xfrm>
            <a:off x="2468880" y="3703320"/>
            <a:ext cx="777240" cy="347472"/>
          </a:xfrm>
          <a:prstGeom prst="rect">
            <a:avLst/>
          </a:prstGeom>
          <a:solidFill>
            <a:srgbClr val="FFFFFF"/>
          </a:solidFill>
          <a:ln w="12700">
            <a:solidFill>
              <a:srgbClr val="CBD5E1"/>
            </a:solidFill>
            <a:prstDash val="solid"/>
          </a:ln>
        </p:spPr>
      </p:sp>
      <p:sp>
        <p:nvSpPr>
          <p:cNvPr id="123" name="Shape 121"/>
          <p:cNvSpPr/>
          <p:nvPr/>
        </p:nvSpPr>
        <p:spPr>
          <a:xfrm>
            <a:off x="3246120" y="3703320"/>
            <a:ext cx="777240" cy="347472"/>
          </a:xfrm>
          <a:prstGeom prst="rect">
            <a:avLst/>
          </a:prstGeom>
          <a:solidFill>
            <a:srgbClr val="F2F4F5"/>
          </a:solidFill>
          <a:ln w="12700">
            <a:solidFill>
              <a:srgbClr val="CBD5E1"/>
            </a:solidFill>
            <a:prstDash val="solid"/>
          </a:ln>
        </p:spPr>
      </p:sp>
      <p:sp>
        <p:nvSpPr>
          <p:cNvPr id="124" name="Shape 122"/>
          <p:cNvSpPr/>
          <p:nvPr/>
        </p:nvSpPr>
        <p:spPr>
          <a:xfrm>
            <a:off x="4023360" y="3703320"/>
            <a:ext cx="777240" cy="347472"/>
          </a:xfrm>
          <a:prstGeom prst="rect">
            <a:avLst/>
          </a:prstGeom>
          <a:solidFill>
            <a:srgbClr val="1A5FA8"/>
          </a:solidFill>
          <a:ln w="12700">
            <a:solidFill>
              <a:srgbClr val="CBD5E1"/>
            </a:solidFill>
            <a:prstDash val="solid"/>
          </a:ln>
        </p:spPr>
      </p:sp>
      <p:sp>
        <p:nvSpPr>
          <p:cNvPr id="125" name="Shape 123"/>
          <p:cNvSpPr/>
          <p:nvPr/>
        </p:nvSpPr>
        <p:spPr>
          <a:xfrm>
            <a:off x="4800600" y="3703320"/>
            <a:ext cx="777240" cy="347472"/>
          </a:xfrm>
          <a:prstGeom prst="rect">
            <a:avLst/>
          </a:prstGeom>
          <a:solidFill>
            <a:srgbClr val="1A5FA8"/>
          </a:solidFill>
          <a:ln w="12700">
            <a:solidFill>
              <a:srgbClr val="CBD5E1"/>
            </a:solidFill>
            <a:prstDash val="solid"/>
          </a:ln>
        </p:spPr>
      </p:sp>
      <p:sp>
        <p:nvSpPr>
          <p:cNvPr id="126" name="Shape 124"/>
          <p:cNvSpPr/>
          <p:nvPr/>
        </p:nvSpPr>
        <p:spPr>
          <a:xfrm>
            <a:off x="5577840" y="3703320"/>
            <a:ext cx="777240" cy="347472"/>
          </a:xfrm>
          <a:prstGeom prst="rect">
            <a:avLst/>
          </a:prstGeom>
          <a:solidFill>
            <a:srgbClr val="FFFFFF"/>
          </a:solidFill>
          <a:ln w="12700">
            <a:solidFill>
              <a:srgbClr val="CBD5E1"/>
            </a:solidFill>
            <a:prstDash val="solid"/>
          </a:ln>
        </p:spPr>
      </p:sp>
      <p:sp>
        <p:nvSpPr>
          <p:cNvPr id="127" name="Shape 125"/>
          <p:cNvSpPr/>
          <p:nvPr/>
        </p:nvSpPr>
        <p:spPr>
          <a:xfrm>
            <a:off x="6355080" y="3703320"/>
            <a:ext cx="777240" cy="347472"/>
          </a:xfrm>
          <a:prstGeom prst="rect">
            <a:avLst/>
          </a:prstGeom>
          <a:solidFill>
            <a:srgbClr val="F2F4F5"/>
          </a:solidFill>
          <a:ln w="12700">
            <a:solidFill>
              <a:srgbClr val="CBD5E1"/>
            </a:solidFill>
            <a:prstDash val="solid"/>
          </a:ln>
        </p:spPr>
      </p:sp>
      <p:sp>
        <p:nvSpPr>
          <p:cNvPr id="128" name="Shape 126"/>
          <p:cNvSpPr/>
          <p:nvPr/>
        </p:nvSpPr>
        <p:spPr>
          <a:xfrm>
            <a:off x="7132320" y="3703320"/>
            <a:ext cx="777240" cy="347472"/>
          </a:xfrm>
          <a:prstGeom prst="rect">
            <a:avLst/>
          </a:prstGeom>
          <a:solidFill>
            <a:srgbClr val="FFFFFF"/>
          </a:solidFill>
          <a:ln w="12700">
            <a:solidFill>
              <a:srgbClr val="CBD5E1"/>
            </a:solidFill>
            <a:prstDash val="solid"/>
          </a:ln>
        </p:spPr>
      </p:sp>
      <p:sp>
        <p:nvSpPr>
          <p:cNvPr id="129" name="Shape 127"/>
          <p:cNvSpPr/>
          <p:nvPr/>
        </p:nvSpPr>
        <p:spPr>
          <a:xfrm>
            <a:off x="7909560" y="3703320"/>
            <a:ext cx="777240" cy="347472"/>
          </a:xfrm>
          <a:prstGeom prst="rect">
            <a:avLst/>
          </a:prstGeom>
          <a:solidFill>
            <a:srgbClr val="F2F4F5"/>
          </a:solidFill>
          <a:ln w="12700">
            <a:solidFill>
              <a:srgbClr val="CBD5E1"/>
            </a:solidFill>
            <a:prstDash val="solid"/>
          </a:ln>
        </p:spPr>
      </p:sp>
      <p:sp>
        <p:nvSpPr>
          <p:cNvPr id="130" name="Shape 128"/>
          <p:cNvSpPr/>
          <p:nvPr/>
        </p:nvSpPr>
        <p:spPr>
          <a:xfrm>
            <a:off x="8686800" y="3703320"/>
            <a:ext cx="777240" cy="347472"/>
          </a:xfrm>
          <a:prstGeom prst="rect">
            <a:avLst/>
          </a:prstGeom>
          <a:solidFill>
            <a:srgbClr val="FFFFFF"/>
          </a:solidFill>
          <a:ln w="12700">
            <a:solidFill>
              <a:srgbClr val="CBD5E1"/>
            </a:solidFill>
            <a:prstDash val="solid"/>
          </a:ln>
        </p:spPr>
      </p:sp>
      <p:sp>
        <p:nvSpPr>
          <p:cNvPr id="131" name="Shape 129"/>
          <p:cNvSpPr/>
          <p:nvPr/>
        </p:nvSpPr>
        <p:spPr>
          <a:xfrm>
            <a:off x="9464040" y="3703320"/>
            <a:ext cx="777240" cy="347472"/>
          </a:xfrm>
          <a:prstGeom prst="rect">
            <a:avLst/>
          </a:prstGeom>
          <a:solidFill>
            <a:srgbClr val="F2F4F5"/>
          </a:solidFill>
          <a:ln w="12700">
            <a:solidFill>
              <a:srgbClr val="CBD5E1"/>
            </a:solidFill>
            <a:prstDash val="solid"/>
          </a:ln>
        </p:spPr>
      </p:sp>
      <p:sp>
        <p:nvSpPr>
          <p:cNvPr id="132" name="Shape 130"/>
          <p:cNvSpPr/>
          <p:nvPr/>
        </p:nvSpPr>
        <p:spPr>
          <a:xfrm>
            <a:off x="10241280" y="3703320"/>
            <a:ext cx="777240" cy="347472"/>
          </a:xfrm>
          <a:prstGeom prst="rect">
            <a:avLst/>
          </a:prstGeom>
          <a:solidFill>
            <a:srgbClr val="FFFFFF"/>
          </a:solidFill>
          <a:ln w="12700">
            <a:solidFill>
              <a:srgbClr val="CBD5E1"/>
            </a:solidFill>
            <a:prstDash val="solid"/>
          </a:ln>
        </p:spPr>
      </p:sp>
      <p:sp>
        <p:nvSpPr>
          <p:cNvPr id="133" name="Shape 131"/>
          <p:cNvSpPr/>
          <p:nvPr/>
        </p:nvSpPr>
        <p:spPr>
          <a:xfrm>
            <a:off x="11018520" y="3703320"/>
            <a:ext cx="777240" cy="347472"/>
          </a:xfrm>
          <a:prstGeom prst="rect">
            <a:avLst/>
          </a:prstGeom>
          <a:solidFill>
            <a:srgbClr val="F2F4F5"/>
          </a:solidFill>
          <a:ln w="12700">
            <a:solidFill>
              <a:srgbClr val="CBD5E1"/>
            </a:solidFill>
            <a:prstDash val="solid"/>
          </a:ln>
        </p:spPr>
      </p:sp>
      <p:sp>
        <p:nvSpPr>
          <p:cNvPr id="134" name="Shape 132"/>
          <p:cNvSpPr/>
          <p:nvPr/>
        </p:nvSpPr>
        <p:spPr>
          <a:xfrm>
            <a:off x="274320" y="4069080"/>
            <a:ext cx="2194560" cy="347472"/>
          </a:xfrm>
          <a:prstGeom prst="rect">
            <a:avLst/>
          </a:prstGeom>
          <a:solidFill>
            <a:srgbClr val="F2F4F5"/>
          </a:solidFill>
          <a:ln w="12700">
            <a:solidFill>
              <a:srgbClr val="CBD5E1"/>
            </a:solidFill>
            <a:prstDash val="solid"/>
          </a:ln>
        </p:spPr>
      </p:sp>
      <p:sp>
        <p:nvSpPr>
          <p:cNvPr id="135" name="Text 133"/>
          <p:cNvSpPr txBox="1"/>
          <p:nvPr/>
        </p:nvSpPr>
        <p:spPr>
          <a:xfrm>
            <a:off x="384048" y="410565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Auto-scaling policy rollout</a:t>
            </a:r>
            <a:endParaRPr lang="en-US" sz="800" dirty="0"/>
          </a:p>
        </p:txBody>
      </p:sp>
      <p:sp>
        <p:nvSpPr>
          <p:cNvPr id="136" name="Shape 134"/>
          <p:cNvSpPr/>
          <p:nvPr/>
        </p:nvSpPr>
        <p:spPr>
          <a:xfrm>
            <a:off x="2468880" y="4069080"/>
            <a:ext cx="777240" cy="347472"/>
          </a:xfrm>
          <a:prstGeom prst="rect">
            <a:avLst/>
          </a:prstGeom>
          <a:solidFill>
            <a:srgbClr val="FFFFFF"/>
          </a:solidFill>
          <a:ln w="12700">
            <a:solidFill>
              <a:srgbClr val="CBD5E1"/>
            </a:solidFill>
            <a:prstDash val="solid"/>
          </a:ln>
        </p:spPr>
      </p:sp>
      <p:sp>
        <p:nvSpPr>
          <p:cNvPr id="137" name="Shape 135"/>
          <p:cNvSpPr/>
          <p:nvPr/>
        </p:nvSpPr>
        <p:spPr>
          <a:xfrm>
            <a:off x="3246120" y="4069080"/>
            <a:ext cx="777240" cy="347472"/>
          </a:xfrm>
          <a:prstGeom prst="rect">
            <a:avLst/>
          </a:prstGeom>
          <a:solidFill>
            <a:srgbClr val="F2F4F5"/>
          </a:solidFill>
          <a:ln w="12700">
            <a:solidFill>
              <a:srgbClr val="CBD5E1"/>
            </a:solidFill>
            <a:prstDash val="solid"/>
          </a:ln>
        </p:spPr>
      </p:sp>
      <p:sp>
        <p:nvSpPr>
          <p:cNvPr id="138" name="Shape 136"/>
          <p:cNvSpPr/>
          <p:nvPr/>
        </p:nvSpPr>
        <p:spPr>
          <a:xfrm>
            <a:off x="4023360" y="4069080"/>
            <a:ext cx="777240" cy="347472"/>
          </a:xfrm>
          <a:prstGeom prst="rect">
            <a:avLst/>
          </a:prstGeom>
          <a:solidFill>
            <a:srgbClr val="1A5FA8"/>
          </a:solidFill>
          <a:ln w="12700">
            <a:solidFill>
              <a:srgbClr val="CBD5E1"/>
            </a:solidFill>
            <a:prstDash val="solid"/>
          </a:ln>
        </p:spPr>
      </p:sp>
      <p:sp>
        <p:nvSpPr>
          <p:cNvPr id="139" name="Shape 137"/>
          <p:cNvSpPr/>
          <p:nvPr/>
        </p:nvSpPr>
        <p:spPr>
          <a:xfrm>
            <a:off x="4800600" y="4069080"/>
            <a:ext cx="777240" cy="347472"/>
          </a:xfrm>
          <a:prstGeom prst="rect">
            <a:avLst/>
          </a:prstGeom>
          <a:solidFill>
            <a:srgbClr val="1A5FA8"/>
          </a:solidFill>
          <a:ln w="12700">
            <a:solidFill>
              <a:srgbClr val="CBD5E1"/>
            </a:solidFill>
            <a:prstDash val="solid"/>
          </a:ln>
        </p:spPr>
      </p:sp>
      <p:sp>
        <p:nvSpPr>
          <p:cNvPr id="140" name="Shape 138"/>
          <p:cNvSpPr/>
          <p:nvPr/>
        </p:nvSpPr>
        <p:spPr>
          <a:xfrm>
            <a:off x="5577840" y="4069080"/>
            <a:ext cx="777240" cy="347472"/>
          </a:xfrm>
          <a:prstGeom prst="rect">
            <a:avLst/>
          </a:prstGeom>
          <a:solidFill>
            <a:srgbClr val="1A5FA8"/>
          </a:solidFill>
          <a:ln w="12700">
            <a:solidFill>
              <a:srgbClr val="CBD5E1"/>
            </a:solidFill>
            <a:prstDash val="solid"/>
          </a:ln>
        </p:spPr>
      </p:sp>
      <p:sp>
        <p:nvSpPr>
          <p:cNvPr id="141" name="Shape 139"/>
          <p:cNvSpPr/>
          <p:nvPr/>
        </p:nvSpPr>
        <p:spPr>
          <a:xfrm>
            <a:off x="6355080" y="4069080"/>
            <a:ext cx="777240" cy="347472"/>
          </a:xfrm>
          <a:prstGeom prst="rect">
            <a:avLst/>
          </a:prstGeom>
          <a:solidFill>
            <a:srgbClr val="F2F4F5"/>
          </a:solidFill>
          <a:ln w="12700">
            <a:solidFill>
              <a:srgbClr val="CBD5E1"/>
            </a:solidFill>
            <a:prstDash val="solid"/>
          </a:ln>
        </p:spPr>
      </p:sp>
      <p:sp>
        <p:nvSpPr>
          <p:cNvPr id="142" name="Shape 140"/>
          <p:cNvSpPr/>
          <p:nvPr/>
        </p:nvSpPr>
        <p:spPr>
          <a:xfrm>
            <a:off x="7132320" y="4069080"/>
            <a:ext cx="777240" cy="347472"/>
          </a:xfrm>
          <a:prstGeom prst="rect">
            <a:avLst/>
          </a:prstGeom>
          <a:solidFill>
            <a:srgbClr val="FFFFFF"/>
          </a:solidFill>
          <a:ln w="12700">
            <a:solidFill>
              <a:srgbClr val="CBD5E1"/>
            </a:solidFill>
            <a:prstDash val="solid"/>
          </a:ln>
        </p:spPr>
      </p:sp>
      <p:sp>
        <p:nvSpPr>
          <p:cNvPr id="143" name="Shape 141"/>
          <p:cNvSpPr/>
          <p:nvPr/>
        </p:nvSpPr>
        <p:spPr>
          <a:xfrm>
            <a:off x="7909560" y="4069080"/>
            <a:ext cx="777240" cy="347472"/>
          </a:xfrm>
          <a:prstGeom prst="rect">
            <a:avLst/>
          </a:prstGeom>
          <a:solidFill>
            <a:srgbClr val="F2F4F5"/>
          </a:solidFill>
          <a:ln w="12700">
            <a:solidFill>
              <a:srgbClr val="CBD5E1"/>
            </a:solidFill>
            <a:prstDash val="solid"/>
          </a:ln>
        </p:spPr>
      </p:sp>
      <p:sp>
        <p:nvSpPr>
          <p:cNvPr id="144" name="Shape 142"/>
          <p:cNvSpPr/>
          <p:nvPr/>
        </p:nvSpPr>
        <p:spPr>
          <a:xfrm>
            <a:off x="8686800" y="4069080"/>
            <a:ext cx="777240" cy="347472"/>
          </a:xfrm>
          <a:prstGeom prst="rect">
            <a:avLst/>
          </a:prstGeom>
          <a:solidFill>
            <a:srgbClr val="FFFFFF"/>
          </a:solidFill>
          <a:ln w="12700">
            <a:solidFill>
              <a:srgbClr val="CBD5E1"/>
            </a:solidFill>
            <a:prstDash val="solid"/>
          </a:ln>
        </p:spPr>
      </p:sp>
      <p:sp>
        <p:nvSpPr>
          <p:cNvPr id="145" name="Shape 143"/>
          <p:cNvSpPr/>
          <p:nvPr/>
        </p:nvSpPr>
        <p:spPr>
          <a:xfrm>
            <a:off x="9464040" y="4069080"/>
            <a:ext cx="777240" cy="347472"/>
          </a:xfrm>
          <a:prstGeom prst="rect">
            <a:avLst/>
          </a:prstGeom>
          <a:solidFill>
            <a:srgbClr val="F2F4F5"/>
          </a:solidFill>
          <a:ln w="12700">
            <a:solidFill>
              <a:srgbClr val="CBD5E1"/>
            </a:solidFill>
            <a:prstDash val="solid"/>
          </a:ln>
        </p:spPr>
      </p:sp>
      <p:sp>
        <p:nvSpPr>
          <p:cNvPr id="146" name="Shape 144"/>
          <p:cNvSpPr/>
          <p:nvPr/>
        </p:nvSpPr>
        <p:spPr>
          <a:xfrm>
            <a:off x="10241280" y="4069080"/>
            <a:ext cx="777240" cy="347472"/>
          </a:xfrm>
          <a:prstGeom prst="rect">
            <a:avLst/>
          </a:prstGeom>
          <a:solidFill>
            <a:srgbClr val="FFFFFF"/>
          </a:solidFill>
          <a:ln w="12700">
            <a:solidFill>
              <a:srgbClr val="CBD5E1"/>
            </a:solidFill>
            <a:prstDash val="solid"/>
          </a:ln>
        </p:spPr>
      </p:sp>
      <p:sp>
        <p:nvSpPr>
          <p:cNvPr id="147" name="Shape 145"/>
          <p:cNvSpPr/>
          <p:nvPr/>
        </p:nvSpPr>
        <p:spPr>
          <a:xfrm>
            <a:off x="11018520" y="4069080"/>
            <a:ext cx="777240" cy="347472"/>
          </a:xfrm>
          <a:prstGeom prst="rect">
            <a:avLst/>
          </a:prstGeom>
          <a:solidFill>
            <a:srgbClr val="F2F4F5"/>
          </a:solidFill>
          <a:ln w="12700">
            <a:solidFill>
              <a:srgbClr val="CBD5E1"/>
            </a:solidFill>
            <a:prstDash val="solid"/>
          </a:ln>
        </p:spPr>
      </p:sp>
      <p:sp>
        <p:nvSpPr>
          <p:cNvPr id="148" name="Shape 146"/>
          <p:cNvSpPr/>
          <p:nvPr/>
        </p:nvSpPr>
        <p:spPr>
          <a:xfrm>
            <a:off x="274320" y="4434840"/>
            <a:ext cx="2194560" cy="347472"/>
          </a:xfrm>
          <a:prstGeom prst="rect">
            <a:avLst/>
          </a:prstGeom>
          <a:solidFill>
            <a:srgbClr val="F2F4F5"/>
          </a:solidFill>
          <a:ln w="12700">
            <a:solidFill>
              <a:srgbClr val="CBD5E1"/>
            </a:solidFill>
            <a:prstDash val="solid"/>
          </a:ln>
        </p:spPr>
      </p:sp>
      <p:sp>
        <p:nvSpPr>
          <p:cNvPr id="149" name="Shape 147"/>
          <p:cNvSpPr/>
          <p:nvPr/>
        </p:nvSpPr>
        <p:spPr>
          <a:xfrm>
            <a:off x="274320" y="4434840"/>
            <a:ext cx="54864" cy="347472"/>
          </a:xfrm>
          <a:prstGeom prst="rect">
            <a:avLst/>
          </a:prstGeom>
          <a:solidFill>
            <a:srgbClr val="E07B00"/>
          </a:solidFill>
          <a:ln w="12700">
            <a:solidFill>
              <a:srgbClr val="E07B00"/>
            </a:solidFill>
            <a:prstDash val="solid"/>
          </a:ln>
        </p:spPr>
      </p:sp>
      <p:sp>
        <p:nvSpPr>
          <p:cNvPr id="150" name="Text 148"/>
          <p:cNvSpPr txBox="1"/>
          <p:nvPr/>
        </p:nvSpPr>
        <p:spPr>
          <a:xfrm>
            <a:off x="384048" y="447141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DB right-sizing (conditional)</a:t>
            </a:r>
            <a:endParaRPr lang="en-US" sz="800" dirty="0"/>
          </a:p>
        </p:txBody>
      </p:sp>
      <p:sp>
        <p:nvSpPr>
          <p:cNvPr id="151" name="Shape 149"/>
          <p:cNvSpPr/>
          <p:nvPr/>
        </p:nvSpPr>
        <p:spPr>
          <a:xfrm>
            <a:off x="2468880" y="4434840"/>
            <a:ext cx="777240" cy="347472"/>
          </a:xfrm>
          <a:prstGeom prst="rect">
            <a:avLst/>
          </a:prstGeom>
          <a:solidFill>
            <a:srgbClr val="FFFFFF"/>
          </a:solidFill>
          <a:ln w="12700">
            <a:solidFill>
              <a:srgbClr val="CBD5E1"/>
            </a:solidFill>
            <a:prstDash val="solid"/>
          </a:ln>
        </p:spPr>
      </p:sp>
      <p:sp>
        <p:nvSpPr>
          <p:cNvPr id="152" name="Shape 150"/>
          <p:cNvSpPr/>
          <p:nvPr/>
        </p:nvSpPr>
        <p:spPr>
          <a:xfrm>
            <a:off x="3246120" y="4434840"/>
            <a:ext cx="777240" cy="347472"/>
          </a:xfrm>
          <a:prstGeom prst="rect">
            <a:avLst/>
          </a:prstGeom>
          <a:solidFill>
            <a:srgbClr val="F2F4F5"/>
          </a:solidFill>
          <a:ln w="12700">
            <a:solidFill>
              <a:srgbClr val="CBD5E1"/>
            </a:solidFill>
            <a:prstDash val="solid"/>
          </a:ln>
        </p:spPr>
      </p:sp>
      <p:sp>
        <p:nvSpPr>
          <p:cNvPr id="153" name="Shape 151"/>
          <p:cNvSpPr/>
          <p:nvPr/>
        </p:nvSpPr>
        <p:spPr>
          <a:xfrm>
            <a:off x="4023360" y="4434840"/>
            <a:ext cx="777240" cy="347472"/>
          </a:xfrm>
          <a:prstGeom prst="rect">
            <a:avLst/>
          </a:prstGeom>
          <a:solidFill>
            <a:srgbClr val="FFFFFF"/>
          </a:solidFill>
          <a:ln w="12700">
            <a:solidFill>
              <a:srgbClr val="CBD5E1"/>
            </a:solidFill>
            <a:prstDash val="solid"/>
          </a:ln>
        </p:spPr>
      </p:sp>
      <p:sp>
        <p:nvSpPr>
          <p:cNvPr id="154" name="Shape 152"/>
          <p:cNvSpPr/>
          <p:nvPr/>
        </p:nvSpPr>
        <p:spPr>
          <a:xfrm>
            <a:off x="4800600" y="4434840"/>
            <a:ext cx="777240" cy="347472"/>
          </a:xfrm>
          <a:prstGeom prst="rect">
            <a:avLst/>
          </a:prstGeom>
          <a:solidFill>
            <a:srgbClr val="F2F4F5"/>
          </a:solidFill>
          <a:ln w="12700">
            <a:solidFill>
              <a:srgbClr val="CBD5E1"/>
            </a:solidFill>
            <a:prstDash val="solid"/>
          </a:ln>
        </p:spPr>
      </p:sp>
      <p:sp>
        <p:nvSpPr>
          <p:cNvPr id="155" name="Shape 153"/>
          <p:cNvSpPr/>
          <p:nvPr/>
        </p:nvSpPr>
        <p:spPr>
          <a:xfrm>
            <a:off x="5577840" y="4434840"/>
            <a:ext cx="777240" cy="347472"/>
          </a:xfrm>
          <a:prstGeom prst="rect">
            <a:avLst/>
          </a:prstGeom>
          <a:solidFill>
            <a:srgbClr val="E07B00"/>
          </a:solidFill>
          <a:ln w="12700">
            <a:solidFill>
              <a:srgbClr val="CBD5E1"/>
            </a:solidFill>
            <a:prstDash val="solid"/>
          </a:ln>
        </p:spPr>
      </p:sp>
      <p:sp>
        <p:nvSpPr>
          <p:cNvPr id="156" name="Shape 154"/>
          <p:cNvSpPr/>
          <p:nvPr/>
        </p:nvSpPr>
        <p:spPr>
          <a:xfrm>
            <a:off x="6355080" y="4434840"/>
            <a:ext cx="777240" cy="347472"/>
          </a:xfrm>
          <a:prstGeom prst="rect">
            <a:avLst/>
          </a:prstGeom>
          <a:solidFill>
            <a:srgbClr val="E07B00"/>
          </a:solidFill>
          <a:ln w="12700">
            <a:solidFill>
              <a:srgbClr val="CBD5E1"/>
            </a:solidFill>
            <a:prstDash val="solid"/>
          </a:ln>
        </p:spPr>
      </p:sp>
      <p:sp>
        <p:nvSpPr>
          <p:cNvPr id="157" name="Shape 155"/>
          <p:cNvSpPr/>
          <p:nvPr/>
        </p:nvSpPr>
        <p:spPr>
          <a:xfrm>
            <a:off x="7132320" y="4434840"/>
            <a:ext cx="777240" cy="347472"/>
          </a:xfrm>
          <a:prstGeom prst="rect">
            <a:avLst/>
          </a:prstGeom>
          <a:solidFill>
            <a:srgbClr val="E07B00"/>
          </a:solidFill>
          <a:ln w="12700">
            <a:solidFill>
              <a:srgbClr val="CBD5E1"/>
            </a:solidFill>
            <a:prstDash val="solid"/>
          </a:ln>
        </p:spPr>
      </p:sp>
      <p:sp>
        <p:nvSpPr>
          <p:cNvPr id="158" name="Shape 156"/>
          <p:cNvSpPr/>
          <p:nvPr/>
        </p:nvSpPr>
        <p:spPr>
          <a:xfrm>
            <a:off x="7909560" y="4434840"/>
            <a:ext cx="777240" cy="347472"/>
          </a:xfrm>
          <a:prstGeom prst="rect">
            <a:avLst/>
          </a:prstGeom>
          <a:solidFill>
            <a:srgbClr val="F2F4F5"/>
          </a:solidFill>
          <a:ln w="12700">
            <a:solidFill>
              <a:srgbClr val="CBD5E1"/>
            </a:solidFill>
            <a:prstDash val="solid"/>
          </a:ln>
        </p:spPr>
      </p:sp>
      <p:sp>
        <p:nvSpPr>
          <p:cNvPr id="159" name="Shape 157"/>
          <p:cNvSpPr/>
          <p:nvPr/>
        </p:nvSpPr>
        <p:spPr>
          <a:xfrm>
            <a:off x="8686800" y="4434840"/>
            <a:ext cx="777240" cy="347472"/>
          </a:xfrm>
          <a:prstGeom prst="rect">
            <a:avLst/>
          </a:prstGeom>
          <a:solidFill>
            <a:srgbClr val="FFFFFF"/>
          </a:solidFill>
          <a:ln w="12700">
            <a:solidFill>
              <a:srgbClr val="CBD5E1"/>
            </a:solidFill>
            <a:prstDash val="solid"/>
          </a:ln>
        </p:spPr>
      </p:sp>
      <p:sp>
        <p:nvSpPr>
          <p:cNvPr id="160" name="Shape 158"/>
          <p:cNvSpPr/>
          <p:nvPr/>
        </p:nvSpPr>
        <p:spPr>
          <a:xfrm>
            <a:off x="9464040" y="4434840"/>
            <a:ext cx="777240" cy="347472"/>
          </a:xfrm>
          <a:prstGeom prst="rect">
            <a:avLst/>
          </a:prstGeom>
          <a:solidFill>
            <a:srgbClr val="F2F4F5"/>
          </a:solidFill>
          <a:ln w="12700">
            <a:solidFill>
              <a:srgbClr val="CBD5E1"/>
            </a:solidFill>
            <a:prstDash val="solid"/>
          </a:ln>
        </p:spPr>
      </p:sp>
      <p:sp>
        <p:nvSpPr>
          <p:cNvPr id="161" name="Shape 159"/>
          <p:cNvSpPr/>
          <p:nvPr/>
        </p:nvSpPr>
        <p:spPr>
          <a:xfrm>
            <a:off x="10241280" y="4434840"/>
            <a:ext cx="777240" cy="347472"/>
          </a:xfrm>
          <a:prstGeom prst="rect">
            <a:avLst/>
          </a:prstGeom>
          <a:solidFill>
            <a:srgbClr val="FFFFFF"/>
          </a:solidFill>
          <a:ln w="12700">
            <a:solidFill>
              <a:srgbClr val="CBD5E1"/>
            </a:solidFill>
            <a:prstDash val="solid"/>
          </a:ln>
        </p:spPr>
      </p:sp>
      <p:sp>
        <p:nvSpPr>
          <p:cNvPr id="162" name="Shape 160"/>
          <p:cNvSpPr/>
          <p:nvPr/>
        </p:nvSpPr>
        <p:spPr>
          <a:xfrm>
            <a:off x="11018520" y="4434840"/>
            <a:ext cx="777240" cy="347472"/>
          </a:xfrm>
          <a:prstGeom prst="rect">
            <a:avLst/>
          </a:prstGeom>
          <a:solidFill>
            <a:srgbClr val="F2F4F5"/>
          </a:solidFill>
          <a:ln w="12700">
            <a:solidFill>
              <a:srgbClr val="CBD5E1"/>
            </a:solidFill>
            <a:prstDash val="solid"/>
          </a:ln>
        </p:spPr>
      </p:sp>
      <p:sp>
        <p:nvSpPr>
          <p:cNvPr id="163" name="Shape 161"/>
          <p:cNvSpPr/>
          <p:nvPr/>
        </p:nvSpPr>
        <p:spPr>
          <a:xfrm>
            <a:off x="274320" y="4800600"/>
            <a:ext cx="2194560" cy="347472"/>
          </a:xfrm>
          <a:prstGeom prst="rect">
            <a:avLst/>
          </a:prstGeom>
          <a:solidFill>
            <a:srgbClr val="F2F4F5"/>
          </a:solidFill>
          <a:ln w="12700">
            <a:solidFill>
              <a:srgbClr val="CBD5E1"/>
            </a:solidFill>
            <a:prstDash val="solid"/>
          </a:ln>
        </p:spPr>
      </p:sp>
      <p:sp>
        <p:nvSpPr>
          <p:cNvPr id="164" name="Text 162"/>
          <p:cNvSpPr txBox="1"/>
          <p:nvPr/>
        </p:nvSpPr>
        <p:spPr>
          <a:xfrm>
            <a:off x="384048" y="483717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Cross-AZ/region transfer</a:t>
            </a:r>
            <a:endParaRPr lang="en-US" sz="800" dirty="0"/>
          </a:p>
        </p:txBody>
      </p:sp>
      <p:sp>
        <p:nvSpPr>
          <p:cNvPr id="165" name="Shape 163"/>
          <p:cNvSpPr/>
          <p:nvPr/>
        </p:nvSpPr>
        <p:spPr>
          <a:xfrm>
            <a:off x="2468880" y="4800600"/>
            <a:ext cx="777240" cy="347472"/>
          </a:xfrm>
          <a:prstGeom prst="rect">
            <a:avLst/>
          </a:prstGeom>
          <a:solidFill>
            <a:srgbClr val="FFFFFF"/>
          </a:solidFill>
          <a:ln w="12700">
            <a:solidFill>
              <a:srgbClr val="CBD5E1"/>
            </a:solidFill>
            <a:prstDash val="solid"/>
          </a:ln>
        </p:spPr>
      </p:sp>
      <p:sp>
        <p:nvSpPr>
          <p:cNvPr id="166" name="Shape 164"/>
          <p:cNvSpPr/>
          <p:nvPr/>
        </p:nvSpPr>
        <p:spPr>
          <a:xfrm>
            <a:off x="3246120" y="4800600"/>
            <a:ext cx="777240" cy="347472"/>
          </a:xfrm>
          <a:prstGeom prst="rect">
            <a:avLst/>
          </a:prstGeom>
          <a:solidFill>
            <a:srgbClr val="F2F4F5"/>
          </a:solidFill>
          <a:ln w="12700">
            <a:solidFill>
              <a:srgbClr val="CBD5E1"/>
            </a:solidFill>
            <a:prstDash val="solid"/>
          </a:ln>
        </p:spPr>
      </p:sp>
      <p:sp>
        <p:nvSpPr>
          <p:cNvPr id="167" name="Shape 165"/>
          <p:cNvSpPr/>
          <p:nvPr/>
        </p:nvSpPr>
        <p:spPr>
          <a:xfrm>
            <a:off x="4023360" y="4800600"/>
            <a:ext cx="777240" cy="347472"/>
          </a:xfrm>
          <a:prstGeom prst="rect">
            <a:avLst/>
          </a:prstGeom>
          <a:solidFill>
            <a:srgbClr val="FFFFFF"/>
          </a:solidFill>
          <a:ln w="12700">
            <a:solidFill>
              <a:srgbClr val="CBD5E1"/>
            </a:solidFill>
            <a:prstDash val="solid"/>
          </a:ln>
        </p:spPr>
      </p:sp>
      <p:sp>
        <p:nvSpPr>
          <p:cNvPr id="168" name="Shape 166"/>
          <p:cNvSpPr/>
          <p:nvPr/>
        </p:nvSpPr>
        <p:spPr>
          <a:xfrm>
            <a:off x="4800600" y="4800600"/>
            <a:ext cx="777240" cy="347472"/>
          </a:xfrm>
          <a:prstGeom prst="rect">
            <a:avLst/>
          </a:prstGeom>
          <a:solidFill>
            <a:srgbClr val="F2F4F5"/>
          </a:solidFill>
          <a:ln w="12700">
            <a:solidFill>
              <a:srgbClr val="CBD5E1"/>
            </a:solidFill>
            <a:prstDash val="solid"/>
          </a:ln>
        </p:spPr>
      </p:sp>
      <p:sp>
        <p:nvSpPr>
          <p:cNvPr id="169" name="Shape 167"/>
          <p:cNvSpPr/>
          <p:nvPr/>
        </p:nvSpPr>
        <p:spPr>
          <a:xfrm>
            <a:off x="5577840" y="4800600"/>
            <a:ext cx="777240" cy="347472"/>
          </a:xfrm>
          <a:prstGeom prst="rect">
            <a:avLst/>
          </a:prstGeom>
          <a:solidFill>
            <a:srgbClr val="E07B00"/>
          </a:solidFill>
          <a:ln w="12700">
            <a:solidFill>
              <a:srgbClr val="CBD5E1"/>
            </a:solidFill>
            <a:prstDash val="solid"/>
          </a:ln>
        </p:spPr>
      </p:sp>
      <p:sp>
        <p:nvSpPr>
          <p:cNvPr id="170" name="Shape 168"/>
          <p:cNvSpPr/>
          <p:nvPr/>
        </p:nvSpPr>
        <p:spPr>
          <a:xfrm>
            <a:off x="6355080" y="4800600"/>
            <a:ext cx="777240" cy="347472"/>
          </a:xfrm>
          <a:prstGeom prst="rect">
            <a:avLst/>
          </a:prstGeom>
          <a:solidFill>
            <a:srgbClr val="E07B00"/>
          </a:solidFill>
          <a:ln w="12700">
            <a:solidFill>
              <a:srgbClr val="CBD5E1"/>
            </a:solidFill>
            <a:prstDash val="solid"/>
          </a:ln>
        </p:spPr>
      </p:sp>
      <p:sp>
        <p:nvSpPr>
          <p:cNvPr id="171" name="Shape 169"/>
          <p:cNvSpPr/>
          <p:nvPr/>
        </p:nvSpPr>
        <p:spPr>
          <a:xfrm>
            <a:off x="7132320" y="4800600"/>
            <a:ext cx="777240" cy="347472"/>
          </a:xfrm>
          <a:prstGeom prst="rect">
            <a:avLst/>
          </a:prstGeom>
          <a:solidFill>
            <a:srgbClr val="E07B00"/>
          </a:solidFill>
          <a:ln w="12700">
            <a:solidFill>
              <a:srgbClr val="CBD5E1"/>
            </a:solidFill>
            <a:prstDash val="solid"/>
          </a:ln>
        </p:spPr>
      </p:sp>
      <p:sp>
        <p:nvSpPr>
          <p:cNvPr id="172" name="Shape 170"/>
          <p:cNvSpPr/>
          <p:nvPr/>
        </p:nvSpPr>
        <p:spPr>
          <a:xfrm>
            <a:off x="7909560" y="4800600"/>
            <a:ext cx="777240" cy="347472"/>
          </a:xfrm>
          <a:prstGeom prst="rect">
            <a:avLst/>
          </a:prstGeom>
          <a:solidFill>
            <a:srgbClr val="E07B00"/>
          </a:solidFill>
          <a:ln w="12700">
            <a:solidFill>
              <a:srgbClr val="CBD5E1"/>
            </a:solidFill>
            <a:prstDash val="solid"/>
          </a:ln>
        </p:spPr>
      </p:sp>
      <p:sp>
        <p:nvSpPr>
          <p:cNvPr id="173" name="Shape 171"/>
          <p:cNvSpPr/>
          <p:nvPr/>
        </p:nvSpPr>
        <p:spPr>
          <a:xfrm>
            <a:off x="8686800" y="4800600"/>
            <a:ext cx="777240" cy="347472"/>
          </a:xfrm>
          <a:prstGeom prst="rect">
            <a:avLst/>
          </a:prstGeom>
          <a:solidFill>
            <a:srgbClr val="FFFFFF"/>
          </a:solidFill>
          <a:ln w="12700">
            <a:solidFill>
              <a:srgbClr val="CBD5E1"/>
            </a:solidFill>
            <a:prstDash val="solid"/>
          </a:ln>
        </p:spPr>
      </p:sp>
      <p:sp>
        <p:nvSpPr>
          <p:cNvPr id="174" name="Shape 172"/>
          <p:cNvSpPr/>
          <p:nvPr/>
        </p:nvSpPr>
        <p:spPr>
          <a:xfrm>
            <a:off x="9464040" y="4800600"/>
            <a:ext cx="777240" cy="347472"/>
          </a:xfrm>
          <a:prstGeom prst="rect">
            <a:avLst/>
          </a:prstGeom>
          <a:solidFill>
            <a:srgbClr val="F2F4F5"/>
          </a:solidFill>
          <a:ln w="12700">
            <a:solidFill>
              <a:srgbClr val="CBD5E1"/>
            </a:solidFill>
            <a:prstDash val="solid"/>
          </a:ln>
        </p:spPr>
      </p:sp>
      <p:sp>
        <p:nvSpPr>
          <p:cNvPr id="175" name="Shape 173"/>
          <p:cNvSpPr/>
          <p:nvPr/>
        </p:nvSpPr>
        <p:spPr>
          <a:xfrm>
            <a:off x="10241280" y="4800600"/>
            <a:ext cx="777240" cy="347472"/>
          </a:xfrm>
          <a:prstGeom prst="rect">
            <a:avLst/>
          </a:prstGeom>
          <a:solidFill>
            <a:srgbClr val="FFFFFF"/>
          </a:solidFill>
          <a:ln w="12700">
            <a:solidFill>
              <a:srgbClr val="CBD5E1"/>
            </a:solidFill>
            <a:prstDash val="solid"/>
          </a:ln>
        </p:spPr>
      </p:sp>
      <p:sp>
        <p:nvSpPr>
          <p:cNvPr id="176" name="Shape 174"/>
          <p:cNvSpPr/>
          <p:nvPr/>
        </p:nvSpPr>
        <p:spPr>
          <a:xfrm>
            <a:off x="11018520" y="4800600"/>
            <a:ext cx="777240" cy="347472"/>
          </a:xfrm>
          <a:prstGeom prst="rect">
            <a:avLst/>
          </a:prstGeom>
          <a:solidFill>
            <a:srgbClr val="F2F4F5"/>
          </a:solidFill>
          <a:ln w="12700">
            <a:solidFill>
              <a:srgbClr val="CBD5E1"/>
            </a:solidFill>
            <a:prstDash val="solid"/>
          </a:ln>
        </p:spPr>
      </p:sp>
      <p:sp>
        <p:nvSpPr>
          <p:cNvPr id="177" name="Shape 175"/>
          <p:cNvSpPr/>
          <p:nvPr/>
        </p:nvSpPr>
        <p:spPr>
          <a:xfrm>
            <a:off x="274320" y="5166360"/>
            <a:ext cx="2194560" cy="347472"/>
          </a:xfrm>
          <a:prstGeom prst="rect">
            <a:avLst/>
          </a:prstGeom>
          <a:solidFill>
            <a:srgbClr val="F2F4F5"/>
          </a:solidFill>
          <a:ln w="12700">
            <a:solidFill>
              <a:srgbClr val="CBD5E1"/>
            </a:solidFill>
            <a:prstDash val="solid"/>
          </a:ln>
        </p:spPr>
      </p:sp>
      <p:sp>
        <p:nvSpPr>
          <p:cNvPr id="178" name="Text 176"/>
          <p:cNvSpPr txBox="1"/>
          <p:nvPr/>
        </p:nvSpPr>
        <p:spPr>
          <a:xfrm>
            <a:off x="384048" y="520293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RI/Savings Plan strategy</a:t>
            </a:r>
            <a:endParaRPr lang="en-US" sz="800" dirty="0"/>
          </a:p>
        </p:txBody>
      </p:sp>
      <p:sp>
        <p:nvSpPr>
          <p:cNvPr id="179" name="Shape 177"/>
          <p:cNvSpPr/>
          <p:nvPr/>
        </p:nvSpPr>
        <p:spPr>
          <a:xfrm>
            <a:off x="2468880" y="5166360"/>
            <a:ext cx="777240" cy="347472"/>
          </a:xfrm>
          <a:prstGeom prst="rect">
            <a:avLst/>
          </a:prstGeom>
          <a:solidFill>
            <a:srgbClr val="FFFFFF"/>
          </a:solidFill>
          <a:ln w="12700">
            <a:solidFill>
              <a:srgbClr val="CBD5E1"/>
            </a:solidFill>
            <a:prstDash val="solid"/>
          </a:ln>
        </p:spPr>
      </p:sp>
      <p:sp>
        <p:nvSpPr>
          <p:cNvPr id="180" name="Shape 178"/>
          <p:cNvSpPr/>
          <p:nvPr/>
        </p:nvSpPr>
        <p:spPr>
          <a:xfrm>
            <a:off x="3246120" y="5166360"/>
            <a:ext cx="777240" cy="347472"/>
          </a:xfrm>
          <a:prstGeom prst="rect">
            <a:avLst/>
          </a:prstGeom>
          <a:solidFill>
            <a:srgbClr val="F2F4F5"/>
          </a:solidFill>
          <a:ln w="12700">
            <a:solidFill>
              <a:srgbClr val="CBD5E1"/>
            </a:solidFill>
            <a:prstDash val="solid"/>
          </a:ln>
        </p:spPr>
      </p:sp>
      <p:sp>
        <p:nvSpPr>
          <p:cNvPr id="181" name="Shape 179"/>
          <p:cNvSpPr/>
          <p:nvPr/>
        </p:nvSpPr>
        <p:spPr>
          <a:xfrm>
            <a:off x="4023360" y="5166360"/>
            <a:ext cx="777240" cy="347472"/>
          </a:xfrm>
          <a:prstGeom prst="rect">
            <a:avLst/>
          </a:prstGeom>
          <a:solidFill>
            <a:srgbClr val="FFFFFF"/>
          </a:solidFill>
          <a:ln w="12700">
            <a:solidFill>
              <a:srgbClr val="CBD5E1"/>
            </a:solidFill>
            <a:prstDash val="solid"/>
          </a:ln>
        </p:spPr>
      </p:sp>
      <p:sp>
        <p:nvSpPr>
          <p:cNvPr id="182" name="Shape 180"/>
          <p:cNvSpPr/>
          <p:nvPr/>
        </p:nvSpPr>
        <p:spPr>
          <a:xfrm>
            <a:off x="4800600" y="5166360"/>
            <a:ext cx="777240" cy="347472"/>
          </a:xfrm>
          <a:prstGeom prst="rect">
            <a:avLst/>
          </a:prstGeom>
          <a:solidFill>
            <a:srgbClr val="F2F4F5"/>
          </a:solidFill>
          <a:ln w="12700">
            <a:solidFill>
              <a:srgbClr val="CBD5E1"/>
            </a:solidFill>
            <a:prstDash val="solid"/>
          </a:ln>
        </p:spPr>
      </p:sp>
      <p:sp>
        <p:nvSpPr>
          <p:cNvPr id="183" name="Shape 181"/>
          <p:cNvSpPr/>
          <p:nvPr/>
        </p:nvSpPr>
        <p:spPr>
          <a:xfrm>
            <a:off x="5577840" y="5166360"/>
            <a:ext cx="777240" cy="347472"/>
          </a:xfrm>
          <a:prstGeom prst="rect">
            <a:avLst/>
          </a:prstGeom>
          <a:solidFill>
            <a:srgbClr val="E07B00"/>
          </a:solidFill>
          <a:ln w="12700">
            <a:solidFill>
              <a:srgbClr val="CBD5E1"/>
            </a:solidFill>
            <a:prstDash val="solid"/>
          </a:ln>
        </p:spPr>
      </p:sp>
      <p:sp>
        <p:nvSpPr>
          <p:cNvPr id="184" name="Shape 182"/>
          <p:cNvSpPr/>
          <p:nvPr/>
        </p:nvSpPr>
        <p:spPr>
          <a:xfrm>
            <a:off x="6355080" y="5166360"/>
            <a:ext cx="777240" cy="347472"/>
          </a:xfrm>
          <a:prstGeom prst="rect">
            <a:avLst/>
          </a:prstGeom>
          <a:solidFill>
            <a:srgbClr val="E07B00"/>
          </a:solidFill>
          <a:ln w="12700">
            <a:solidFill>
              <a:srgbClr val="CBD5E1"/>
            </a:solidFill>
            <a:prstDash val="solid"/>
          </a:ln>
        </p:spPr>
      </p:sp>
      <p:sp>
        <p:nvSpPr>
          <p:cNvPr id="185" name="Shape 183"/>
          <p:cNvSpPr/>
          <p:nvPr/>
        </p:nvSpPr>
        <p:spPr>
          <a:xfrm>
            <a:off x="7132320" y="5166360"/>
            <a:ext cx="777240" cy="347472"/>
          </a:xfrm>
          <a:prstGeom prst="rect">
            <a:avLst/>
          </a:prstGeom>
          <a:solidFill>
            <a:srgbClr val="FFFFFF"/>
          </a:solidFill>
          <a:ln w="12700">
            <a:solidFill>
              <a:srgbClr val="CBD5E1"/>
            </a:solidFill>
            <a:prstDash val="solid"/>
          </a:ln>
        </p:spPr>
      </p:sp>
      <p:sp>
        <p:nvSpPr>
          <p:cNvPr id="186" name="Shape 184"/>
          <p:cNvSpPr/>
          <p:nvPr/>
        </p:nvSpPr>
        <p:spPr>
          <a:xfrm>
            <a:off x="7909560" y="5166360"/>
            <a:ext cx="777240" cy="347472"/>
          </a:xfrm>
          <a:prstGeom prst="rect">
            <a:avLst/>
          </a:prstGeom>
          <a:solidFill>
            <a:srgbClr val="F2F4F5"/>
          </a:solidFill>
          <a:ln w="12700">
            <a:solidFill>
              <a:srgbClr val="CBD5E1"/>
            </a:solidFill>
            <a:prstDash val="solid"/>
          </a:ln>
        </p:spPr>
      </p:sp>
      <p:sp>
        <p:nvSpPr>
          <p:cNvPr id="187" name="Shape 185"/>
          <p:cNvSpPr/>
          <p:nvPr/>
        </p:nvSpPr>
        <p:spPr>
          <a:xfrm>
            <a:off x="8686800" y="5166360"/>
            <a:ext cx="777240" cy="347472"/>
          </a:xfrm>
          <a:prstGeom prst="rect">
            <a:avLst/>
          </a:prstGeom>
          <a:solidFill>
            <a:srgbClr val="FFFFFF"/>
          </a:solidFill>
          <a:ln w="12700">
            <a:solidFill>
              <a:srgbClr val="CBD5E1"/>
            </a:solidFill>
            <a:prstDash val="solid"/>
          </a:ln>
        </p:spPr>
      </p:sp>
      <p:sp>
        <p:nvSpPr>
          <p:cNvPr id="188" name="Shape 186"/>
          <p:cNvSpPr/>
          <p:nvPr/>
        </p:nvSpPr>
        <p:spPr>
          <a:xfrm>
            <a:off x="9464040" y="5166360"/>
            <a:ext cx="777240" cy="347472"/>
          </a:xfrm>
          <a:prstGeom prst="rect">
            <a:avLst/>
          </a:prstGeom>
          <a:solidFill>
            <a:srgbClr val="F2F4F5"/>
          </a:solidFill>
          <a:ln w="12700">
            <a:solidFill>
              <a:srgbClr val="CBD5E1"/>
            </a:solidFill>
            <a:prstDash val="solid"/>
          </a:ln>
        </p:spPr>
      </p:sp>
      <p:sp>
        <p:nvSpPr>
          <p:cNvPr id="189" name="Shape 187"/>
          <p:cNvSpPr/>
          <p:nvPr/>
        </p:nvSpPr>
        <p:spPr>
          <a:xfrm>
            <a:off x="10241280" y="5166360"/>
            <a:ext cx="777240" cy="347472"/>
          </a:xfrm>
          <a:prstGeom prst="rect">
            <a:avLst/>
          </a:prstGeom>
          <a:solidFill>
            <a:srgbClr val="FFFFFF"/>
          </a:solidFill>
          <a:ln w="12700">
            <a:solidFill>
              <a:srgbClr val="CBD5E1"/>
            </a:solidFill>
            <a:prstDash val="solid"/>
          </a:ln>
        </p:spPr>
      </p:sp>
      <p:sp>
        <p:nvSpPr>
          <p:cNvPr id="190" name="Shape 188"/>
          <p:cNvSpPr/>
          <p:nvPr/>
        </p:nvSpPr>
        <p:spPr>
          <a:xfrm>
            <a:off x="11018520" y="5166360"/>
            <a:ext cx="777240" cy="347472"/>
          </a:xfrm>
          <a:prstGeom prst="rect">
            <a:avLst/>
          </a:prstGeom>
          <a:solidFill>
            <a:srgbClr val="F2F4F5"/>
          </a:solidFill>
          <a:ln w="12700">
            <a:solidFill>
              <a:srgbClr val="CBD5E1"/>
            </a:solidFill>
            <a:prstDash val="solid"/>
          </a:ln>
        </p:spPr>
      </p:sp>
      <p:sp>
        <p:nvSpPr>
          <p:cNvPr id="191" name="Shape 189"/>
          <p:cNvSpPr/>
          <p:nvPr/>
        </p:nvSpPr>
        <p:spPr>
          <a:xfrm>
            <a:off x="274320" y="5532120"/>
            <a:ext cx="2194560" cy="347472"/>
          </a:xfrm>
          <a:prstGeom prst="rect">
            <a:avLst/>
          </a:prstGeom>
          <a:solidFill>
            <a:srgbClr val="F2F4F5"/>
          </a:solidFill>
          <a:ln w="12700">
            <a:solidFill>
              <a:srgbClr val="CBD5E1"/>
            </a:solidFill>
            <a:prstDash val="solid"/>
          </a:ln>
        </p:spPr>
      </p:sp>
      <p:sp>
        <p:nvSpPr>
          <p:cNvPr id="192" name="Text 190"/>
          <p:cNvSpPr txBox="1"/>
          <p:nvPr/>
        </p:nvSpPr>
        <p:spPr>
          <a:xfrm>
            <a:off x="384048" y="556869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Spot adoption (non-critical)</a:t>
            </a:r>
            <a:endParaRPr lang="en-US" sz="800" dirty="0"/>
          </a:p>
        </p:txBody>
      </p:sp>
      <p:sp>
        <p:nvSpPr>
          <p:cNvPr id="193" name="Shape 191"/>
          <p:cNvSpPr/>
          <p:nvPr/>
        </p:nvSpPr>
        <p:spPr>
          <a:xfrm>
            <a:off x="2468880" y="5532120"/>
            <a:ext cx="777240" cy="347472"/>
          </a:xfrm>
          <a:prstGeom prst="rect">
            <a:avLst/>
          </a:prstGeom>
          <a:solidFill>
            <a:srgbClr val="FFFFFF"/>
          </a:solidFill>
          <a:ln w="12700">
            <a:solidFill>
              <a:srgbClr val="CBD5E1"/>
            </a:solidFill>
            <a:prstDash val="solid"/>
          </a:ln>
        </p:spPr>
      </p:sp>
      <p:sp>
        <p:nvSpPr>
          <p:cNvPr id="194" name="Shape 192"/>
          <p:cNvSpPr/>
          <p:nvPr/>
        </p:nvSpPr>
        <p:spPr>
          <a:xfrm>
            <a:off x="3246120" y="5532120"/>
            <a:ext cx="777240" cy="347472"/>
          </a:xfrm>
          <a:prstGeom prst="rect">
            <a:avLst/>
          </a:prstGeom>
          <a:solidFill>
            <a:srgbClr val="F2F4F5"/>
          </a:solidFill>
          <a:ln w="12700">
            <a:solidFill>
              <a:srgbClr val="CBD5E1"/>
            </a:solidFill>
            <a:prstDash val="solid"/>
          </a:ln>
        </p:spPr>
      </p:sp>
      <p:sp>
        <p:nvSpPr>
          <p:cNvPr id="195" name="Shape 193"/>
          <p:cNvSpPr/>
          <p:nvPr/>
        </p:nvSpPr>
        <p:spPr>
          <a:xfrm>
            <a:off x="4023360" y="5532120"/>
            <a:ext cx="777240" cy="347472"/>
          </a:xfrm>
          <a:prstGeom prst="rect">
            <a:avLst/>
          </a:prstGeom>
          <a:solidFill>
            <a:srgbClr val="FFFFFF"/>
          </a:solidFill>
          <a:ln w="12700">
            <a:solidFill>
              <a:srgbClr val="CBD5E1"/>
            </a:solidFill>
            <a:prstDash val="solid"/>
          </a:ln>
        </p:spPr>
      </p:sp>
      <p:sp>
        <p:nvSpPr>
          <p:cNvPr id="196" name="Shape 194"/>
          <p:cNvSpPr/>
          <p:nvPr/>
        </p:nvSpPr>
        <p:spPr>
          <a:xfrm>
            <a:off x="4800600" y="5532120"/>
            <a:ext cx="777240" cy="347472"/>
          </a:xfrm>
          <a:prstGeom prst="rect">
            <a:avLst/>
          </a:prstGeom>
          <a:solidFill>
            <a:srgbClr val="F2F4F5"/>
          </a:solidFill>
          <a:ln w="12700">
            <a:solidFill>
              <a:srgbClr val="CBD5E1"/>
            </a:solidFill>
            <a:prstDash val="solid"/>
          </a:ln>
        </p:spPr>
      </p:sp>
      <p:sp>
        <p:nvSpPr>
          <p:cNvPr id="197" name="Shape 195"/>
          <p:cNvSpPr/>
          <p:nvPr/>
        </p:nvSpPr>
        <p:spPr>
          <a:xfrm>
            <a:off x="5577840" y="5532120"/>
            <a:ext cx="777240" cy="347472"/>
          </a:xfrm>
          <a:prstGeom prst="rect">
            <a:avLst/>
          </a:prstGeom>
          <a:solidFill>
            <a:srgbClr val="FFFFFF"/>
          </a:solidFill>
          <a:ln w="12700">
            <a:solidFill>
              <a:srgbClr val="CBD5E1"/>
            </a:solidFill>
            <a:prstDash val="solid"/>
          </a:ln>
        </p:spPr>
      </p:sp>
      <p:sp>
        <p:nvSpPr>
          <p:cNvPr id="198" name="Shape 196"/>
          <p:cNvSpPr/>
          <p:nvPr/>
        </p:nvSpPr>
        <p:spPr>
          <a:xfrm>
            <a:off x="6355080" y="5532120"/>
            <a:ext cx="777240" cy="347472"/>
          </a:xfrm>
          <a:prstGeom prst="rect">
            <a:avLst/>
          </a:prstGeom>
          <a:solidFill>
            <a:srgbClr val="E07B00"/>
          </a:solidFill>
          <a:ln w="12700">
            <a:solidFill>
              <a:srgbClr val="CBD5E1"/>
            </a:solidFill>
            <a:prstDash val="solid"/>
          </a:ln>
        </p:spPr>
      </p:sp>
      <p:sp>
        <p:nvSpPr>
          <p:cNvPr id="199" name="Shape 197"/>
          <p:cNvSpPr/>
          <p:nvPr/>
        </p:nvSpPr>
        <p:spPr>
          <a:xfrm>
            <a:off x="7132320" y="5532120"/>
            <a:ext cx="777240" cy="347472"/>
          </a:xfrm>
          <a:prstGeom prst="rect">
            <a:avLst/>
          </a:prstGeom>
          <a:solidFill>
            <a:srgbClr val="E07B00"/>
          </a:solidFill>
          <a:ln w="12700">
            <a:solidFill>
              <a:srgbClr val="CBD5E1"/>
            </a:solidFill>
            <a:prstDash val="solid"/>
          </a:ln>
        </p:spPr>
      </p:sp>
      <p:sp>
        <p:nvSpPr>
          <p:cNvPr id="200" name="Shape 198"/>
          <p:cNvSpPr/>
          <p:nvPr/>
        </p:nvSpPr>
        <p:spPr>
          <a:xfrm>
            <a:off x="7909560" y="5532120"/>
            <a:ext cx="777240" cy="347472"/>
          </a:xfrm>
          <a:prstGeom prst="rect">
            <a:avLst/>
          </a:prstGeom>
          <a:solidFill>
            <a:srgbClr val="E07B00"/>
          </a:solidFill>
          <a:ln w="12700">
            <a:solidFill>
              <a:srgbClr val="CBD5E1"/>
            </a:solidFill>
            <a:prstDash val="solid"/>
          </a:ln>
        </p:spPr>
      </p:sp>
      <p:sp>
        <p:nvSpPr>
          <p:cNvPr id="201" name="Shape 199"/>
          <p:cNvSpPr/>
          <p:nvPr/>
        </p:nvSpPr>
        <p:spPr>
          <a:xfrm>
            <a:off x="8686800" y="5532120"/>
            <a:ext cx="777240" cy="347472"/>
          </a:xfrm>
          <a:prstGeom prst="rect">
            <a:avLst/>
          </a:prstGeom>
          <a:solidFill>
            <a:srgbClr val="FFFFFF"/>
          </a:solidFill>
          <a:ln w="12700">
            <a:solidFill>
              <a:srgbClr val="CBD5E1"/>
            </a:solidFill>
            <a:prstDash val="solid"/>
          </a:ln>
        </p:spPr>
      </p:sp>
      <p:sp>
        <p:nvSpPr>
          <p:cNvPr id="202" name="Shape 200"/>
          <p:cNvSpPr/>
          <p:nvPr/>
        </p:nvSpPr>
        <p:spPr>
          <a:xfrm>
            <a:off x="9464040" y="5532120"/>
            <a:ext cx="777240" cy="347472"/>
          </a:xfrm>
          <a:prstGeom prst="rect">
            <a:avLst/>
          </a:prstGeom>
          <a:solidFill>
            <a:srgbClr val="F2F4F5"/>
          </a:solidFill>
          <a:ln w="12700">
            <a:solidFill>
              <a:srgbClr val="CBD5E1"/>
            </a:solidFill>
            <a:prstDash val="solid"/>
          </a:ln>
        </p:spPr>
      </p:sp>
      <p:sp>
        <p:nvSpPr>
          <p:cNvPr id="203" name="Shape 201"/>
          <p:cNvSpPr/>
          <p:nvPr/>
        </p:nvSpPr>
        <p:spPr>
          <a:xfrm>
            <a:off x="10241280" y="5532120"/>
            <a:ext cx="777240" cy="347472"/>
          </a:xfrm>
          <a:prstGeom prst="rect">
            <a:avLst/>
          </a:prstGeom>
          <a:solidFill>
            <a:srgbClr val="FFFFFF"/>
          </a:solidFill>
          <a:ln w="12700">
            <a:solidFill>
              <a:srgbClr val="CBD5E1"/>
            </a:solidFill>
            <a:prstDash val="solid"/>
          </a:ln>
        </p:spPr>
      </p:sp>
      <p:sp>
        <p:nvSpPr>
          <p:cNvPr id="204" name="Shape 202"/>
          <p:cNvSpPr/>
          <p:nvPr/>
        </p:nvSpPr>
        <p:spPr>
          <a:xfrm>
            <a:off x="11018520" y="5532120"/>
            <a:ext cx="777240" cy="347472"/>
          </a:xfrm>
          <a:prstGeom prst="rect">
            <a:avLst/>
          </a:prstGeom>
          <a:solidFill>
            <a:srgbClr val="F2F4F5"/>
          </a:solidFill>
          <a:ln w="12700">
            <a:solidFill>
              <a:srgbClr val="CBD5E1"/>
            </a:solidFill>
            <a:prstDash val="solid"/>
          </a:ln>
        </p:spPr>
      </p:sp>
      <p:sp>
        <p:nvSpPr>
          <p:cNvPr id="205" name="Shape 203"/>
          <p:cNvSpPr/>
          <p:nvPr/>
        </p:nvSpPr>
        <p:spPr>
          <a:xfrm>
            <a:off x="274320" y="5897880"/>
            <a:ext cx="2194560" cy="347472"/>
          </a:xfrm>
          <a:prstGeom prst="rect">
            <a:avLst/>
          </a:prstGeom>
          <a:solidFill>
            <a:srgbClr val="F2F4F5"/>
          </a:solidFill>
          <a:ln w="12700">
            <a:solidFill>
              <a:srgbClr val="CBD5E1"/>
            </a:solidFill>
            <a:prstDash val="solid"/>
          </a:ln>
        </p:spPr>
      </p:sp>
      <p:sp>
        <p:nvSpPr>
          <p:cNvPr id="206" name="Shape 204"/>
          <p:cNvSpPr/>
          <p:nvPr/>
        </p:nvSpPr>
        <p:spPr>
          <a:xfrm>
            <a:off x="274320" y="5897880"/>
            <a:ext cx="54864" cy="347472"/>
          </a:xfrm>
          <a:prstGeom prst="rect">
            <a:avLst/>
          </a:prstGeom>
          <a:solidFill>
            <a:srgbClr val="0E7C87"/>
          </a:solidFill>
          <a:ln w="12700">
            <a:solidFill>
              <a:srgbClr val="0E7C87"/>
            </a:solidFill>
            <a:prstDash val="solid"/>
          </a:ln>
        </p:spPr>
      </p:sp>
      <p:sp>
        <p:nvSpPr>
          <p:cNvPr id="207" name="Text 205"/>
          <p:cNvSpPr txBox="1"/>
          <p:nvPr/>
        </p:nvSpPr>
        <p:spPr>
          <a:xfrm>
            <a:off x="384048" y="593445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Policy-as-code (SCP + Config)</a:t>
            </a:r>
            <a:endParaRPr lang="en-US" sz="800" dirty="0"/>
          </a:p>
        </p:txBody>
      </p:sp>
      <p:sp>
        <p:nvSpPr>
          <p:cNvPr id="208" name="Shape 206"/>
          <p:cNvSpPr/>
          <p:nvPr/>
        </p:nvSpPr>
        <p:spPr>
          <a:xfrm>
            <a:off x="2468880" y="5897880"/>
            <a:ext cx="777240" cy="347472"/>
          </a:xfrm>
          <a:prstGeom prst="rect">
            <a:avLst/>
          </a:prstGeom>
          <a:solidFill>
            <a:srgbClr val="FFFFFF"/>
          </a:solidFill>
          <a:ln w="12700">
            <a:solidFill>
              <a:srgbClr val="CBD5E1"/>
            </a:solidFill>
            <a:prstDash val="solid"/>
          </a:ln>
        </p:spPr>
      </p:sp>
      <p:sp>
        <p:nvSpPr>
          <p:cNvPr id="209" name="Shape 207"/>
          <p:cNvSpPr/>
          <p:nvPr/>
        </p:nvSpPr>
        <p:spPr>
          <a:xfrm>
            <a:off x="3246120" y="5897880"/>
            <a:ext cx="777240" cy="347472"/>
          </a:xfrm>
          <a:prstGeom prst="rect">
            <a:avLst/>
          </a:prstGeom>
          <a:solidFill>
            <a:srgbClr val="F2F4F5"/>
          </a:solidFill>
          <a:ln w="12700">
            <a:solidFill>
              <a:srgbClr val="CBD5E1"/>
            </a:solidFill>
            <a:prstDash val="solid"/>
          </a:ln>
        </p:spPr>
      </p:sp>
      <p:sp>
        <p:nvSpPr>
          <p:cNvPr id="210" name="Shape 208"/>
          <p:cNvSpPr/>
          <p:nvPr/>
        </p:nvSpPr>
        <p:spPr>
          <a:xfrm>
            <a:off x="4023360" y="5897880"/>
            <a:ext cx="777240" cy="347472"/>
          </a:xfrm>
          <a:prstGeom prst="rect">
            <a:avLst/>
          </a:prstGeom>
          <a:solidFill>
            <a:srgbClr val="FFFFFF"/>
          </a:solidFill>
          <a:ln w="12700">
            <a:solidFill>
              <a:srgbClr val="CBD5E1"/>
            </a:solidFill>
            <a:prstDash val="solid"/>
          </a:ln>
        </p:spPr>
      </p:sp>
      <p:sp>
        <p:nvSpPr>
          <p:cNvPr id="211" name="Shape 209"/>
          <p:cNvSpPr/>
          <p:nvPr/>
        </p:nvSpPr>
        <p:spPr>
          <a:xfrm>
            <a:off x="4800600" y="5897880"/>
            <a:ext cx="777240" cy="347472"/>
          </a:xfrm>
          <a:prstGeom prst="rect">
            <a:avLst/>
          </a:prstGeom>
          <a:solidFill>
            <a:srgbClr val="F2F4F5"/>
          </a:solidFill>
          <a:ln w="12700">
            <a:solidFill>
              <a:srgbClr val="CBD5E1"/>
            </a:solidFill>
            <a:prstDash val="solid"/>
          </a:ln>
        </p:spPr>
      </p:sp>
      <p:sp>
        <p:nvSpPr>
          <p:cNvPr id="212" name="Shape 210"/>
          <p:cNvSpPr/>
          <p:nvPr/>
        </p:nvSpPr>
        <p:spPr>
          <a:xfrm>
            <a:off x="5577840" y="5897880"/>
            <a:ext cx="777240" cy="347472"/>
          </a:xfrm>
          <a:prstGeom prst="rect">
            <a:avLst/>
          </a:prstGeom>
          <a:solidFill>
            <a:srgbClr val="FFFFFF"/>
          </a:solidFill>
          <a:ln w="12700">
            <a:solidFill>
              <a:srgbClr val="CBD5E1"/>
            </a:solidFill>
            <a:prstDash val="solid"/>
          </a:ln>
        </p:spPr>
      </p:sp>
      <p:sp>
        <p:nvSpPr>
          <p:cNvPr id="213" name="Shape 211"/>
          <p:cNvSpPr/>
          <p:nvPr/>
        </p:nvSpPr>
        <p:spPr>
          <a:xfrm>
            <a:off x="6355080" y="5897880"/>
            <a:ext cx="777240" cy="347472"/>
          </a:xfrm>
          <a:prstGeom prst="rect">
            <a:avLst/>
          </a:prstGeom>
          <a:solidFill>
            <a:srgbClr val="F2F4F5"/>
          </a:solidFill>
          <a:ln w="12700">
            <a:solidFill>
              <a:srgbClr val="CBD5E1"/>
            </a:solidFill>
            <a:prstDash val="solid"/>
          </a:ln>
        </p:spPr>
      </p:sp>
      <p:sp>
        <p:nvSpPr>
          <p:cNvPr id="214" name="Shape 212"/>
          <p:cNvSpPr/>
          <p:nvPr/>
        </p:nvSpPr>
        <p:spPr>
          <a:xfrm>
            <a:off x="7132320" y="5897880"/>
            <a:ext cx="777240" cy="347472"/>
          </a:xfrm>
          <a:prstGeom prst="rect">
            <a:avLst/>
          </a:prstGeom>
          <a:solidFill>
            <a:srgbClr val="FFFFFF"/>
          </a:solidFill>
          <a:ln w="12700">
            <a:solidFill>
              <a:srgbClr val="CBD5E1"/>
            </a:solidFill>
            <a:prstDash val="solid"/>
          </a:ln>
        </p:spPr>
      </p:sp>
      <p:sp>
        <p:nvSpPr>
          <p:cNvPr id="215" name="Shape 213"/>
          <p:cNvSpPr/>
          <p:nvPr/>
        </p:nvSpPr>
        <p:spPr>
          <a:xfrm>
            <a:off x="7909560" y="5897880"/>
            <a:ext cx="777240" cy="347472"/>
          </a:xfrm>
          <a:prstGeom prst="rect">
            <a:avLst/>
          </a:prstGeom>
          <a:solidFill>
            <a:srgbClr val="F2F4F5"/>
          </a:solidFill>
          <a:ln w="12700">
            <a:solidFill>
              <a:srgbClr val="CBD5E1"/>
            </a:solidFill>
            <a:prstDash val="solid"/>
          </a:ln>
        </p:spPr>
      </p:sp>
      <p:sp>
        <p:nvSpPr>
          <p:cNvPr id="216" name="Shape 214"/>
          <p:cNvSpPr/>
          <p:nvPr/>
        </p:nvSpPr>
        <p:spPr>
          <a:xfrm>
            <a:off x="8686800" y="5897880"/>
            <a:ext cx="777240" cy="347472"/>
          </a:xfrm>
          <a:prstGeom prst="rect">
            <a:avLst/>
          </a:prstGeom>
          <a:solidFill>
            <a:srgbClr val="0E7C87"/>
          </a:solidFill>
          <a:ln w="12700">
            <a:solidFill>
              <a:srgbClr val="CBD5E1"/>
            </a:solidFill>
            <a:prstDash val="solid"/>
          </a:ln>
        </p:spPr>
      </p:sp>
      <p:sp>
        <p:nvSpPr>
          <p:cNvPr id="217" name="Shape 215"/>
          <p:cNvSpPr/>
          <p:nvPr/>
        </p:nvSpPr>
        <p:spPr>
          <a:xfrm>
            <a:off x="9464040" y="5897880"/>
            <a:ext cx="777240" cy="347472"/>
          </a:xfrm>
          <a:prstGeom prst="rect">
            <a:avLst/>
          </a:prstGeom>
          <a:solidFill>
            <a:srgbClr val="0E7C87"/>
          </a:solidFill>
          <a:ln w="12700">
            <a:solidFill>
              <a:srgbClr val="CBD5E1"/>
            </a:solidFill>
            <a:prstDash val="solid"/>
          </a:ln>
        </p:spPr>
      </p:sp>
      <p:sp>
        <p:nvSpPr>
          <p:cNvPr id="218" name="Shape 216"/>
          <p:cNvSpPr/>
          <p:nvPr/>
        </p:nvSpPr>
        <p:spPr>
          <a:xfrm>
            <a:off x="10241280" y="5897880"/>
            <a:ext cx="777240" cy="347472"/>
          </a:xfrm>
          <a:prstGeom prst="rect">
            <a:avLst/>
          </a:prstGeom>
          <a:solidFill>
            <a:srgbClr val="FFFFFF"/>
          </a:solidFill>
          <a:ln w="12700">
            <a:solidFill>
              <a:srgbClr val="CBD5E1"/>
            </a:solidFill>
            <a:prstDash val="solid"/>
          </a:ln>
        </p:spPr>
      </p:sp>
      <p:sp>
        <p:nvSpPr>
          <p:cNvPr id="219" name="Shape 217"/>
          <p:cNvSpPr/>
          <p:nvPr/>
        </p:nvSpPr>
        <p:spPr>
          <a:xfrm>
            <a:off x="11018520" y="5897880"/>
            <a:ext cx="777240" cy="347472"/>
          </a:xfrm>
          <a:prstGeom prst="rect">
            <a:avLst/>
          </a:prstGeom>
          <a:solidFill>
            <a:srgbClr val="F2F4F5"/>
          </a:solidFill>
          <a:ln w="12700">
            <a:solidFill>
              <a:srgbClr val="CBD5E1"/>
            </a:solidFill>
            <a:prstDash val="solid"/>
          </a:ln>
        </p:spPr>
      </p:sp>
      <p:sp>
        <p:nvSpPr>
          <p:cNvPr id="220" name="Shape 218"/>
          <p:cNvSpPr/>
          <p:nvPr/>
        </p:nvSpPr>
        <p:spPr>
          <a:xfrm>
            <a:off x="274320" y="6263640"/>
            <a:ext cx="2194560" cy="347472"/>
          </a:xfrm>
          <a:prstGeom prst="rect">
            <a:avLst/>
          </a:prstGeom>
          <a:solidFill>
            <a:srgbClr val="F2F4F5"/>
          </a:solidFill>
          <a:ln w="12700">
            <a:solidFill>
              <a:srgbClr val="CBD5E1"/>
            </a:solidFill>
            <a:prstDash val="solid"/>
          </a:ln>
        </p:spPr>
      </p:sp>
      <p:sp>
        <p:nvSpPr>
          <p:cNvPr id="221" name="Text 219"/>
          <p:cNvSpPr txBox="1"/>
          <p:nvPr/>
        </p:nvSpPr>
        <p:spPr>
          <a:xfrm>
            <a:off x="384048" y="630021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Infracost CI integration</a:t>
            </a:r>
            <a:endParaRPr lang="en-US" sz="800" dirty="0"/>
          </a:p>
        </p:txBody>
      </p:sp>
      <p:sp>
        <p:nvSpPr>
          <p:cNvPr id="222" name="Shape 220"/>
          <p:cNvSpPr/>
          <p:nvPr/>
        </p:nvSpPr>
        <p:spPr>
          <a:xfrm>
            <a:off x="2468880" y="6263640"/>
            <a:ext cx="777240" cy="347472"/>
          </a:xfrm>
          <a:prstGeom prst="rect">
            <a:avLst/>
          </a:prstGeom>
          <a:solidFill>
            <a:srgbClr val="FFFFFF"/>
          </a:solidFill>
          <a:ln w="12700">
            <a:solidFill>
              <a:srgbClr val="CBD5E1"/>
            </a:solidFill>
            <a:prstDash val="solid"/>
          </a:ln>
        </p:spPr>
      </p:sp>
      <p:sp>
        <p:nvSpPr>
          <p:cNvPr id="223" name="Shape 221"/>
          <p:cNvSpPr/>
          <p:nvPr/>
        </p:nvSpPr>
        <p:spPr>
          <a:xfrm>
            <a:off x="3246120" y="6263640"/>
            <a:ext cx="777240" cy="347472"/>
          </a:xfrm>
          <a:prstGeom prst="rect">
            <a:avLst/>
          </a:prstGeom>
          <a:solidFill>
            <a:srgbClr val="F2F4F5"/>
          </a:solidFill>
          <a:ln w="12700">
            <a:solidFill>
              <a:srgbClr val="CBD5E1"/>
            </a:solidFill>
            <a:prstDash val="solid"/>
          </a:ln>
        </p:spPr>
      </p:sp>
      <p:sp>
        <p:nvSpPr>
          <p:cNvPr id="224" name="Shape 222"/>
          <p:cNvSpPr/>
          <p:nvPr/>
        </p:nvSpPr>
        <p:spPr>
          <a:xfrm>
            <a:off x="4023360" y="6263640"/>
            <a:ext cx="777240" cy="347472"/>
          </a:xfrm>
          <a:prstGeom prst="rect">
            <a:avLst/>
          </a:prstGeom>
          <a:solidFill>
            <a:srgbClr val="FFFFFF"/>
          </a:solidFill>
          <a:ln w="12700">
            <a:solidFill>
              <a:srgbClr val="CBD5E1"/>
            </a:solidFill>
            <a:prstDash val="solid"/>
          </a:ln>
        </p:spPr>
      </p:sp>
      <p:sp>
        <p:nvSpPr>
          <p:cNvPr id="225" name="Shape 223"/>
          <p:cNvSpPr/>
          <p:nvPr/>
        </p:nvSpPr>
        <p:spPr>
          <a:xfrm>
            <a:off x="4800600" y="6263640"/>
            <a:ext cx="777240" cy="347472"/>
          </a:xfrm>
          <a:prstGeom prst="rect">
            <a:avLst/>
          </a:prstGeom>
          <a:solidFill>
            <a:srgbClr val="F2F4F5"/>
          </a:solidFill>
          <a:ln w="12700">
            <a:solidFill>
              <a:srgbClr val="CBD5E1"/>
            </a:solidFill>
            <a:prstDash val="solid"/>
          </a:ln>
        </p:spPr>
      </p:sp>
      <p:sp>
        <p:nvSpPr>
          <p:cNvPr id="226" name="Shape 224"/>
          <p:cNvSpPr/>
          <p:nvPr/>
        </p:nvSpPr>
        <p:spPr>
          <a:xfrm>
            <a:off x="5577840" y="6263640"/>
            <a:ext cx="777240" cy="347472"/>
          </a:xfrm>
          <a:prstGeom prst="rect">
            <a:avLst/>
          </a:prstGeom>
          <a:solidFill>
            <a:srgbClr val="FFFFFF"/>
          </a:solidFill>
          <a:ln w="12700">
            <a:solidFill>
              <a:srgbClr val="CBD5E1"/>
            </a:solidFill>
            <a:prstDash val="solid"/>
          </a:ln>
        </p:spPr>
      </p:sp>
      <p:sp>
        <p:nvSpPr>
          <p:cNvPr id="227" name="Shape 225"/>
          <p:cNvSpPr/>
          <p:nvPr/>
        </p:nvSpPr>
        <p:spPr>
          <a:xfrm>
            <a:off x="6355080" y="6263640"/>
            <a:ext cx="777240" cy="347472"/>
          </a:xfrm>
          <a:prstGeom prst="rect">
            <a:avLst/>
          </a:prstGeom>
          <a:solidFill>
            <a:srgbClr val="F2F4F5"/>
          </a:solidFill>
          <a:ln w="12700">
            <a:solidFill>
              <a:srgbClr val="CBD5E1"/>
            </a:solidFill>
            <a:prstDash val="solid"/>
          </a:ln>
        </p:spPr>
      </p:sp>
      <p:sp>
        <p:nvSpPr>
          <p:cNvPr id="228" name="Shape 226"/>
          <p:cNvSpPr/>
          <p:nvPr/>
        </p:nvSpPr>
        <p:spPr>
          <a:xfrm>
            <a:off x="7132320" y="6263640"/>
            <a:ext cx="777240" cy="347472"/>
          </a:xfrm>
          <a:prstGeom prst="rect">
            <a:avLst/>
          </a:prstGeom>
          <a:solidFill>
            <a:srgbClr val="FFFFFF"/>
          </a:solidFill>
          <a:ln w="12700">
            <a:solidFill>
              <a:srgbClr val="CBD5E1"/>
            </a:solidFill>
            <a:prstDash val="solid"/>
          </a:ln>
        </p:spPr>
      </p:sp>
      <p:sp>
        <p:nvSpPr>
          <p:cNvPr id="229" name="Shape 227"/>
          <p:cNvSpPr/>
          <p:nvPr/>
        </p:nvSpPr>
        <p:spPr>
          <a:xfrm>
            <a:off x="7909560" y="6263640"/>
            <a:ext cx="777240" cy="347472"/>
          </a:xfrm>
          <a:prstGeom prst="rect">
            <a:avLst/>
          </a:prstGeom>
          <a:solidFill>
            <a:srgbClr val="F2F4F5"/>
          </a:solidFill>
          <a:ln w="12700">
            <a:solidFill>
              <a:srgbClr val="CBD5E1"/>
            </a:solidFill>
            <a:prstDash val="solid"/>
          </a:ln>
        </p:spPr>
      </p:sp>
      <p:sp>
        <p:nvSpPr>
          <p:cNvPr id="230" name="Shape 228"/>
          <p:cNvSpPr/>
          <p:nvPr/>
        </p:nvSpPr>
        <p:spPr>
          <a:xfrm>
            <a:off x="8686800" y="6263640"/>
            <a:ext cx="777240" cy="347472"/>
          </a:xfrm>
          <a:prstGeom prst="rect">
            <a:avLst/>
          </a:prstGeom>
          <a:solidFill>
            <a:srgbClr val="0E7C87"/>
          </a:solidFill>
          <a:ln w="12700">
            <a:solidFill>
              <a:srgbClr val="CBD5E1"/>
            </a:solidFill>
            <a:prstDash val="solid"/>
          </a:ln>
        </p:spPr>
      </p:sp>
      <p:sp>
        <p:nvSpPr>
          <p:cNvPr id="231" name="Shape 229"/>
          <p:cNvSpPr/>
          <p:nvPr/>
        </p:nvSpPr>
        <p:spPr>
          <a:xfrm>
            <a:off x="9464040" y="6263640"/>
            <a:ext cx="777240" cy="347472"/>
          </a:xfrm>
          <a:prstGeom prst="rect">
            <a:avLst/>
          </a:prstGeom>
          <a:solidFill>
            <a:srgbClr val="0E7C87"/>
          </a:solidFill>
          <a:ln w="12700">
            <a:solidFill>
              <a:srgbClr val="CBD5E1"/>
            </a:solidFill>
            <a:prstDash val="solid"/>
          </a:ln>
        </p:spPr>
      </p:sp>
      <p:sp>
        <p:nvSpPr>
          <p:cNvPr id="232" name="Shape 230"/>
          <p:cNvSpPr/>
          <p:nvPr/>
        </p:nvSpPr>
        <p:spPr>
          <a:xfrm>
            <a:off x="10241280" y="6263640"/>
            <a:ext cx="777240" cy="347472"/>
          </a:xfrm>
          <a:prstGeom prst="rect">
            <a:avLst/>
          </a:prstGeom>
          <a:solidFill>
            <a:srgbClr val="FFFFFF"/>
          </a:solidFill>
          <a:ln w="12700">
            <a:solidFill>
              <a:srgbClr val="CBD5E1"/>
            </a:solidFill>
            <a:prstDash val="solid"/>
          </a:ln>
        </p:spPr>
      </p:sp>
      <p:sp>
        <p:nvSpPr>
          <p:cNvPr id="233" name="Shape 231"/>
          <p:cNvSpPr/>
          <p:nvPr/>
        </p:nvSpPr>
        <p:spPr>
          <a:xfrm>
            <a:off x="11018520" y="6263640"/>
            <a:ext cx="777240" cy="347472"/>
          </a:xfrm>
          <a:prstGeom prst="rect">
            <a:avLst/>
          </a:prstGeom>
          <a:solidFill>
            <a:srgbClr val="F2F4F5"/>
          </a:solidFill>
          <a:ln w="12700">
            <a:solidFill>
              <a:srgbClr val="CBD5E1"/>
            </a:solidFill>
            <a:prstDash val="solid"/>
          </a:ln>
        </p:spPr>
      </p:sp>
      <p:sp>
        <p:nvSpPr>
          <p:cNvPr id="234" name="Shape 232"/>
          <p:cNvSpPr/>
          <p:nvPr/>
        </p:nvSpPr>
        <p:spPr>
          <a:xfrm>
            <a:off x="274320" y="6629400"/>
            <a:ext cx="2194560" cy="347472"/>
          </a:xfrm>
          <a:prstGeom prst="rect">
            <a:avLst/>
          </a:prstGeom>
          <a:solidFill>
            <a:srgbClr val="F2F4F5"/>
          </a:solidFill>
          <a:ln w="12700">
            <a:solidFill>
              <a:srgbClr val="CBD5E1"/>
            </a:solidFill>
            <a:prstDash val="solid"/>
          </a:ln>
        </p:spPr>
      </p:sp>
      <p:sp>
        <p:nvSpPr>
          <p:cNvPr id="235" name="Text 233"/>
          <p:cNvSpPr txBox="1"/>
          <p:nvPr/>
        </p:nvSpPr>
        <p:spPr>
          <a:xfrm>
            <a:off x="384048" y="666597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FinOps dashboards live</a:t>
            </a:r>
            <a:endParaRPr lang="en-US" sz="800" dirty="0"/>
          </a:p>
        </p:txBody>
      </p:sp>
      <p:sp>
        <p:nvSpPr>
          <p:cNvPr id="236" name="Shape 234"/>
          <p:cNvSpPr/>
          <p:nvPr/>
        </p:nvSpPr>
        <p:spPr>
          <a:xfrm>
            <a:off x="2468880" y="6629400"/>
            <a:ext cx="777240" cy="347472"/>
          </a:xfrm>
          <a:prstGeom prst="rect">
            <a:avLst/>
          </a:prstGeom>
          <a:solidFill>
            <a:srgbClr val="FFFFFF"/>
          </a:solidFill>
          <a:ln w="12700">
            <a:solidFill>
              <a:srgbClr val="CBD5E1"/>
            </a:solidFill>
            <a:prstDash val="solid"/>
          </a:ln>
        </p:spPr>
      </p:sp>
      <p:sp>
        <p:nvSpPr>
          <p:cNvPr id="237" name="Shape 235"/>
          <p:cNvSpPr/>
          <p:nvPr/>
        </p:nvSpPr>
        <p:spPr>
          <a:xfrm>
            <a:off x="3246120" y="6629400"/>
            <a:ext cx="777240" cy="347472"/>
          </a:xfrm>
          <a:prstGeom prst="rect">
            <a:avLst/>
          </a:prstGeom>
          <a:solidFill>
            <a:srgbClr val="F2F4F5"/>
          </a:solidFill>
          <a:ln w="12700">
            <a:solidFill>
              <a:srgbClr val="CBD5E1"/>
            </a:solidFill>
            <a:prstDash val="solid"/>
          </a:ln>
        </p:spPr>
      </p:sp>
      <p:sp>
        <p:nvSpPr>
          <p:cNvPr id="238" name="Shape 236"/>
          <p:cNvSpPr/>
          <p:nvPr/>
        </p:nvSpPr>
        <p:spPr>
          <a:xfrm>
            <a:off x="4023360" y="6629400"/>
            <a:ext cx="777240" cy="347472"/>
          </a:xfrm>
          <a:prstGeom prst="rect">
            <a:avLst/>
          </a:prstGeom>
          <a:solidFill>
            <a:srgbClr val="FFFFFF"/>
          </a:solidFill>
          <a:ln w="12700">
            <a:solidFill>
              <a:srgbClr val="CBD5E1"/>
            </a:solidFill>
            <a:prstDash val="solid"/>
          </a:ln>
        </p:spPr>
      </p:sp>
      <p:sp>
        <p:nvSpPr>
          <p:cNvPr id="239" name="Shape 237"/>
          <p:cNvSpPr/>
          <p:nvPr/>
        </p:nvSpPr>
        <p:spPr>
          <a:xfrm>
            <a:off x="4800600" y="6629400"/>
            <a:ext cx="777240" cy="347472"/>
          </a:xfrm>
          <a:prstGeom prst="rect">
            <a:avLst/>
          </a:prstGeom>
          <a:solidFill>
            <a:srgbClr val="F2F4F5"/>
          </a:solidFill>
          <a:ln w="12700">
            <a:solidFill>
              <a:srgbClr val="CBD5E1"/>
            </a:solidFill>
            <a:prstDash val="solid"/>
          </a:ln>
        </p:spPr>
      </p:sp>
      <p:sp>
        <p:nvSpPr>
          <p:cNvPr id="240" name="Shape 238"/>
          <p:cNvSpPr/>
          <p:nvPr/>
        </p:nvSpPr>
        <p:spPr>
          <a:xfrm>
            <a:off x="5577840" y="6629400"/>
            <a:ext cx="777240" cy="347472"/>
          </a:xfrm>
          <a:prstGeom prst="rect">
            <a:avLst/>
          </a:prstGeom>
          <a:solidFill>
            <a:srgbClr val="FFFFFF"/>
          </a:solidFill>
          <a:ln w="12700">
            <a:solidFill>
              <a:srgbClr val="CBD5E1"/>
            </a:solidFill>
            <a:prstDash val="solid"/>
          </a:ln>
        </p:spPr>
      </p:sp>
      <p:sp>
        <p:nvSpPr>
          <p:cNvPr id="241" name="Shape 239"/>
          <p:cNvSpPr/>
          <p:nvPr/>
        </p:nvSpPr>
        <p:spPr>
          <a:xfrm>
            <a:off x="6355080" y="6629400"/>
            <a:ext cx="777240" cy="347472"/>
          </a:xfrm>
          <a:prstGeom prst="rect">
            <a:avLst/>
          </a:prstGeom>
          <a:solidFill>
            <a:srgbClr val="F2F4F5"/>
          </a:solidFill>
          <a:ln w="12700">
            <a:solidFill>
              <a:srgbClr val="CBD5E1"/>
            </a:solidFill>
            <a:prstDash val="solid"/>
          </a:ln>
        </p:spPr>
      </p:sp>
      <p:sp>
        <p:nvSpPr>
          <p:cNvPr id="242" name="Shape 240"/>
          <p:cNvSpPr/>
          <p:nvPr/>
        </p:nvSpPr>
        <p:spPr>
          <a:xfrm>
            <a:off x="7132320" y="6629400"/>
            <a:ext cx="777240" cy="347472"/>
          </a:xfrm>
          <a:prstGeom prst="rect">
            <a:avLst/>
          </a:prstGeom>
          <a:solidFill>
            <a:srgbClr val="FFFFFF"/>
          </a:solidFill>
          <a:ln w="12700">
            <a:solidFill>
              <a:srgbClr val="CBD5E1"/>
            </a:solidFill>
            <a:prstDash val="solid"/>
          </a:ln>
        </p:spPr>
      </p:sp>
      <p:sp>
        <p:nvSpPr>
          <p:cNvPr id="243" name="Shape 241"/>
          <p:cNvSpPr/>
          <p:nvPr/>
        </p:nvSpPr>
        <p:spPr>
          <a:xfrm>
            <a:off x="7909560" y="6629400"/>
            <a:ext cx="777240" cy="347472"/>
          </a:xfrm>
          <a:prstGeom prst="rect">
            <a:avLst/>
          </a:prstGeom>
          <a:solidFill>
            <a:srgbClr val="F2F4F5"/>
          </a:solidFill>
          <a:ln w="12700">
            <a:solidFill>
              <a:srgbClr val="CBD5E1"/>
            </a:solidFill>
            <a:prstDash val="solid"/>
          </a:ln>
        </p:spPr>
      </p:sp>
      <p:sp>
        <p:nvSpPr>
          <p:cNvPr id="244" name="Shape 242"/>
          <p:cNvSpPr/>
          <p:nvPr/>
        </p:nvSpPr>
        <p:spPr>
          <a:xfrm>
            <a:off x="8686800" y="6629400"/>
            <a:ext cx="777240" cy="347472"/>
          </a:xfrm>
          <a:prstGeom prst="rect">
            <a:avLst/>
          </a:prstGeom>
          <a:solidFill>
            <a:srgbClr val="FFFFFF"/>
          </a:solidFill>
          <a:ln w="12700">
            <a:solidFill>
              <a:srgbClr val="CBD5E1"/>
            </a:solidFill>
            <a:prstDash val="solid"/>
          </a:ln>
        </p:spPr>
      </p:sp>
      <p:sp>
        <p:nvSpPr>
          <p:cNvPr id="245" name="Shape 243"/>
          <p:cNvSpPr/>
          <p:nvPr/>
        </p:nvSpPr>
        <p:spPr>
          <a:xfrm>
            <a:off x="9464040" y="6629400"/>
            <a:ext cx="777240" cy="347472"/>
          </a:xfrm>
          <a:prstGeom prst="rect">
            <a:avLst/>
          </a:prstGeom>
          <a:solidFill>
            <a:srgbClr val="0E7C87"/>
          </a:solidFill>
          <a:ln w="12700">
            <a:solidFill>
              <a:srgbClr val="CBD5E1"/>
            </a:solidFill>
            <a:prstDash val="solid"/>
          </a:ln>
        </p:spPr>
      </p:sp>
      <p:sp>
        <p:nvSpPr>
          <p:cNvPr id="246" name="Shape 244"/>
          <p:cNvSpPr/>
          <p:nvPr/>
        </p:nvSpPr>
        <p:spPr>
          <a:xfrm>
            <a:off x="10241280" y="6629400"/>
            <a:ext cx="777240" cy="347472"/>
          </a:xfrm>
          <a:prstGeom prst="rect">
            <a:avLst/>
          </a:prstGeom>
          <a:solidFill>
            <a:srgbClr val="0E7C87"/>
          </a:solidFill>
          <a:ln w="12700">
            <a:solidFill>
              <a:srgbClr val="CBD5E1"/>
            </a:solidFill>
            <a:prstDash val="solid"/>
          </a:ln>
        </p:spPr>
      </p:sp>
      <p:sp>
        <p:nvSpPr>
          <p:cNvPr id="247" name="Shape 245"/>
          <p:cNvSpPr/>
          <p:nvPr/>
        </p:nvSpPr>
        <p:spPr>
          <a:xfrm>
            <a:off x="11018520" y="6629400"/>
            <a:ext cx="777240" cy="347472"/>
          </a:xfrm>
          <a:prstGeom prst="rect">
            <a:avLst/>
          </a:prstGeom>
          <a:solidFill>
            <a:srgbClr val="F2F4F5"/>
          </a:solidFill>
          <a:ln w="12700">
            <a:solidFill>
              <a:srgbClr val="CBD5E1"/>
            </a:solidFill>
            <a:prstDash val="solid"/>
          </a:ln>
        </p:spPr>
      </p:sp>
      <p:sp>
        <p:nvSpPr>
          <p:cNvPr id="248" name="Shape 246"/>
          <p:cNvSpPr/>
          <p:nvPr/>
        </p:nvSpPr>
        <p:spPr>
          <a:xfrm>
            <a:off x="274320" y="6995160"/>
            <a:ext cx="2194560" cy="347472"/>
          </a:xfrm>
          <a:prstGeom prst="rect">
            <a:avLst/>
          </a:prstGeom>
          <a:solidFill>
            <a:srgbClr val="F2F4F5"/>
          </a:solidFill>
          <a:ln w="12700">
            <a:solidFill>
              <a:srgbClr val="CBD5E1"/>
            </a:solidFill>
            <a:prstDash val="solid"/>
          </a:ln>
        </p:spPr>
      </p:sp>
      <p:sp>
        <p:nvSpPr>
          <p:cNvPr id="249" name="Text 247"/>
          <p:cNvSpPr txBox="1"/>
          <p:nvPr/>
        </p:nvSpPr>
        <p:spPr>
          <a:xfrm>
            <a:off x="384048" y="7031736"/>
            <a:ext cx="2066544" cy="274320"/>
          </a:xfrm>
          <a:prstGeom prst="rect">
            <a:avLst/>
          </a:prstGeom>
          <a:noFill/>
          <a:ln/>
        </p:spPr>
        <p:txBody>
          <a:bodyPr wrap="square" lIns="0" tIns="0" rIns="0" bIns="0" rtlCol="0" anchor="ctr"/>
          <a:lstStyle/>
          <a:p>
            <a:pPr indent="0" marL="0">
              <a:buNone/>
            </a:pPr>
            <a:r>
              <a:rPr lang="en-US" sz="800" dirty="0">
                <a:solidFill>
                  <a:srgbClr val="3A4A5C"/>
                </a:solidFill>
                <a:latin typeface="Calibri" pitchFamily="34" charset="0"/>
                <a:ea typeface="Calibri" pitchFamily="34" charset="-122"/>
                <a:cs typeface="Calibri" pitchFamily="34" charset="-120"/>
              </a:rPr>
              <a:t>KPI baseline + savings report</a:t>
            </a:r>
            <a:endParaRPr lang="en-US" sz="800" dirty="0"/>
          </a:p>
        </p:txBody>
      </p:sp>
      <p:sp>
        <p:nvSpPr>
          <p:cNvPr id="250" name="Shape 248"/>
          <p:cNvSpPr/>
          <p:nvPr/>
        </p:nvSpPr>
        <p:spPr>
          <a:xfrm>
            <a:off x="2468880" y="6995160"/>
            <a:ext cx="777240" cy="347472"/>
          </a:xfrm>
          <a:prstGeom prst="rect">
            <a:avLst/>
          </a:prstGeom>
          <a:solidFill>
            <a:srgbClr val="FFFFFF"/>
          </a:solidFill>
          <a:ln w="12700">
            <a:solidFill>
              <a:srgbClr val="CBD5E1"/>
            </a:solidFill>
            <a:prstDash val="solid"/>
          </a:ln>
        </p:spPr>
      </p:sp>
      <p:sp>
        <p:nvSpPr>
          <p:cNvPr id="251" name="Shape 249"/>
          <p:cNvSpPr/>
          <p:nvPr/>
        </p:nvSpPr>
        <p:spPr>
          <a:xfrm>
            <a:off x="3246120" y="6995160"/>
            <a:ext cx="777240" cy="347472"/>
          </a:xfrm>
          <a:prstGeom prst="rect">
            <a:avLst/>
          </a:prstGeom>
          <a:solidFill>
            <a:srgbClr val="F2F4F5"/>
          </a:solidFill>
          <a:ln w="12700">
            <a:solidFill>
              <a:srgbClr val="CBD5E1"/>
            </a:solidFill>
            <a:prstDash val="solid"/>
          </a:ln>
        </p:spPr>
      </p:sp>
      <p:sp>
        <p:nvSpPr>
          <p:cNvPr id="252" name="Shape 250"/>
          <p:cNvSpPr/>
          <p:nvPr/>
        </p:nvSpPr>
        <p:spPr>
          <a:xfrm>
            <a:off x="4023360" y="6995160"/>
            <a:ext cx="777240" cy="347472"/>
          </a:xfrm>
          <a:prstGeom prst="rect">
            <a:avLst/>
          </a:prstGeom>
          <a:solidFill>
            <a:srgbClr val="FFFFFF"/>
          </a:solidFill>
          <a:ln w="12700">
            <a:solidFill>
              <a:srgbClr val="CBD5E1"/>
            </a:solidFill>
            <a:prstDash val="solid"/>
          </a:ln>
        </p:spPr>
      </p:sp>
      <p:sp>
        <p:nvSpPr>
          <p:cNvPr id="253" name="Shape 251"/>
          <p:cNvSpPr/>
          <p:nvPr/>
        </p:nvSpPr>
        <p:spPr>
          <a:xfrm>
            <a:off x="4800600" y="6995160"/>
            <a:ext cx="777240" cy="347472"/>
          </a:xfrm>
          <a:prstGeom prst="rect">
            <a:avLst/>
          </a:prstGeom>
          <a:solidFill>
            <a:srgbClr val="F2F4F5"/>
          </a:solidFill>
          <a:ln w="12700">
            <a:solidFill>
              <a:srgbClr val="CBD5E1"/>
            </a:solidFill>
            <a:prstDash val="solid"/>
          </a:ln>
        </p:spPr>
      </p:sp>
      <p:sp>
        <p:nvSpPr>
          <p:cNvPr id="254" name="Shape 252"/>
          <p:cNvSpPr/>
          <p:nvPr/>
        </p:nvSpPr>
        <p:spPr>
          <a:xfrm>
            <a:off x="5577840" y="6995160"/>
            <a:ext cx="777240" cy="347472"/>
          </a:xfrm>
          <a:prstGeom prst="rect">
            <a:avLst/>
          </a:prstGeom>
          <a:solidFill>
            <a:srgbClr val="FFFFFF"/>
          </a:solidFill>
          <a:ln w="12700">
            <a:solidFill>
              <a:srgbClr val="CBD5E1"/>
            </a:solidFill>
            <a:prstDash val="solid"/>
          </a:ln>
        </p:spPr>
      </p:sp>
      <p:sp>
        <p:nvSpPr>
          <p:cNvPr id="255" name="Shape 253"/>
          <p:cNvSpPr/>
          <p:nvPr/>
        </p:nvSpPr>
        <p:spPr>
          <a:xfrm>
            <a:off x="6355080" y="6995160"/>
            <a:ext cx="777240" cy="347472"/>
          </a:xfrm>
          <a:prstGeom prst="rect">
            <a:avLst/>
          </a:prstGeom>
          <a:solidFill>
            <a:srgbClr val="F2F4F5"/>
          </a:solidFill>
          <a:ln w="12700">
            <a:solidFill>
              <a:srgbClr val="CBD5E1"/>
            </a:solidFill>
            <a:prstDash val="solid"/>
          </a:ln>
        </p:spPr>
      </p:sp>
      <p:sp>
        <p:nvSpPr>
          <p:cNvPr id="256" name="Shape 254"/>
          <p:cNvSpPr/>
          <p:nvPr/>
        </p:nvSpPr>
        <p:spPr>
          <a:xfrm>
            <a:off x="7132320" y="6995160"/>
            <a:ext cx="777240" cy="347472"/>
          </a:xfrm>
          <a:prstGeom prst="rect">
            <a:avLst/>
          </a:prstGeom>
          <a:solidFill>
            <a:srgbClr val="FFFFFF"/>
          </a:solidFill>
          <a:ln w="12700">
            <a:solidFill>
              <a:srgbClr val="CBD5E1"/>
            </a:solidFill>
            <a:prstDash val="solid"/>
          </a:ln>
        </p:spPr>
      </p:sp>
      <p:sp>
        <p:nvSpPr>
          <p:cNvPr id="257" name="Shape 255"/>
          <p:cNvSpPr/>
          <p:nvPr/>
        </p:nvSpPr>
        <p:spPr>
          <a:xfrm>
            <a:off x="7909560" y="6995160"/>
            <a:ext cx="777240" cy="347472"/>
          </a:xfrm>
          <a:prstGeom prst="rect">
            <a:avLst/>
          </a:prstGeom>
          <a:solidFill>
            <a:srgbClr val="F2F4F5"/>
          </a:solidFill>
          <a:ln w="12700">
            <a:solidFill>
              <a:srgbClr val="CBD5E1"/>
            </a:solidFill>
            <a:prstDash val="solid"/>
          </a:ln>
        </p:spPr>
      </p:sp>
      <p:sp>
        <p:nvSpPr>
          <p:cNvPr id="258" name="Shape 256"/>
          <p:cNvSpPr/>
          <p:nvPr/>
        </p:nvSpPr>
        <p:spPr>
          <a:xfrm>
            <a:off x="8686800" y="6995160"/>
            <a:ext cx="777240" cy="347472"/>
          </a:xfrm>
          <a:prstGeom prst="rect">
            <a:avLst/>
          </a:prstGeom>
          <a:solidFill>
            <a:srgbClr val="FFFFFF"/>
          </a:solidFill>
          <a:ln w="12700">
            <a:solidFill>
              <a:srgbClr val="CBD5E1"/>
            </a:solidFill>
            <a:prstDash val="solid"/>
          </a:ln>
        </p:spPr>
      </p:sp>
      <p:sp>
        <p:nvSpPr>
          <p:cNvPr id="259" name="Shape 257"/>
          <p:cNvSpPr/>
          <p:nvPr/>
        </p:nvSpPr>
        <p:spPr>
          <a:xfrm>
            <a:off x="9464040" y="6995160"/>
            <a:ext cx="777240" cy="347472"/>
          </a:xfrm>
          <a:prstGeom prst="rect">
            <a:avLst/>
          </a:prstGeom>
          <a:solidFill>
            <a:srgbClr val="F2F4F5"/>
          </a:solidFill>
          <a:ln w="12700">
            <a:solidFill>
              <a:srgbClr val="CBD5E1"/>
            </a:solidFill>
            <a:prstDash val="solid"/>
          </a:ln>
        </p:spPr>
      </p:sp>
      <p:sp>
        <p:nvSpPr>
          <p:cNvPr id="260" name="Shape 258"/>
          <p:cNvSpPr/>
          <p:nvPr/>
        </p:nvSpPr>
        <p:spPr>
          <a:xfrm>
            <a:off x="10241280" y="6995160"/>
            <a:ext cx="777240" cy="347472"/>
          </a:xfrm>
          <a:prstGeom prst="rect">
            <a:avLst/>
          </a:prstGeom>
          <a:solidFill>
            <a:srgbClr val="0E7C87"/>
          </a:solidFill>
          <a:ln w="12700">
            <a:solidFill>
              <a:srgbClr val="CBD5E1"/>
            </a:solidFill>
            <a:prstDash val="solid"/>
          </a:ln>
        </p:spPr>
      </p:sp>
      <p:sp>
        <p:nvSpPr>
          <p:cNvPr id="261" name="Shape 259"/>
          <p:cNvSpPr/>
          <p:nvPr/>
        </p:nvSpPr>
        <p:spPr>
          <a:xfrm>
            <a:off x="11018520" y="6995160"/>
            <a:ext cx="777240" cy="347472"/>
          </a:xfrm>
          <a:prstGeom prst="rect">
            <a:avLst/>
          </a:prstGeom>
          <a:solidFill>
            <a:srgbClr val="0E7C87"/>
          </a:solidFill>
          <a:ln w="12700">
            <a:solidFill>
              <a:srgbClr val="CBD5E1"/>
            </a:solidFill>
            <a:prstDash val="solid"/>
          </a:ln>
        </p:spPr>
      </p:sp>
      <p:sp>
        <p:nvSpPr>
          <p:cNvPr id="262" name="Shape 260"/>
          <p:cNvSpPr/>
          <p:nvPr/>
        </p:nvSpPr>
        <p:spPr>
          <a:xfrm>
            <a:off x="274320" y="6446520"/>
            <a:ext cx="182880" cy="128016"/>
          </a:xfrm>
          <a:prstGeom prst="rect">
            <a:avLst/>
          </a:prstGeom>
          <a:solidFill>
            <a:srgbClr val="E07B00"/>
          </a:solidFill>
          <a:ln w="12700">
            <a:solidFill>
              <a:srgbClr val="E07B00"/>
            </a:solidFill>
            <a:prstDash val="solid"/>
          </a:ln>
        </p:spPr>
      </p:sp>
      <p:sp>
        <p:nvSpPr>
          <p:cNvPr id="263" name="Text 261"/>
          <p:cNvSpPr txBox="1"/>
          <p:nvPr/>
        </p:nvSpPr>
        <p:spPr>
          <a:xfrm>
            <a:off x="502920" y="6428232"/>
            <a:ext cx="3657600" cy="182880"/>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 = Decision Gate / Review checkpoint</a:t>
            </a:r>
            <a:endParaRPr lang="en-US" sz="800" dirty="0"/>
          </a:p>
        </p:txBody>
      </p:sp>
      <p:sp>
        <p:nvSpPr>
          <p:cNvPr id="264" name="Text 262"/>
          <p:cNvSpPr txBox="1"/>
          <p:nvPr/>
        </p:nvSpPr>
        <p:spPr>
          <a:xfrm>
            <a:off x="4572000" y="6428232"/>
            <a:ext cx="7315200" cy="182880"/>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Day 45 review: assess savings realization, re-scope if needed. Day 90 review: CFO savings validation.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Projected Financial Impact</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Annualized savings scenarios — run-rate opportunity, not guaranteed cash savings</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15 / 18</a:t>
            </a:r>
            <a:endParaRPr lang="en-US" sz="700" dirty="0"/>
          </a:p>
        </p:txBody>
      </p:sp>
      <p:graphicFrame>
        <p:nvGraphicFramePr>
          <p:cNvPr id="8" name="Chart 0" descr=""/>
          <p:cNvGraphicFramePr/>
          <p:nvPr/>
        </p:nvGraphicFramePr>
        <p:xfrm>
          <a:off x="274320" y="1170432"/>
          <a:ext cx="5943600" cy="27432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274320" y="4041648"/>
            <a:ext cx="2743200" cy="1298448"/>
          </a:xfrm>
          <a:prstGeom prst="roundRect">
            <a:avLst>
              <a:gd name="adj" fmla="val 5634"/>
            </a:avLst>
          </a:prstGeom>
          <a:solidFill>
            <a:srgbClr val="FDEBD0"/>
          </a:solidFill>
          <a:ln w="12700">
            <a:solidFill>
              <a:srgbClr val="CBD5E1"/>
            </a:solidFill>
            <a:prstDash val="solid"/>
          </a:ln>
        </p:spPr>
      </p:sp>
      <p:sp>
        <p:nvSpPr>
          <p:cNvPr id="10" name="Text 7"/>
          <p:cNvSpPr txBox="1"/>
          <p:nvPr/>
        </p:nvSpPr>
        <p:spPr>
          <a:xfrm>
            <a:off x="365760" y="4087368"/>
            <a:ext cx="2560320" cy="714146"/>
          </a:xfrm>
          <a:prstGeom prst="rect">
            <a:avLst/>
          </a:prstGeom>
          <a:noFill/>
          <a:ln/>
        </p:spPr>
        <p:txBody>
          <a:bodyPr wrap="square" lIns="0" tIns="0" rIns="0" bIns="0" rtlCol="0" anchor="b"/>
          <a:lstStyle/>
          <a:p>
            <a:pPr algn="ctr" indent="0" marL="0">
              <a:buNone/>
            </a:pPr>
            <a:r>
              <a:rPr lang="en-US" sz="2800" b="1" dirty="0">
                <a:solidFill>
                  <a:srgbClr val="E07B00"/>
                </a:solidFill>
                <a:latin typeface="Calibri" pitchFamily="34" charset="0"/>
                <a:ea typeface="Calibri" pitchFamily="34" charset="-122"/>
                <a:cs typeface="Calibri" pitchFamily="34" charset="-120"/>
              </a:rPr>
              <a:t>$376,509.48</a:t>
            </a:r>
            <a:endParaRPr lang="en-US" sz="2800" dirty="0"/>
          </a:p>
        </p:txBody>
      </p:sp>
      <p:sp>
        <p:nvSpPr>
          <p:cNvPr id="11" name="Text 8"/>
          <p:cNvSpPr txBox="1"/>
          <p:nvPr/>
        </p:nvSpPr>
        <p:spPr>
          <a:xfrm>
            <a:off x="365760" y="4781763"/>
            <a:ext cx="2560320" cy="324612"/>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Worst-Case (Annualised)</a:t>
            </a:r>
            <a:endParaRPr lang="en-US" sz="1000" dirty="0"/>
          </a:p>
        </p:txBody>
      </p:sp>
      <p:sp>
        <p:nvSpPr>
          <p:cNvPr id="12" name="Text 9"/>
          <p:cNvSpPr txBox="1"/>
          <p:nvPr/>
        </p:nvSpPr>
        <p:spPr>
          <a:xfrm>
            <a:off x="365760" y="5054437"/>
            <a:ext cx="2560320" cy="285659"/>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$31,375.79 × 12</a:t>
            </a:r>
            <a:endParaRPr lang="en-US" sz="800" dirty="0"/>
          </a:p>
        </p:txBody>
      </p:sp>
      <p:sp>
        <p:nvSpPr>
          <p:cNvPr id="13" name="Shape 10"/>
          <p:cNvSpPr/>
          <p:nvPr/>
        </p:nvSpPr>
        <p:spPr>
          <a:xfrm>
            <a:off x="3246120" y="4041648"/>
            <a:ext cx="2743200" cy="1298448"/>
          </a:xfrm>
          <a:prstGeom prst="roundRect">
            <a:avLst>
              <a:gd name="adj" fmla="val 5634"/>
            </a:avLst>
          </a:prstGeom>
          <a:solidFill>
            <a:srgbClr val="F2F4F5"/>
          </a:solidFill>
          <a:ln w="12700">
            <a:solidFill>
              <a:srgbClr val="CBD5E1"/>
            </a:solidFill>
            <a:prstDash val="solid"/>
          </a:ln>
        </p:spPr>
      </p:sp>
      <p:sp>
        <p:nvSpPr>
          <p:cNvPr id="14" name="Text 11"/>
          <p:cNvSpPr txBox="1"/>
          <p:nvPr/>
        </p:nvSpPr>
        <p:spPr>
          <a:xfrm>
            <a:off x="3337560" y="4087368"/>
            <a:ext cx="2560320" cy="714146"/>
          </a:xfrm>
          <a:prstGeom prst="rect">
            <a:avLst/>
          </a:prstGeom>
          <a:noFill/>
          <a:ln/>
        </p:spPr>
        <p:txBody>
          <a:bodyPr wrap="square" lIns="0" tIns="0" rIns="0" bIns="0" rtlCol="0" anchor="b"/>
          <a:lstStyle/>
          <a:p>
            <a:pPr algn="ctr" indent="0" marL="0">
              <a:buNone/>
            </a:pPr>
            <a:r>
              <a:rPr lang="en-US" sz="2800" b="1" dirty="0">
                <a:solidFill>
                  <a:srgbClr val="1A8A4A"/>
                </a:solidFill>
                <a:latin typeface="Calibri" pitchFamily="34" charset="0"/>
                <a:ea typeface="Calibri" pitchFamily="34" charset="-122"/>
                <a:cs typeface="Calibri" pitchFamily="34" charset="-120"/>
              </a:rPr>
              <a:t>$620,132.52</a:t>
            </a:r>
            <a:endParaRPr lang="en-US" sz="2800" dirty="0"/>
          </a:p>
        </p:txBody>
      </p:sp>
      <p:sp>
        <p:nvSpPr>
          <p:cNvPr id="15" name="Text 12"/>
          <p:cNvSpPr txBox="1"/>
          <p:nvPr/>
        </p:nvSpPr>
        <p:spPr>
          <a:xfrm>
            <a:off x="3337560" y="4781763"/>
            <a:ext cx="2560320" cy="324612"/>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Expected (Annualised)</a:t>
            </a:r>
            <a:endParaRPr lang="en-US" sz="1000" dirty="0"/>
          </a:p>
        </p:txBody>
      </p:sp>
      <p:sp>
        <p:nvSpPr>
          <p:cNvPr id="16" name="Text 13"/>
          <p:cNvSpPr txBox="1"/>
          <p:nvPr/>
        </p:nvSpPr>
        <p:spPr>
          <a:xfrm>
            <a:off x="3337560" y="5054437"/>
            <a:ext cx="2560320" cy="285659"/>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$51,677.71 × 12</a:t>
            </a:r>
            <a:endParaRPr lang="en-US" sz="800" dirty="0"/>
          </a:p>
        </p:txBody>
      </p:sp>
      <p:sp>
        <p:nvSpPr>
          <p:cNvPr id="17" name="Shape 14"/>
          <p:cNvSpPr/>
          <p:nvPr/>
        </p:nvSpPr>
        <p:spPr>
          <a:xfrm>
            <a:off x="6217920" y="4041648"/>
            <a:ext cx="2743200" cy="1298448"/>
          </a:xfrm>
          <a:prstGeom prst="roundRect">
            <a:avLst>
              <a:gd name="adj" fmla="val 5634"/>
            </a:avLst>
          </a:prstGeom>
          <a:solidFill>
            <a:srgbClr val="F2F4F5"/>
          </a:solidFill>
          <a:ln w="12700">
            <a:solidFill>
              <a:srgbClr val="CBD5E1"/>
            </a:solidFill>
            <a:prstDash val="solid"/>
          </a:ln>
        </p:spPr>
      </p:sp>
      <p:sp>
        <p:nvSpPr>
          <p:cNvPr id="18" name="Text 15"/>
          <p:cNvSpPr txBox="1"/>
          <p:nvPr/>
        </p:nvSpPr>
        <p:spPr>
          <a:xfrm>
            <a:off x="6309360" y="4087368"/>
            <a:ext cx="2560320" cy="714146"/>
          </a:xfrm>
          <a:prstGeom prst="rect">
            <a:avLst/>
          </a:prstGeom>
          <a:noFill/>
          <a:ln/>
        </p:spPr>
        <p:txBody>
          <a:bodyPr wrap="square" lIns="0" tIns="0" rIns="0" bIns="0" rtlCol="0" anchor="b"/>
          <a:lstStyle/>
          <a:p>
            <a:pPr algn="ctr" indent="0" marL="0">
              <a:buNone/>
            </a:pPr>
            <a:r>
              <a:rPr lang="en-US" sz="2800" b="1" dirty="0">
                <a:solidFill>
                  <a:srgbClr val="0E7C87"/>
                </a:solidFill>
                <a:latin typeface="Calibri" pitchFamily="34" charset="0"/>
                <a:ea typeface="Calibri" pitchFamily="34" charset="-122"/>
                <a:cs typeface="Calibri" pitchFamily="34" charset="-120"/>
              </a:rPr>
              <a:t>$646,843.68</a:t>
            </a:r>
            <a:endParaRPr lang="en-US" sz="2800" dirty="0"/>
          </a:p>
        </p:txBody>
      </p:sp>
      <p:sp>
        <p:nvSpPr>
          <p:cNvPr id="19" name="Text 16"/>
          <p:cNvSpPr txBox="1"/>
          <p:nvPr/>
        </p:nvSpPr>
        <p:spPr>
          <a:xfrm>
            <a:off x="6309360" y="4781763"/>
            <a:ext cx="2560320" cy="324612"/>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Best-Case (Annualised)</a:t>
            </a:r>
            <a:endParaRPr lang="en-US" sz="1000" dirty="0"/>
          </a:p>
        </p:txBody>
      </p:sp>
      <p:sp>
        <p:nvSpPr>
          <p:cNvPr id="20" name="Text 17"/>
          <p:cNvSpPr txBox="1"/>
          <p:nvPr/>
        </p:nvSpPr>
        <p:spPr>
          <a:xfrm>
            <a:off x="6309360" y="5054437"/>
            <a:ext cx="2560320" cy="285659"/>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$53,903.64 × 12</a:t>
            </a:r>
            <a:endParaRPr lang="en-US" sz="800" dirty="0"/>
          </a:p>
        </p:txBody>
      </p:sp>
      <p:sp>
        <p:nvSpPr>
          <p:cNvPr id="21" name="Shape 18"/>
          <p:cNvSpPr/>
          <p:nvPr/>
        </p:nvSpPr>
        <p:spPr>
          <a:xfrm>
            <a:off x="9189720" y="4041648"/>
            <a:ext cx="2743200" cy="1298448"/>
          </a:xfrm>
          <a:prstGeom prst="roundRect">
            <a:avLst>
              <a:gd name="adj" fmla="val 5634"/>
            </a:avLst>
          </a:prstGeom>
          <a:solidFill>
            <a:srgbClr val="D6EAF8"/>
          </a:solidFill>
          <a:ln w="12700">
            <a:solidFill>
              <a:srgbClr val="CBD5E1"/>
            </a:solidFill>
            <a:prstDash val="solid"/>
          </a:ln>
        </p:spPr>
      </p:sp>
      <p:sp>
        <p:nvSpPr>
          <p:cNvPr id="22" name="Text 19"/>
          <p:cNvSpPr txBox="1"/>
          <p:nvPr/>
        </p:nvSpPr>
        <p:spPr>
          <a:xfrm>
            <a:off x="9281160" y="4087368"/>
            <a:ext cx="2560320" cy="714146"/>
          </a:xfrm>
          <a:prstGeom prst="rect">
            <a:avLst/>
          </a:prstGeom>
          <a:noFill/>
          <a:ln/>
        </p:spPr>
        <p:txBody>
          <a:bodyPr wrap="square" lIns="0" tIns="0" rIns="0" bIns="0" rtlCol="0" anchor="b"/>
          <a:lstStyle/>
          <a:p>
            <a:pPr algn="ctr" indent="0" marL="0">
              <a:buNone/>
            </a:pPr>
            <a:r>
              <a:rPr lang="en-US" sz="2800" b="1" dirty="0">
                <a:solidFill>
                  <a:srgbClr val="1A5FA8"/>
                </a:solidFill>
                <a:latin typeface="Calibri" pitchFamily="34" charset="0"/>
                <a:ea typeface="Calibri" pitchFamily="34" charset="-122"/>
                <a:cs typeface="Calibri" pitchFamily="34" charset="-120"/>
              </a:rPr>
              <a:t>$720,000</a:t>
            </a:r>
            <a:endParaRPr lang="en-US" sz="2800" dirty="0"/>
          </a:p>
        </p:txBody>
      </p:sp>
      <p:sp>
        <p:nvSpPr>
          <p:cNvPr id="23" name="Text 20"/>
          <p:cNvSpPr txBox="1"/>
          <p:nvPr/>
        </p:nvSpPr>
        <p:spPr>
          <a:xfrm>
            <a:off x="9281160" y="4781763"/>
            <a:ext cx="2560320" cy="324612"/>
          </a:xfrm>
          <a:prstGeom prst="rect">
            <a:avLst/>
          </a:prstGeom>
          <a:noFill/>
          <a:ln/>
        </p:spPr>
        <p:txBody>
          <a:bodyPr wrap="square" lIns="0" tIns="0" rIns="0" bIns="0" rtlCol="0" anchor="ctr"/>
          <a:lstStyle/>
          <a:p>
            <a:pPr algn="ctr" indent="0" marL="0">
              <a:buNone/>
            </a:pPr>
            <a:r>
              <a:rPr lang="en-US" sz="1000" b="1" dirty="0">
                <a:solidFill>
                  <a:srgbClr val="3A4A5C"/>
                </a:solidFill>
                <a:latin typeface="Calibri" pitchFamily="34" charset="0"/>
                <a:ea typeface="Calibri" pitchFamily="34" charset="-122"/>
                <a:cs typeface="Calibri" pitchFamily="34" charset="-120"/>
              </a:rPr>
              <a:t>CFO Target (Annual)</a:t>
            </a:r>
            <a:endParaRPr lang="en-US" sz="1000" dirty="0"/>
          </a:p>
        </p:txBody>
      </p:sp>
      <p:sp>
        <p:nvSpPr>
          <p:cNvPr id="24" name="Text 21"/>
          <p:cNvSpPr txBox="1"/>
          <p:nvPr/>
        </p:nvSpPr>
        <p:spPr>
          <a:xfrm>
            <a:off x="9281160" y="5054437"/>
            <a:ext cx="2560320" cy="285659"/>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$60,000 × 12</a:t>
            </a:r>
            <a:endParaRPr lang="en-US" sz="800" dirty="0"/>
          </a:p>
        </p:txBody>
      </p:sp>
      <p:sp>
        <p:nvSpPr>
          <p:cNvPr id="25" name="Shape 22"/>
          <p:cNvSpPr/>
          <p:nvPr/>
        </p:nvSpPr>
        <p:spPr>
          <a:xfrm>
            <a:off x="6446520" y="1170432"/>
            <a:ext cx="5486400" cy="2697480"/>
          </a:xfrm>
          <a:prstGeom prst="roundRect">
            <a:avLst>
              <a:gd name="adj" fmla="val 3051"/>
            </a:avLst>
          </a:prstGeom>
          <a:solidFill>
            <a:srgbClr val="F2F4F5"/>
          </a:solidFill>
          <a:ln w="12700">
            <a:solidFill>
              <a:srgbClr val="CBD5E1"/>
            </a:solidFill>
            <a:prstDash val="solid"/>
          </a:ln>
        </p:spPr>
      </p:sp>
      <p:sp>
        <p:nvSpPr>
          <p:cNvPr id="26" name="Text 23"/>
          <p:cNvSpPr txBox="1"/>
          <p:nvPr/>
        </p:nvSpPr>
        <p:spPr>
          <a:xfrm>
            <a:off x="6537960" y="1261872"/>
            <a:ext cx="5303520" cy="274320"/>
          </a:xfrm>
          <a:prstGeom prst="rect">
            <a:avLst/>
          </a:prstGeom>
          <a:noFill/>
          <a:ln/>
        </p:spPr>
        <p:txBody>
          <a:bodyPr wrap="square" lIns="0" tIns="0" rIns="0" bIns="0" rtlCol="0" anchor="ctr"/>
          <a:lstStyle/>
          <a:p>
            <a:pPr algn="ctr" indent="0" marL="0">
              <a:buNone/>
            </a:pPr>
            <a:r>
              <a:rPr lang="en-US" sz="900" b="1" spc="100" kern="0" dirty="0">
                <a:solidFill>
                  <a:srgbClr val="0F2D56"/>
                </a:solidFill>
                <a:latin typeface="Calibri" pitchFamily="34" charset="0"/>
                <a:ea typeface="Calibri" pitchFamily="34" charset="-122"/>
                <a:cs typeface="Calibri" pitchFamily="34" charset="-120"/>
              </a:rPr>
              <a:t>IMPORTANT FINANCIAL DISTINCTIONS</a:t>
            </a:r>
            <a:endParaRPr lang="en-US" sz="900" dirty="0"/>
          </a:p>
        </p:txBody>
      </p:sp>
      <p:sp>
        <p:nvSpPr>
          <p:cNvPr id="27" name="Shape 24"/>
          <p:cNvSpPr/>
          <p:nvPr/>
        </p:nvSpPr>
        <p:spPr>
          <a:xfrm>
            <a:off x="6510528" y="1600200"/>
            <a:ext cx="256032" cy="256032"/>
          </a:xfrm>
          <a:prstGeom prst="roundRect">
            <a:avLst>
              <a:gd name="adj" fmla="val 14286"/>
            </a:avLst>
          </a:prstGeom>
          <a:solidFill>
            <a:srgbClr val="0F2D56"/>
          </a:solidFill>
          <a:ln w="12700">
            <a:solidFill>
              <a:srgbClr val="0F2D56"/>
            </a:solidFill>
            <a:prstDash val="solid"/>
          </a:ln>
        </p:spPr>
      </p:sp>
      <p:sp>
        <p:nvSpPr>
          <p:cNvPr id="28" name="Text 25"/>
          <p:cNvSpPr txBox="1"/>
          <p:nvPr/>
        </p:nvSpPr>
        <p:spPr>
          <a:xfrm>
            <a:off x="6510528" y="160020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①</a:t>
            </a:r>
            <a:endParaRPr lang="en-US" sz="800" dirty="0"/>
          </a:p>
        </p:txBody>
      </p:sp>
      <p:sp>
        <p:nvSpPr>
          <p:cNvPr id="29" name="Text 26"/>
          <p:cNvSpPr txBox="1"/>
          <p:nvPr/>
        </p:nvSpPr>
        <p:spPr>
          <a:xfrm>
            <a:off x="6803136" y="1572768"/>
            <a:ext cx="5029200" cy="310896"/>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ANNUALIZED RUN-RATE: Assumes monthly savings are fully realised and sustained for 12 months. Savings timeline varies by category.</a:t>
            </a:r>
            <a:endParaRPr lang="en-US" sz="850" dirty="0"/>
          </a:p>
        </p:txBody>
      </p:sp>
      <p:sp>
        <p:nvSpPr>
          <p:cNvPr id="30" name="Shape 27"/>
          <p:cNvSpPr/>
          <p:nvPr/>
        </p:nvSpPr>
        <p:spPr>
          <a:xfrm>
            <a:off x="6510528" y="1947672"/>
            <a:ext cx="256032" cy="256032"/>
          </a:xfrm>
          <a:prstGeom prst="roundRect">
            <a:avLst>
              <a:gd name="adj" fmla="val 14286"/>
            </a:avLst>
          </a:prstGeom>
          <a:solidFill>
            <a:srgbClr val="0F2D56"/>
          </a:solidFill>
          <a:ln w="12700">
            <a:solidFill>
              <a:srgbClr val="0F2D56"/>
            </a:solidFill>
            <a:prstDash val="solid"/>
          </a:ln>
        </p:spPr>
      </p:sp>
      <p:sp>
        <p:nvSpPr>
          <p:cNvPr id="31" name="Text 28"/>
          <p:cNvSpPr txBox="1"/>
          <p:nvPr/>
        </p:nvSpPr>
        <p:spPr>
          <a:xfrm>
            <a:off x="6510528" y="194767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②</a:t>
            </a:r>
            <a:endParaRPr lang="en-US" sz="800" dirty="0"/>
          </a:p>
        </p:txBody>
      </p:sp>
      <p:sp>
        <p:nvSpPr>
          <p:cNvPr id="32" name="Text 29"/>
          <p:cNvSpPr txBox="1"/>
          <p:nvPr/>
        </p:nvSpPr>
        <p:spPr>
          <a:xfrm>
            <a:off x="6803136" y="1920240"/>
            <a:ext cx="5029200" cy="310896"/>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ACTUAL CASH SAVINGS: Appear on the AWS bill only after implementation is complete. Weeks 1–2 savings visible in Month 2.</a:t>
            </a:r>
            <a:endParaRPr lang="en-US" sz="850" dirty="0"/>
          </a:p>
        </p:txBody>
      </p:sp>
      <p:sp>
        <p:nvSpPr>
          <p:cNvPr id="33" name="Shape 30"/>
          <p:cNvSpPr/>
          <p:nvPr/>
        </p:nvSpPr>
        <p:spPr>
          <a:xfrm>
            <a:off x="6510528" y="2295144"/>
            <a:ext cx="256032" cy="256032"/>
          </a:xfrm>
          <a:prstGeom prst="roundRect">
            <a:avLst>
              <a:gd name="adj" fmla="val 14286"/>
            </a:avLst>
          </a:prstGeom>
          <a:solidFill>
            <a:srgbClr val="0F2D56"/>
          </a:solidFill>
          <a:ln w="12700">
            <a:solidFill>
              <a:srgbClr val="0F2D56"/>
            </a:solidFill>
            <a:prstDash val="solid"/>
          </a:ln>
        </p:spPr>
      </p:sp>
      <p:sp>
        <p:nvSpPr>
          <p:cNvPr id="34" name="Text 31"/>
          <p:cNvSpPr txBox="1"/>
          <p:nvPr/>
        </p:nvSpPr>
        <p:spPr>
          <a:xfrm>
            <a:off x="6510528" y="229514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③</a:t>
            </a:r>
            <a:endParaRPr lang="en-US" sz="800" dirty="0"/>
          </a:p>
        </p:txBody>
      </p:sp>
      <p:sp>
        <p:nvSpPr>
          <p:cNvPr id="35" name="Text 32"/>
          <p:cNvSpPr txBox="1"/>
          <p:nvPr/>
        </p:nvSpPr>
        <p:spPr>
          <a:xfrm>
            <a:off x="6803136" y="2267712"/>
            <a:ext cx="5029200" cy="310896"/>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SAVINGS REALIZATION TIMING: Quick wins (storage, compute) appear within 30 days. Architecture changes take 60–90 days.</a:t>
            </a:r>
            <a:endParaRPr lang="en-US" sz="850" dirty="0"/>
          </a:p>
        </p:txBody>
      </p:sp>
      <p:sp>
        <p:nvSpPr>
          <p:cNvPr id="36" name="Shape 33"/>
          <p:cNvSpPr/>
          <p:nvPr/>
        </p:nvSpPr>
        <p:spPr>
          <a:xfrm>
            <a:off x="6510528" y="2642616"/>
            <a:ext cx="256032" cy="256032"/>
          </a:xfrm>
          <a:prstGeom prst="roundRect">
            <a:avLst>
              <a:gd name="adj" fmla="val 14286"/>
            </a:avLst>
          </a:prstGeom>
          <a:solidFill>
            <a:srgbClr val="0F2D56"/>
          </a:solidFill>
          <a:ln w="12700">
            <a:solidFill>
              <a:srgbClr val="0F2D56"/>
            </a:solidFill>
            <a:prstDash val="solid"/>
          </a:ln>
        </p:spPr>
      </p:sp>
      <p:sp>
        <p:nvSpPr>
          <p:cNvPr id="37" name="Text 34"/>
          <p:cNvSpPr txBox="1"/>
          <p:nvPr/>
        </p:nvSpPr>
        <p:spPr>
          <a:xfrm>
            <a:off x="6510528" y="264261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④</a:t>
            </a:r>
            <a:endParaRPr lang="en-US" sz="800" dirty="0"/>
          </a:p>
        </p:txBody>
      </p:sp>
      <p:sp>
        <p:nvSpPr>
          <p:cNvPr id="38" name="Text 35"/>
          <p:cNvSpPr txBox="1"/>
          <p:nvPr/>
        </p:nvSpPr>
        <p:spPr>
          <a:xfrm>
            <a:off x="6803136" y="2615184"/>
            <a:ext cx="5029200" cy="310896"/>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NOT GUARANTEED: Savings projections are modelled opportunities. Actual results depend on implementation quality and usage patterns.</a:t>
            </a:r>
            <a:endParaRPr lang="en-US" sz="850" dirty="0"/>
          </a:p>
        </p:txBody>
      </p:sp>
      <p:sp>
        <p:nvSpPr>
          <p:cNvPr id="39" name="Shape 36"/>
          <p:cNvSpPr/>
          <p:nvPr/>
        </p:nvSpPr>
        <p:spPr>
          <a:xfrm>
            <a:off x="6510528" y="2990088"/>
            <a:ext cx="256032" cy="256032"/>
          </a:xfrm>
          <a:prstGeom prst="roundRect">
            <a:avLst>
              <a:gd name="adj" fmla="val 14286"/>
            </a:avLst>
          </a:prstGeom>
          <a:solidFill>
            <a:srgbClr val="0F2D56"/>
          </a:solidFill>
          <a:ln w="12700">
            <a:solidFill>
              <a:srgbClr val="0F2D56"/>
            </a:solidFill>
            <a:prstDash val="solid"/>
          </a:ln>
        </p:spPr>
      </p:sp>
      <p:sp>
        <p:nvSpPr>
          <p:cNvPr id="40" name="Text 37"/>
          <p:cNvSpPr txBox="1"/>
          <p:nvPr/>
        </p:nvSpPr>
        <p:spPr>
          <a:xfrm>
            <a:off x="6510528" y="299008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⑤</a:t>
            </a:r>
            <a:endParaRPr lang="en-US" sz="800" dirty="0"/>
          </a:p>
        </p:txBody>
      </p:sp>
      <p:sp>
        <p:nvSpPr>
          <p:cNvPr id="41" name="Text 38"/>
          <p:cNvSpPr txBox="1"/>
          <p:nvPr/>
        </p:nvSpPr>
        <p:spPr>
          <a:xfrm>
            <a:off x="6803136" y="2962656"/>
            <a:ext cx="5029200" cy="310896"/>
          </a:xfrm>
          <a:prstGeom prst="rect">
            <a:avLst/>
          </a:prstGeom>
          <a:noFill/>
          <a:ln/>
        </p:spPr>
        <p:txBody>
          <a:bodyPr wrap="square" lIns="0" tIns="0" rIns="0" bIns="0" rtlCol="0" anchor="ctr"/>
          <a:lstStyle/>
          <a:p>
            <a:pPr indent="0" marL="0">
              <a:buNone/>
            </a:pPr>
            <a:r>
              <a:rPr lang="en-US" sz="850" dirty="0">
                <a:solidFill>
                  <a:srgbClr val="3A4A5C"/>
                </a:solidFill>
                <a:latin typeface="Calibri" pitchFamily="34" charset="0"/>
                <a:ea typeface="Calibri" pitchFamily="34" charset="-122"/>
                <a:cs typeface="Calibri" pitchFamily="34" charset="-120"/>
              </a:rPr>
              <a:t>MODELLED GAP: Expected case ($51,677.71) is $8,322.29 below CFO target. Gap is addressed through validation and additional opportunities.</a:t>
            </a:r>
            <a:endParaRPr lang="en-US" sz="850" dirty="0"/>
          </a:p>
        </p:txBody>
      </p:sp>
      <p:sp>
        <p:nvSpPr>
          <p:cNvPr id="42" name="Shape 39"/>
          <p:cNvSpPr/>
          <p:nvPr/>
        </p:nvSpPr>
        <p:spPr>
          <a:xfrm>
            <a:off x="274320" y="5513832"/>
            <a:ext cx="11612880" cy="502920"/>
          </a:xfrm>
          <a:prstGeom prst="roundRect">
            <a:avLst>
              <a:gd name="adj" fmla="val 12727"/>
            </a:avLst>
          </a:prstGeom>
          <a:solidFill>
            <a:srgbClr val="FDEBD0"/>
          </a:solidFill>
          <a:ln w="12700">
            <a:solidFill>
              <a:srgbClr val="E07B00"/>
            </a:solidFill>
            <a:prstDash val="solid"/>
          </a:ln>
        </p:spPr>
      </p:sp>
      <p:sp>
        <p:nvSpPr>
          <p:cNvPr id="43" name="Text 40"/>
          <p:cNvSpPr txBox="1"/>
          <p:nvPr/>
        </p:nvSpPr>
        <p:spPr>
          <a:xfrm>
            <a:off x="384048" y="5559552"/>
            <a:ext cx="11393424" cy="402336"/>
          </a:xfrm>
          <a:prstGeom prst="rect">
            <a:avLst/>
          </a:prstGeom>
          <a:noFill/>
          <a:ln/>
        </p:spPr>
        <p:txBody>
          <a:bodyPr wrap="square" lIns="0" tIns="0" rIns="0" bIns="0" rtlCol="0" anchor="ctr"/>
          <a:lstStyle/>
          <a:p>
            <a:pPr indent="0" marL="0">
              <a:buNone/>
            </a:pPr>
            <a:r>
              <a:rPr lang="en-US" sz="900" dirty="0">
                <a:solidFill>
                  <a:srgbClr val="3A4A5C"/>
                </a:solidFill>
                <a:latin typeface="Calibri" pitchFamily="34" charset="0"/>
                <a:ea typeface="Calibri" pitchFamily="34" charset="-122"/>
                <a:cs typeface="Calibri" pitchFamily="34" charset="-120"/>
              </a:rPr>
              <a:t>Note: If only 50% of projected savings are realised (worst-case scenario), monthly savings = approximately $15,688–$25,839. The governance framework and decision gates are designed to prevent this outcome and course-correct early.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Return on FinOps Investment</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Benefits, costs, and break-even framework — program ROI transparency</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16 / 18</a:t>
            </a:r>
            <a:endParaRPr lang="en-US" sz="700" dirty="0"/>
          </a:p>
        </p:txBody>
      </p:sp>
      <p:sp>
        <p:nvSpPr>
          <p:cNvPr id="8" name="Shape 6"/>
          <p:cNvSpPr/>
          <p:nvPr/>
        </p:nvSpPr>
        <p:spPr>
          <a:xfrm>
            <a:off x="274320" y="1188720"/>
            <a:ext cx="5394960" cy="5394960"/>
          </a:xfrm>
          <a:prstGeom prst="roundRect">
            <a:avLst>
              <a:gd name="adj" fmla="val 1695"/>
            </a:avLst>
          </a:prstGeom>
          <a:solidFill>
            <a:srgbClr val="000000"/>
          </a:solidFill>
          <a:ln w="12700">
            <a:solidFill>
              <a:srgbClr val="1A8A4A"/>
            </a:solidFill>
            <a:prstDash val="solid"/>
          </a:ln>
        </p:spPr>
      </p:sp>
      <p:sp>
        <p:nvSpPr>
          <p:cNvPr id="9" name="Shape 7"/>
          <p:cNvSpPr/>
          <p:nvPr/>
        </p:nvSpPr>
        <p:spPr>
          <a:xfrm>
            <a:off x="274320" y="1188720"/>
            <a:ext cx="5394960" cy="457200"/>
          </a:xfrm>
          <a:prstGeom prst="rect">
            <a:avLst/>
          </a:prstGeom>
          <a:solidFill>
            <a:srgbClr val="1A8A4A"/>
          </a:solidFill>
          <a:ln w="12700">
            <a:solidFill>
              <a:srgbClr val="1A8A4A"/>
            </a:solidFill>
            <a:prstDash val="solid"/>
          </a:ln>
        </p:spPr>
      </p:sp>
      <p:sp>
        <p:nvSpPr>
          <p:cNvPr id="10" name="Text 8"/>
          <p:cNvSpPr txBox="1"/>
          <p:nvPr/>
        </p:nvSpPr>
        <p:spPr>
          <a:xfrm>
            <a:off x="274320" y="1188720"/>
            <a:ext cx="53949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BENEFITS</a:t>
            </a:r>
            <a:endParaRPr lang="en-US" sz="1400" dirty="0"/>
          </a:p>
        </p:txBody>
      </p:sp>
      <p:sp>
        <p:nvSpPr>
          <p:cNvPr id="11" name="Shape 9"/>
          <p:cNvSpPr/>
          <p:nvPr/>
        </p:nvSpPr>
        <p:spPr>
          <a:xfrm>
            <a:off x="384048" y="1755648"/>
            <a:ext cx="5166360" cy="566928"/>
          </a:xfrm>
          <a:prstGeom prst="roundRect">
            <a:avLst>
              <a:gd name="adj" fmla="val 8065"/>
            </a:avLst>
          </a:prstGeom>
          <a:solidFill>
            <a:srgbClr val="FFFFFF"/>
          </a:solidFill>
          <a:ln w="12700">
            <a:solidFill>
              <a:srgbClr val="CBD5E1"/>
            </a:solidFill>
            <a:prstDash val="solid"/>
          </a:ln>
        </p:spPr>
      </p:sp>
      <p:sp>
        <p:nvSpPr>
          <p:cNvPr id="12" name="Text 10"/>
          <p:cNvSpPr txBox="1"/>
          <p:nvPr/>
        </p:nvSpPr>
        <p:spPr>
          <a:xfrm>
            <a:off x="502920" y="1783080"/>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Projected Annual Savings</a:t>
            </a:r>
            <a:endParaRPr lang="en-US" sz="950" dirty="0"/>
          </a:p>
        </p:txBody>
      </p:sp>
      <p:sp>
        <p:nvSpPr>
          <p:cNvPr id="13" name="Text 11"/>
          <p:cNvSpPr txBox="1"/>
          <p:nvPr/>
        </p:nvSpPr>
        <p:spPr>
          <a:xfrm>
            <a:off x="3703320" y="1783080"/>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$620,132.52–$646,843.68</a:t>
            </a:r>
            <a:endParaRPr lang="en-US" sz="950" dirty="0"/>
          </a:p>
        </p:txBody>
      </p:sp>
      <p:sp>
        <p:nvSpPr>
          <p:cNvPr id="14" name="Text 12"/>
          <p:cNvSpPr txBox="1"/>
          <p:nvPr/>
        </p:nvSpPr>
        <p:spPr>
          <a:xfrm>
            <a:off x="502920" y="2029968"/>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Expected–Best case run-rate</a:t>
            </a:r>
            <a:endParaRPr lang="en-US" sz="800" dirty="0"/>
          </a:p>
        </p:txBody>
      </p:sp>
      <p:sp>
        <p:nvSpPr>
          <p:cNvPr id="15" name="Shape 13"/>
          <p:cNvSpPr/>
          <p:nvPr/>
        </p:nvSpPr>
        <p:spPr>
          <a:xfrm>
            <a:off x="384048" y="2377440"/>
            <a:ext cx="5166360" cy="566928"/>
          </a:xfrm>
          <a:prstGeom prst="roundRect">
            <a:avLst>
              <a:gd name="adj" fmla="val 8065"/>
            </a:avLst>
          </a:prstGeom>
          <a:solidFill>
            <a:srgbClr val="FFFFFF"/>
          </a:solidFill>
          <a:ln w="12700">
            <a:solidFill>
              <a:srgbClr val="CBD5E1"/>
            </a:solidFill>
            <a:prstDash val="solid"/>
          </a:ln>
        </p:spPr>
      </p:sp>
      <p:sp>
        <p:nvSpPr>
          <p:cNvPr id="16" name="Text 14"/>
          <p:cNvSpPr txBox="1"/>
          <p:nvPr/>
        </p:nvSpPr>
        <p:spPr>
          <a:xfrm>
            <a:off x="502920" y="2404872"/>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Avoided Cost Growth</a:t>
            </a:r>
            <a:endParaRPr lang="en-US" sz="950" dirty="0"/>
          </a:p>
        </p:txBody>
      </p:sp>
      <p:sp>
        <p:nvSpPr>
          <p:cNvPr id="17" name="Text 15"/>
          <p:cNvSpPr txBox="1"/>
          <p:nvPr/>
        </p:nvSpPr>
        <p:spPr>
          <a:xfrm>
            <a:off x="3703320" y="2404872"/>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Structural</a:t>
            </a:r>
            <a:endParaRPr lang="en-US" sz="950" dirty="0"/>
          </a:p>
        </p:txBody>
      </p:sp>
      <p:sp>
        <p:nvSpPr>
          <p:cNvPr id="18" name="Text 16"/>
          <p:cNvSpPr txBox="1"/>
          <p:nvPr/>
        </p:nvSpPr>
        <p:spPr>
          <a:xfrm>
            <a:off x="502920" y="2651760"/>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Prevents return to uncontrolled growth trajectory</a:t>
            </a:r>
            <a:endParaRPr lang="en-US" sz="800" dirty="0"/>
          </a:p>
        </p:txBody>
      </p:sp>
      <p:sp>
        <p:nvSpPr>
          <p:cNvPr id="19" name="Shape 17"/>
          <p:cNvSpPr/>
          <p:nvPr/>
        </p:nvSpPr>
        <p:spPr>
          <a:xfrm>
            <a:off x="384048" y="2999232"/>
            <a:ext cx="5166360" cy="566928"/>
          </a:xfrm>
          <a:prstGeom prst="roundRect">
            <a:avLst>
              <a:gd name="adj" fmla="val 8065"/>
            </a:avLst>
          </a:prstGeom>
          <a:solidFill>
            <a:srgbClr val="FFFFFF"/>
          </a:solidFill>
          <a:ln w="12700">
            <a:solidFill>
              <a:srgbClr val="CBD5E1"/>
            </a:solidFill>
            <a:prstDash val="solid"/>
          </a:ln>
        </p:spPr>
      </p:sp>
      <p:sp>
        <p:nvSpPr>
          <p:cNvPr id="20" name="Text 18"/>
          <p:cNvSpPr txBox="1"/>
          <p:nvPr/>
        </p:nvSpPr>
        <p:spPr>
          <a:xfrm>
            <a:off x="502920" y="3026664"/>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Anomaly Leakage Reduction</a:t>
            </a:r>
            <a:endParaRPr lang="en-US" sz="950" dirty="0"/>
          </a:p>
        </p:txBody>
      </p:sp>
      <p:sp>
        <p:nvSpPr>
          <p:cNvPr id="21" name="Text 19"/>
          <p:cNvSpPr txBox="1"/>
          <p:nvPr/>
        </p:nvSpPr>
        <p:spPr>
          <a:xfrm>
            <a:off x="3703320" y="3026664"/>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$114,110.90</a:t>
            </a:r>
            <a:endParaRPr lang="en-US" sz="950" dirty="0"/>
          </a:p>
        </p:txBody>
      </p:sp>
      <p:sp>
        <p:nvSpPr>
          <p:cNvPr id="22" name="Text 20"/>
          <p:cNvSpPr txBox="1"/>
          <p:nvPr/>
        </p:nvSpPr>
        <p:spPr>
          <a:xfrm>
            <a:off x="502920" y="3273552"/>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Observed excess cost over analysis period</a:t>
            </a:r>
            <a:endParaRPr lang="en-US" sz="800" dirty="0"/>
          </a:p>
        </p:txBody>
      </p:sp>
      <p:sp>
        <p:nvSpPr>
          <p:cNvPr id="23" name="Shape 21"/>
          <p:cNvSpPr/>
          <p:nvPr/>
        </p:nvSpPr>
        <p:spPr>
          <a:xfrm>
            <a:off x="384048" y="3621024"/>
            <a:ext cx="5166360" cy="566928"/>
          </a:xfrm>
          <a:prstGeom prst="roundRect">
            <a:avLst>
              <a:gd name="adj" fmla="val 8065"/>
            </a:avLst>
          </a:prstGeom>
          <a:solidFill>
            <a:srgbClr val="FFFFFF"/>
          </a:solidFill>
          <a:ln w="12700">
            <a:solidFill>
              <a:srgbClr val="CBD5E1"/>
            </a:solidFill>
            <a:prstDash val="solid"/>
          </a:ln>
        </p:spPr>
      </p:sp>
      <p:sp>
        <p:nvSpPr>
          <p:cNvPr id="24" name="Text 22"/>
          <p:cNvSpPr txBox="1"/>
          <p:nvPr/>
        </p:nvSpPr>
        <p:spPr>
          <a:xfrm>
            <a:off x="502920" y="3648456"/>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Improved Forecastability</a:t>
            </a:r>
            <a:endParaRPr lang="en-US" sz="950" dirty="0"/>
          </a:p>
        </p:txBody>
      </p:sp>
      <p:sp>
        <p:nvSpPr>
          <p:cNvPr id="25" name="Text 23"/>
          <p:cNvSpPr txBox="1"/>
          <p:nvPr/>
        </p:nvSpPr>
        <p:spPr>
          <a:xfrm>
            <a:off x="3703320" y="3648456"/>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Qualitative</a:t>
            </a:r>
            <a:endParaRPr lang="en-US" sz="950" dirty="0"/>
          </a:p>
        </p:txBody>
      </p:sp>
      <p:sp>
        <p:nvSpPr>
          <p:cNvPr id="26" name="Text 24"/>
          <p:cNvSpPr txBox="1"/>
          <p:nvPr/>
        </p:nvSpPr>
        <p:spPr>
          <a:xfrm>
            <a:off x="502920" y="3895344"/>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80/90/100/120% threshold governance</a:t>
            </a:r>
            <a:endParaRPr lang="en-US" sz="800" dirty="0"/>
          </a:p>
        </p:txBody>
      </p:sp>
      <p:sp>
        <p:nvSpPr>
          <p:cNvPr id="27" name="Shape 25"/>
          <p:cNvSpPr/>
          <p:nvPr/>
        </p:nvSpPr>
        <p:spPr>
          <a:xfrm>
            <a:off x="384048" y="4242816"/>
            <a:ext cx="5166360" cy="566928"/>
          </a:xfrm>
          <a:prstGeom prst="roundRect">
            <a:avLst>
              <a:gd name="adj" fmla="val 8065"/>
            </a:avLst>
          </a:prstGeom>
          <a:solidFill>
            <a:srgbClr val="FFFFFF"/>
          </a:solidFill>
          <a:ln w="12700">
            <a:solidFill>
              <a:srgbClr val="CBD5E1"/>
            </a:solidFill>
            <a:prstDash val="solid"/>
          </a:ln>
        </p:spPr>
      </p:sp>
      <p:sp>
        <p:nvSpPr>
          <p:cNvPr id="28" name="Text 26"/>
          <p:cNvSpPr txBox="1"/>
          <p:nvPr/>
        </p:nvSpPr>
        <p:spPr>
          <a:xfrm>
            <a:off x="502920" y="4270248"/>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Tag Compliance → Attribution</a:t>
            </a:r>
            <a:endParaRPr lang="en-US" sz="950" dirty="0"/>
          </a:p>
        </p:txBody>
      </p:sp>
      <p:sp>
        <p:nvSpPr>
          <p:cNvPr id="29" name="Text 27"/>
          <p:cNvSpPr txBox="1"/>
          <p:nvPr/>
        </p:nvSpPr>
        <p:spPr>
          <a:xfrm>
            <a:off x="3703320" y="4270248"/>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82.7%→95%+</a:t>
            </a:r>
            <a:endParaRPr lang="en-US" sz="950" dirty="0"/>
          </a:p>
        </p:txBody>
      </p:sp>
      <p:sp>
        <p:nvSpPr>
          <p:cNvPr id="30" name="Text 28"/>
          <p:cNvSpPr txBox="1"/>
          <p:nvPr/>
        </p:nvSpPr>
        <p:spPr>
          <a:xfrm>
            <a:off x="502920" y="4517136"/>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Enables accurate cost-per-team reporting</a:t>
            </a:r>
            <a:endParaRPr lang="en-US" sz="800" dirty="0"/>
          </a:p>
        </p:txBody>
      </p:sp>
      <p:sp>
        <p:nvSpPr>
          <p:cNvPr id="31" name="Shape 29"/>
          <p:cNvSpPr/>
          <p:nvPr/>
        </p:nvSpPr>
        <p:spPr>
          <a:xfrm>
            <a:off x="384048" y="4864608"/>
            <a:ext cx="5166360" cy="566928"/>
          </a:xfrm>
          <a:prstGeom prst="roundRect">
            <a:avLst>
              <a:gd name="adj" fmla="val 8065"/>
            </a:avLst>
          </a:prstGeom>
          <a:solidFill>
            <a:srgbClr val="FFFFFF"/>
          </a:solidFill>
          <a:ln w="12700">
            <a:solidFill>
              <a:srgbClr val="CBD5E1"/>
            </a:solidFill>
            <a:prstDash val="solid"/>
          </a:ln>
        </p:spPr>
      </p:sp>
      <p:sp>
        <p:nvSpPr>
          <p:cNvPr id="32" name="Text 30"/>
          <p:cNvSpPr txBox="1"/>
          <p:nvPr/>
        </p:nvSpPr>
        <p:spPr>
          <a:xfrm>
            <a:off x="502920" y="4892040"/>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MTTD Improvement</a:t>
            </a:r>
            <a:endParaRPr lang="en-US" sz="950" dirty="0"/>
          </a:p>
        </p:txBody>
      </p:sp>
      <p:sp>
        <p:nvSpPr>
          <p:cNvPr id="33" name="Text 31"/>
          <p:cNvSpPr txBox="1"/>
          <p:nvPr/>
        </p:nvSpPr>
        <p:spPr>
          <a:xfrm>
            <a:off x="3703320" y="4892040"/>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&lt;4 hours (P2)</a:t>
            </a:r>
            <a:endParaRPr lang="en-US" sz="950" dirty="0"/>
          </a:p>
        </p:txBody>
      </p:sp>
      <p:sp>
        <p:nvSpPr>
          <p:cNvPr id="34" name="Text 32"/>
          <p:cNvSpPr txBox="1"/>
          <p:nvPr/>
        </p:nvSpPr>
        <p:spPr>
          <a:xfrm>
            <a:off x="502920" y="5138928"/>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Target — prevents multi-day anomaly leakage</a:t>
            </a:r>
            <a:endParaRPr lang="en-US" sz="800" dirty="0"/>
          </a:p>
        </p:txBody>
      </p:sp>
      <p:sp>
        <p:nvSpPr>
          <p:cNvPr id="35" name="Shape 33"/>
          <p:cNvSpPr/>
          <p:nvPr/>
        </p:nvSpPr>
        <p:spPr>
          <a:xfrm>
            <a:off x="384048" y="5486400"/>
            <a:ext cx="5166360" cy="566928"/>
          </a:xfrm>
          <a:prstGeom prst="roundRect">
            <a:avLst>
              <a:gd name="adj" fmla="val 8065"/>
            </a:avLst>
          </a:prstGeom>
          <a:solidFill>
            <a:srgbClr val="FFFFFF"/>
          </a:solidFill>
          <a:ln w="12700">
            <a:solidFill>
              <a:srgbClr val="CBD5E1"/>
            </a:solidFill>
            <a:prstDash val="solid"/>
          </a:ln>
        </p:spPr>
      </p:sp>
      <p:sp>
        <p:nvSpPr>
          <p:cNvPr id="36" name="Text 34"/>
          <p:cNvSpPr txBox="1"/>
          <p:nvPr/>
        </p:nvSpPr>
        <p:spPr>
          <a:xfrm>
            <a:off x="502920" y="5513832"/>
            <a:ext cx="3200400" cy="256032"/>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RI Utilisation</a:t>
            </a:r>
            <a:endParaRPr lang="en-US" sz="950" dirty="0"/>
          </a:p>
        </p:txBody>
      </p:sp>
      <p:sp>
        <p:nvSpPr>
          <p:cNvPr id="37" name="Text 35"/>
          <p:cNvSpPr txBox="1"/>
          <p:nvPr/>
        </p:nvSpPr>
        <p:spPr>
          <a:xfrm>
            <a:off x="3703320" y="5513832"/>
            <a:ext cx="1783080" cy="256032"/>
          </a:xfrm>
          <a:prstGeom prst="rect">
            <a:avLst/>
          </a:prstGeom>
          <a:noFill/>
          <a:ln/>
        </p:spPr>
        <p:txBody>
          <a:bodyPr wrap="square" lIns="0" tIns="0" rIns="0" bIns="0" rtlCol="0" anchor="ctr"/>
          <a:lstStyle/>
          <a:p>
            <a:pPr algn="r" indent="0" marL="0">
              <a:buNone/>
            </a:pPr>
            <a:r>
              <a:rPr lang="en-US" sz="950" b="1" dirty="0">
                <a:solidFill>
                  <a:srgbClr val="1A8A4A"/>
                </a:solidFill>
                <a:latin typeface="Calibri" pitchFamily="34" charset="0"/>
                <a:ea typeface="Calibri" pitchFamily="34" charset="-122"/>
                <a:cs typeface="Calibri" pitchFamily="34" charset="-120"/>
              </a:rPr>
              <a:t>71.4%→85%+</a:t>
            </a:r>
            <a:endParaRPr lang="en-US" sz="950" dirty="0"/>
          </a:p>
        </p:txBody>
      </p:sp>
      <p:sp>
        <p:nvSpPr>
          <p:cNvPr id="38" name="Text 36"/>
          <p:cNvSpPr txBox="1"/>
          <p:nvPr/>
        </p:nvSpPr>
        <p:spPr>
          <a:xfrm>
            <a:off x="502920" y="5760720"/>
            <a:ext cx="4846320" cy="201168"/>
          </a:xfrm>
          <a:prstGeom prst="rect">
            <a:avLst/>
          </a:prstGeom>
          <a:noFill/>
          <a:ln/>
        </p:spPr>
        <p:txBody>
          <a:bodyPr wrap="square" lIns="0" tIns="0" rIns="0" bIns="0" rtlCol="0" anchor="ctr"/>
          <a:lstStyle/>
          <a:p>
            <a:pPr indent="0" marL="0">
              <a:buNone/>
            </a:pPr>
            <a:r>
              <a:rPr lang="en-US" sz="800" dirty="0">
                <a:solidFill>
                  <a:srgbClr val="7F8C8D"/>
                </a:solidFill>
                <a:latin typeface="Calibri" pitchFamily="34" charset="0"/>
                <a:ea typeface="Calibri" pitchFamily="34" charset="-122"/>
                <a:cs typeface="Calibri" pitchFamily="34" charset="-120"/>
              </a:rPr>
              <a:t>Current → target — improves commitment ROI</a:t>
            </a:r>
            <a:endParaRPr lang="en-US" sz="800" dirty="0"/>
          </a:p>
        </p:txBody>
      </p:sp>
      <p:sp>
        <p:nvSpPr>
          <p:cNvPr id="39" name="Shape 37"/>
          <p:cNvSpPr/>
          <p:nvPr/>
        </p:nvSpPr>
        <p:spPr>
          <a:xfrm>
            <a:off x="5870448" y="1188720"/>
            <a:ext cx="6016752" cy="5394960"/>
          </a:xfrm>
          <a:prstGeom prst="roundRect">
            <a:avLst>
              <a:gd name="adj" fmla="val 1695"/>
            </a:avLst>
          </a:prstGeom>
          <a:solidFill>
            <a:srgbClr val="F2F4F5"/>
          </a:solidFill>
          <a:ln w="12700">
            <a:solidFill>
              <a:srgbClr val="CBD5E1"/>
            </a:solidFill>
            <a:prstDash val="solid"/>
          </a:ln>
        </p:spPr>
      </p:sp>
      <p:sp>
        <p:nvSpPr>
          <p:cNvPr id="40" name="Shape 38"/>
          <p:cNvSpPr/>
          <p:nvPr/>
        </p:nvSpPr>
        <p:spPr>
          <a:xfrm>
            <a:off x="5870448" y="1188720"/>
            <a:ext cx="6016752" cy="457200"/>
          </a:xfrm>
          <a:prstGeom prst="rect">
            <a:avLst/>
          </a:prstGeom>
          <a:solidFill>
            <a:srgbClr val="0F2D56"/>
          </a:solidFill>
          <a:ln w="12700">
            <a:solidFill>
              <a:srgbClr val="0F2D56"/>
            </a:solidFill>
            <a:prstDash val="solid"/>
          </a:ln>
        </p:spPr>
      </p:sp>
      <p:sp>
        <p:nvSpPr>
          <p:cNvPr id="41" name="Text 39"/>
          <p:cNvSpPr txBox="1"/>
          <p:nvPr/>
        </p:nvSpPr>
        <p:spPr>
          <a:xfrm>
            <a:off x="5870448" y="1188720"/>
            <a:ext cx="60167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PROGRAM COSTS &amp; ROI FORMULA</a:t>
            </a:r>
            <a:endParaRPr lang="en-US" sz="1300" dirty="0"/>
          </a:p>
        </p:txBody>
      </p:sp>
      <p:sp>
        <p:nvSpPr>
          <p:cNvPr id="42" name="Shape 40"/>
          <p:cNvSpPr/>
          <p:nvPr/>
        </p:nvSpPr>
        <p:spPr>
          <a:xfrm>
            <a:off x="5989320" y="1755648"/>
            <a:ext cx="5760720" cy="493776"/>
          </a:xfrm>
          <a:prstGeom prst="roundRect">
            <a:avLst>
              <a:gd name="adj" fmla="val 9259"/>
            </a:avLst>
          </a:prstGeom>
          <a:solidFill>
            <a:srgbClr val="FFFFFF"/>
          </a:solidFill>
          <a:ln w="12700">
            <a:solidFill>
              <a:srgbClr val="CBD5E1"/>
            </a:solidFill>
            <a:prstDash val="solid"/>
          </a:ln>
        </p:spPr>
      </p:sp>
      <p:sp>
        <p:nvSpPr>
          <p:cNvPr id="43" name="Text 41"/>
          <p:cNvSpPr txBox="1"/>
          <p:nvPr/>
        </p:nvSpPr>
        <p:spPr>
          <a:xfrm>
            <a:off x="6108192" y="1783080"/>
            <a:ext cx="3200400" cy="402336"/>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FinOps Personnel (Lead)</a:t>
            </a:r>
            <a:endParaRPr lang="en-US" sz="950" dirty="0"/>
          </a:p>
        </p:txBody>
      </p:sp>
      <p:sp>
        <p:nvSpPr>
          <p:cNvPr id="44" name="Text 42"/>
          <p:cNvSpPr txBox="1"/>
          <p:nvPr/>
        </p:nvSpPr>
        <p:spPr>
          <a:xfrm>
            <a:off x="9235440" y="1783080"/>
            <a:ext cx="2423160" cy="402336"/>
          </a:xfrm>
          <a:prstGeom prst="rect">
            <a:avLst/>
          </a:prstGeom>
          <a:noFill/>
          <a:ln/>
        </p:spPr>
        <p:txBody>
          <a:bodyPr wrap="square" lIns="0" tIns="0" rIns="0" bIns="0" rtlCol="0" anchor="ctr"/>
          <a:lstStyle/>
          <a:p>
            <a:pPr algn="r" indent="0" marL="0">
              <a:buNone/>
            </a:pPr>
            <a:r>
              <a:rPr lang="en-US" sz="900" dirty="0">
                <a:solidFill>
                  <a:srgbClr val="E07B00"/>
                </a:solidFill>
                <a:latin typeface="Calibri" pitchFamily="34" charset="0"/>
                <a:ea typeface="Calibri" pitchFamily="34" charset="-122"/>
                <a:cs typeface="Calibri" pitchFamily="34" charset="-120"/>
              </a:rPr>
              <a:t>TBD by CFO/Finance</a:t>
            </a:r>
            <a:endParaRPr lang="en-US" sz="900" dirty="0"/>
          </a:p>
        </p:txBody>
      </p:sp>
      <p:sp>
        <p:nvSpPr>
          <p:cNvPr id="45" name="Shape 43"/>
          <p:cNvSpPr/>
          <p:nvPr/>
        </p:nvSpPr>
        <p:spPr>
          <a:xfrm>
            <a:off x="5989320" y="2304288"/>
            <a:ext cx="5760720" cy="493776"/>
          </a:xfrm>
          <a:prstGeom prst="roundRect">
            <a:avLst>
              <a:gd name="adj" fmla="val 9259"/>
            </a:avLst>
          </a:prstGeom>
          <a:solidFill>
            <a:srgbClr val="FFFFFF"/>
          </a:solidFill>
          <a:ln w="12700">
            <a:solidFill>
              <a:srgbClr val="CBD5E1"/>
            </a:solidFill>
            <a:prstDash val="solid"/>
          </a:ln>
        </p:spPr>
      </p:sp>
      <p:sp>
        <p:nvSpPr>
          <p:cNvPr id="46" name="Text 44"/>
          <p:cNvSpPr txBox="1"/>
          <p:nvPr/>
        </p:nvSpPr>
        <p:spPr>
          <a:xfrm>
            <a:off x="6108192" y="2331720"/>
            <a:ext cx="3200400" cy="402336"/>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Engineering Effort (FTEs)</a:t>
            </a:r>
            <a:endParaRPr lang="en-US" sz="950" dirty="0"/>
          </a:p>
        </p:txBody>
      </p:sp>
      <p:sp>
        <p:nvSpPr>
          <p:cNvPr id="47" name="Text 45"/>
          <p:cNvSpPr txBox="1"/>
          <p:nvPr/>
        </p:nvSpPr>
        <p:spPr>
          <a:xfrm>
            <a:off x="9235440" y="2331720"/>
            <a:ext cx="2423160" cy="402336"/>
          </a:xfrm>
          <a:prstGeom prst="rect">
            <a:avLst/>
          </a:prstGeom>
          <a:noFill/>
          <a:ln/>
        </p:spPr>
        <p:txBody>
          <a:bodyPr wrap="square" lIns="0" tIns="0" rIns="0" bIns="0" rtlCol="0" anchor="ctr"/>
          <a:lstStyle/>
          <a:p>
            <a:pPr algn="r" indent="0" marL="0">
              <a:buNone/>
            </a:pPr>
            <a:r>
              <a:rPr lang="en-US" sz="900" dirty="0">
                <a:solidFill>
                  <a:srgbClr val="E07B00"/>
                </a:solidFill>
                <a:latin typeface="Calibri" pitchFamily="34" charset="0"/>
                <a:ea typeface="Calibri" pitchFamily="34" charset="-122"/>
                <a:cs typeface="Calibri" pitchFamily="34" charset="-120"/>
              </a:rPr>
              <a:t>TBD — scope in Wk 1</a:t>
            </a:r>
            <a:endParaRPr lang="en-US" sz="900" dirty="0"/>
          </a:p>
        </p:txBody>
      </p:sp>
      <p:sp>
        <p:nvSpPr>
          <p:cNvPr id="48" name="Shape 46"/>
          <p:cNvSpPr/>
          <p:nvPr/>
        </p:nvSpPr>
        <p:spPr>
          <a:xfrm>
            <a:off x="5989320" y="2852928"/>
            <a:ext cx="5760720" cy="493776"/>
          </a:xfrm>
          <a:prstGeom prst="roundRect">
            <a:avLst>
              <a:gd name="adj" fmla="val 9259"/>
            </a:avLst>
          </a:prstGeom>
          <a:solidFill>
            <a:srgbClr val="FFFFFF"/>
          </a:solidFill>
          <a:ln w="12700">
            <a:solidFill>
              <a:srgbClr val="CBD5E1"/>
            </a:solidFill>
            <a:prstDash val="solid"/>
          </a:ln>
        </p:spPr>
      </p:sp>
      <p:sp>
        <p:nvSpPr>
          <p:cNvPr id="49" name="Text 47"/>
          <p:cNvSpPr txBox="1"/>
          <p:nvPr/>
        </p:nvSpPr>
        <p:spPr>
          <a:xfrm>
            <a:off x="6108192" y="2880360"/>
            <a:ext cx="3200400" cy="402336"/>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Tooling (Infracost, etc.)</a:t>
            </a:r>
            <a:endParaRPr lang="en-US" sz="950" dirty="0"/>
          </a:p>
        </p:txBody>
      </p:sp>
      <p:sp>
        <p:nvSpPr>
          <p:cNvPr id="50" name="Text 48"/>
          <p:cNvSpPr txBox="1"/>
          <p:nvPr/>
        </p:nvSpPr>
        <p:spPr>
          <a:xfrm>
            <a:off x="9235440" y="2880360"/>
            <a:ext cx="2423160" cy="402336"/>
          </a:xfrm>
          <a:prstGeom prst="rect">
            <a:avLst/>
          </a:prstGeom>
          <a:noFill/>
          <a:ln/>
        </p:spPr>
        <p:txBody>
          <a:bodyPr wrap="square" lIns="0" tIns="0" rIns="0" bIns="0" rtlCol="0" anchor="ctr"/>
          <a:lstStyle/>
          <a:p>
            <a:pPr algn="r" indent="0" marL="0">
              <a:buNone/>
            </a:pPr>
            <a:r>
              <a:rPr lang="en-US" sz="900" dirty="0">
                <a:solidFill>
                  <a:srgbClr val="E07B00"/>
                </a:solidFill>
                <a:latin typeface="Calibri" pitchFamily="34" charset="0"/>
                <a:ea typeface="Calibri" pitchFamily="34" charset="-122"/>
                <a:cs typeface="Calibri" pitchFamily="34" charset="-120"/>
              </a:rPr>
              <a:t>TBD — primarily open source</a:t>
            </a:r>
            <a:endParaRPr lang="en-US" sz="900" dirty="0"/>
          </a:p>
        </p:txBody>
      </p:sp>
      <p:sp>
        <p:nvSpPr>
          <p:cNvPr id="51" name="Shape 49"/>
          <p:cNvSpPr/>
          <p:nvPr/>
        </p:nvSpPr>
        <p:spPr>
          <a:xfrm>
            <a:off x="5989320" y="3401568"/>
            <a:ext cx="5760720" cy="493776"/>
          </a:xfrm>
          <a:prstGeom prst="roundRect">
            <a:avLst>
              <a:gd name="adj" fmla="val 9259"/>
            </a:avLst>
          </a:prstGeom>
          <a:solidFill>
            <a:srgbClr val="FFFFFF"/>
          </a:solidFill>
          <a:ln w="12700">
            <a:solidFill>
              <a:srgbClr val="CBD5E1"/>
            </a:solidFill>
            <a:prstDash val="solid"/>
          </a:ln>
        </p:spPr>
      </p:sp>
      <p:sp>
        <p:nvSpPr>
          <p:cNvPr id="52" name="Text 50"/>
          <p:cNvSpPr txBox="1"/>
          <p:nvPr/>
        </p:nvSpPr>
        <p:spPr>
          <a:xfrm>
            <a:off x="6108192" y="3429000"/>
            <a:ext cx="3200400" cy="402336"/>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Implementation Effort</a:t>
            </a:r>
            <a:endParaRPr lang="en-US" sz="950" dirty="0"/>
          </a:p>
        </p:txBody>
      </p:sp>
      <p:sp>
        <p:nvSpPr>
          <p:cNvPr id="53" name="Text 51"/>
          <p:cNvSpPr txBox="1"/>
          <p:nvPr/>
        </p:nvSpPr>
        <p:spPr>
          <a:xfrm>
            <a:off x="9235440" y="3429000"/>
            <a:ext cx="2423160" cy="402336"/>
          </a:xfrm>
          <a:prstGeom prst="rect">
            <a:avLst/>
          </a:prstGeom>
          <a:noFill/>
          <a:ln/>
        </p:spPr>
        <p:txBody>
          <a:bodyPr wrap="square" lIns="0" tIns="0" rIns="0" bIns="0" rtlCol="0" anchor="ctr"/>
          <a:lstStyle/>
          <a:p>
            <a:pPr algn="r" indent="0" marL="0">
              <a:buNone/>
            </a:pPr>
            <a:r>
              <a:rPr lang="en-US" sz="900" dirty="0">
                <a:solidFill>
                  <a:srgbClr val="E07B00"/>
                </a:solidFill>
                <a:latin typeface="Calibri" pitchFamily="34" charset="0"/>
                <a:ea typeface="Calibri" pitchFamily="34" charset="-122"/>
                <a:cs typeface="Calibri" pitchFamily="34" charset="-120"/>
              </a:rPr>
              <a:t>TBD per task (see scorecard)</a:t>
            </a:r>
            <a:endParaRPr lang="en-US" sz="900" dirty="0"/>
          </a:p>
        </p:txBody>
      </p:sp>
      <p:sp>
        <p:nvSpPr>
          <p:cNvPr id="54" name="Shape 52"/>
          <p:cNvSpPr/>
          <p:nvPr/>
        </p:nvSpPr>
        <p:spPr>
          <a:xfrm>
            <a:off x="5989320" y="3950208"/>
            <a:ext cx="5760720" cy="493776"/>
          </a:xfrm>
          <a:prstGeom prst="roundRect">
            <a:avLst>
              <a:gd name="adj" fmla="val 9259"/>
            </a:avLst>
          </a:prstGeom>
          <a:solidFill>
            <a:srgbClr val="FFFFFF"/>
          </a:solidFill>
          <a:ln w="12700">
            <a:solidFill>
              <a:srgbClr val="CBD5E1"/>
            </a:solidFill>
            <a:prstDash val="solid"/>
          </a:ln>
        </p:spPr>
      </p:sp>
      <p:sp>
        <p:nvSpPr>
          <p:cNvPr id="55" name="Text 53"/>
          <p:cNvSpPr txBox="1"/>
          <p:nvPr/>
        </p:nvSpPr>
        <p:spPr>
          <a:xfrm>
            <a:off x="6108192" y="3977640"/>
            <a:ext cx="3200400" cy="402336"/>
          </a:xfrm>
          <a:prstGeom prst="rect">
            <a:avLst/>
          </a:prstGeom>
          <a:noFill/>
          <a:ln/>
        </p:spPr>
        <p:txBody>
          <a:bodyPr wrap="square" lIns="0" tIns="0" rIns="0" bIns="0" rtlCol="0" anchor="ctr"/>
          <a:lstStyle/>
          <a:p>
            <a:pPr indent="0" marL="0">
              <a:buNone/>
            </a:pPr>
            <a:r>
              <a:rPr lang="en-US" sz="950" b="1" dirty="0">
                <a:solidFill>
                  <a:srgbClr val="0F2D56"/>
                </a:solidFill>
                <a:latin typeface="Calibri" pitchFamily="34" charset="0"/>
                <a:ea typeface="Calibri" pitchFamily="34" charset="-122"/>
                <a:cs typeface="Calibri" pitchFamily="34" charset="-120"/>
              </a:rPr>
              <a:t>Training &amp; Change Mgmt</a:t>
            </a:r>
            <a:endParaRPr lang="en-US" sz="950" dirty="0"/>
          </a:p>
        </p:txBody>
      </p:sp>
      <p:sp>
        <p:nvSpPr>
          <p:cNvPr id="56" name="Text 54"/>
          <p:cNvSpPr txBox="1"/>
          <p:nvPr/>
        </p:nvSpPr>
        <p:spPr>
          <a:xfrm>
            <a:off x="9235440" y="3977640"/>
            <a:ext cx="2423160" cy="402336"/>
          </a:xfrm>
          <a:prstGeom prst="rect">
            <a:avLst/>
          </a:prstGeom>
          <a:noFill/>
          <a:ln/>
        </p:spPr>
        <p:txBody>
          <a:bodyPr wrap="square" lIns="0" tIns="0" rIns="0" bIns="0" rtlCol="0" anchor="ctr"/>
          <a:lstStyle/>
          <a:p>
            <a:pPr algn="r" indent="0" marL="0">
              <a:buNone/>
            </a:pPr>
            <a:r>
              <a:rPr lang="en-US" sz="900" dirty="0">
                <a:solidFill>
                  <a:srgbClr val="E07B00"/>
                </a:solidFill>
                <a:latin typeface="Calibri" pitchFamily="34" charset="0"/>
                <a:ea typeface="Calibri" pitchFamily="34" charset="-122"/>
                <a:cs typeface="Calibri" pitchFamily="34" charset="-120"/>
              </a:rPr>
              <a:t>TBD</a:t>
            </a:r>
            <a:endParaRPr lang="en-US" sz="900" dirty="0"/>
          </a:p>
        </p:txBody>
      </p:sp>
      <p:sp>
        <p:nvSpPr>
          <p:cNvPr id="57" name="Shape 55"/>
          <p:cNvSpPr/>
          <p:nvPr/>
        </p:nvSpPr>
        <p:spPr>
          <a:xfrm>
            <a:off x="5989320" y="4553712"/>
            <a:ext cx="5760720" cy="1078992"/>
          </a:xfrm>
          <a:prstGeom prst="roundRect">
            <a:avLst>
              <a:gd name="adj" fmla="val 6780"/>
            </a:avLst>
          </a:prstGeom>
          <a:solidFill>
            <a:srgbClr val="0F2D56"/>
          </a:solidFill>
          <a:ln w="12700">
            <a:solidFill>
              <a:srgbClr val="0F2D56"/>
            </a:solidFill>
            <a:prstDash val="solid"/>
          </a:ln>
        </p:spPr>
      </p:sp>
      <p:sp>
        <p:nvSpPr>
          <p:cNvPr id="58" name="Text 56"/>
          <p:cNvSpPr txBox="1"/>
          <p:nvPr/>
        </p:nvSpPr>
        <p:spPr>
          <a:xfrm>
            <a:off x="6080760" y="4617720"/>
            <a:ext cx="5577840" cy="256032"/>
          </a:xfrm>
          <a:prstGeom prst="rect">
            <a:avLst/>
          </a:prstGeom>
          <a:noFill/>
          <a:ln/>
        </p:spPr>
        <p:txBody>
          <a:bodyPr wrap="square" lIns="0" tIns="0" rIns="0" bIns="0" rtlCol="0" anchor="ctr"/>
          <a:lstStyle/>
          <a:p>
            <a:pPr algn="ctr" indent="0" marL="0">
              <a:buNone/>
            </a:pPr>
            <a:r>
              <a:rPr lang="en-US" sz="900" b="1" spc="100" kern="0" dirty="0">
                <a:solidFill>
                  <a:srgbClr val="0E7C87"/>
                </a:solidFill>
                <a:latin typeface="Calibri" pitchFamily="34" charset="0"/>
                <a:ea typeface="Calibri" pitchFamily="34" charset="-122"/>
                <a:cs typeface="Calibri" pitchFamily="34" charset="-120"/>
              </a:rPr>
              <a:t>FinOps ROI Formula</a:t>
            </a:r>
            <a:endParaRPr lang="en-US" sz="900" dirty="0"/>
          </a:p>
        </p:txBody>
      </p:sp>
      <p:sp>
        <p:nvSpPr>
          <p:cNvPr id="59" name="Text 57"/>
          <p:cNvSpPr txBox="1"/>
          <p:nvPr/>
        </p:nvSpPr>
        <p:spPr>
          <a:xfrm>
            <a:off x="6080760" y="4892040"/>
            <a:ext cx="55778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ROI = Annualized Savings ÷ Annual Program Cost</a:t>
            </a:r>
            <a:endParaRPr lang="en-US" sz="1100" dirty="0"/>
          </a:p>
        </p:txBody>
      </p:sp>
      <p:sp>
        <p:nvSpPr>
          <p:cNvPr id="60" name="Text 58"/>
          <p:cNvSpPr txBox="1"/>
          <p:nvPr/>
        </p:nvSpPr>
        <p:spPr>
          <a:xfrm>
            <a:off x="6080760" y="5193792"/>
            <a:ext cx="557784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Break-Even = Implementation Cost ÷ Daily Realised Savings</a:t>
            </a:r>
            <a:endParaRPr lang="en-US" sz="950" dirty="0"/>
          </a:p>
        </p:txBody>
      </p:sp>
      <p:sp>
        <p:nvSpPr>
          <p:cNvPr id="61" name="Text 59"/>
          <p:cNvSpPr txBox="1"/>
          <p:nvPr/>
        </p:nvSpPr>
        <p:spPr>
          <a:xfrm>
            <a:off x="6080760" y="5468112"/>
            <a:ext cx="5577840" cy="164592"/>
          </a:xfrm>
          <a:prstGeom prst="rect">
            <a:avLst/>
          </a:prstGeom>
          <a:noFill/>
          <a:ln/>
        </p:spPr>
        <p:txBody>
          <a:bodyPr wrap="square" lIns="0" tIns="0" rIns="0" bIns="0" rtlCol="0" anchor="ctr"/>
          <a:lstStyle/>
          <a:p>
            <a:pPr algn="ctr" indent="0" marL="0">
              <a:buNone/>
            </a:pPr>
            <a:r>
              <a:rPr lang="en-US" sz="800" dirty="0">
                <a:solidFill>
                  <a:srgbClr val="7F8C8D"/>
                </a:solidFill>
                <a:latin typeface="Calibri" pitchFamily="34" charset="0"/>
                <a:ea typeface="Calibri" pitchFamily="34" charset="-122"/>
                <a:cs typeface="Calibri" pitchFamily="34" charset="-120"/>
              </a:rPr>
              <a:t>Program cost inputs to be finalised by CFO / Finance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F2D56"/>
          </a:solidFill>
          <a:ln w="12700">
            <a:solidFill>
              <a:srgbClr val="0F2D56"/>
            </a:solidFill>
            <a:prstDash val="solid"/>
          </a:ln>
        </p:spPr>
      </p:sp>
      <p:sp>
        <p:nvSpPr>
          <p:cNvPr id="3" name="Text 1"/>
          <p:cNvSpPr txBox="1"/>
          <p:nvPr/>
        </p:nvSpPr>
        <p:spPr>
          <a:xfrm>
            <a:off x="365760" y="4572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Success Metrics: CFO Scorecard</a:t>
            </a:r>
            <a:endParaRPr lang="en-US" sz="2400" dirty="0"/>
          </a:p>
        </p:txBody>
      </p:sp>
      <p:sp>
        <p:nvSpPr>
          <p:cNvPr id="4" name="Text 2"/>
          <p:cNvSpPr txBox="1"/>
          <p:nvPr/>
        </p:nvSpPr>
        <p:spPr>
          <a:xfrm>
            <a:off x="365760" y="987552"/>
            <a:ext cx="10972800" cy="365760"/>
          </a:xfrm>
          <a:prstGeom prst="rect">
            <a:avLst/>
          </a:prstGeom>
          <a:noFill/>
          <a:ln/>
        </p:spPr>
        <p:txBody>
          <a:bodyPr wrap="square" lIns="0" tIns="0" rIns="0" bIns="0" rtlCol="0" anchor="ctr"/>
          <a:lstStyle/>
          <a:p>
            <a:pPr indent="0" marL="0">
              <a:buNone/>
            </a:pPr>
            <a:r>
              <a:rPr lang="en-US" sz="1200" dirty="0">
                <a:solidFill>
                  <a:srgbClr val="3A4A5C"/>
                </a:solidFill>
                <a:latin typeface="Calibri" pitchFamily="34" charset="0"/>
                <a:ea typeface="Calibri" pitchFamily="34" charset="-122"/>
                <a:cs typeface="Calibri" pitchFamily="34" charset="-120"/>
              </a:rPr>
              <a:t>KPI baseline, 90-day targets, owners, and reporting cadence</a:t>
            </a:r>
            <a:endParaRPr lang="en-US" sz="1200" dirty="0"/>
          </a:p>
        </p:txBody>
      </p:sp>
      <p:sp>
        <p:nvSpPr>
          <p:cNvPr id="5" name="Shape 3"/>
          <p:cNvSpPr/>
          <p:nvPr/>
        </p:nvSpPr>
        <p:spPr>
          <a:xfrm>
            <a:off x="0" y="6675120"/>
            <a:ext cx="12161520" cy="182880"/>
          </a:xfrm>
          <a:prstGeom prst="rect">
            <a:avLst/>
          </a:prstGeom>
          <a:solidFill>
            <a:srgbClr val="0F2D56"/>
          </a:solidFill>
          <a:ln w="12700">
            <a:solidFill>
              <a:srgbClr val="0F2D56"/>
            </a:solidFill>
            <a:prstDash val="solid"/>
          </a:ln>
        </p:spPr>
      </p:sp>
      <p:sp>
        <p:nvSpPr>
          <p:cNvPr id="6" name="Text 4"/>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7" name="Text 5"/>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17 / 18</a:t>
            </a:r>
            <a:endParaRPr lang="en-US" sz="700" dirty="0"/>
          </a:p>
        </p:txBody>
      </p:sp>
      <p:sp>
        <p:nvSpPr>
          <p:cNvPr id="8" name="Shape 6"/>
          <p:cNvSpPr/>
          <p:nvPr/>
        </p:nvSpPr>
        <p:spPr>
          <a:xfrm>
            <a:off x="274320" y="1170432"/>
            <a:ext cx="2331720" cy="320040"/>
          </a:xfrm>
          <a:prstGeom prst="rect">
            <a:avLst/>
          </a:prstGeom>
          <a:solidFill>
            <a:srgbClr val="0F2D56"/>
          </a:solidFill>
          <a:ln w="12700">
            <a:solidFill>
              <a:srgbClr val="0F2D56"/>
            </a:solidFill>
            <a:prstDash val="solid"/>
          </a:ln>
        </p:spPr>
      </p:sp>
      <p:sp>
        <p:nvSpPr>
          <p:cNvPr id="9" name="Text 7"/>
          <p:cNvSpPr txBox="1"/>
          <p:nvPr/>
        </p:nvSpPr>
        <p:spPr>
          <a:xfrm>
            <a:off x="329184" y="1170432"/>
            <a:ext cx="222199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p>
        </p:txBody>
      </p:sp>
      <p:sp>
        <p:nvSpPr>
          <p:cNvPr id="10" name="Shape 8"/>
          <p:cNvSpPr/>
          <p:nvPr/>
        </p:nvSpPr>
        <p:spPr>
          <a:xfrm>
            <a:off x="2606040" y="1170432"/>
            <a:ext cx="2011680" cy="320040"/>
          </a:xfrm>
          <a:prstGeom prst="rect">
            <a:avLst/>
          </a:prstGeom>
          <a:solidFill>
            <a:srgbClr val="0F2D56"/>
          </a:solidFill>
          <a:ln w="12700">
            <a:solidFill>
              <a:srgbClr val="0F2D56"/>
            </a:solidFill>
            <a:prstDash val="solid"/>
          </a:ln>
        </p:spPr>
      </p:sp>
      <p:sp>
        <p:nvSpPr>
          <p:cNvPr id="11" name="Text 9"/>
          <p:cNvSpPr txBox="1"/>
          <p:nvPr/>
        </p:nvSpPr>
        <p:spPr>
          <a:xfrm>
            <a:off x="2660904" y="1170432"/>
            <a:ext cx="190195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Baseline (Jun 2026)</a:t>
            </a:r>
            <a:endParaRPr lang="en-US" sz="900" dirty="0"/>
          </a:p>
        </p:txBody>
      </p:sp>
      <p:sp>
        <p:nvSpPr>
          <p:cNvPr id="12" name="Shape 10"/>
          <p:cNvSpPr/>
          <p:nvPr/>
        </p:nvSpPr>
        <p:spPr>
          <a:xfrm>
            <a:off x="4617720" y="1170432"/>
            <a:ext cx="2331720" cy="320040"/>
          </a:xfrm>
          <a:prstGeom prst="rect">
            <a:avLst/>
          </a:prstGeom>
          <a:solidFill>
            <a:srgbClr val="0F2D56"/>
          </a:solidFill>
          <a:ln w="12700">
            <a:solidFill>
              <a:srgbClr val="0F2D56"/>
            </a:solidFill>
            <a:prstDash val="solid"/>
          </a:ln>
        </p:spPr>
      </p:sp>
      <p:sp>
        <p:nvSpPr>
          <p:cNvPr id="13" name="Text 11"/>
          <p:cNvSpPr txBox="1"/>
          <p:nvPr/>
        </p:nvSpPr>
        <p:spPr>
          <a:xfrm>
            <a:off x="4672584" y="1170432"/>
            <a:ext cx="222199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90-Day Target</a:t>
            </a:r>
            <a:endParaRPr lang="en-US" sz="900" dirty="0"/>
          </a:p>
        </p:txBody>
      </p:sp>
      <p:sp>
        <p:nvSpPr>
          <p:cNvPr id="14" name="Shape 12"/>
          <p:cNvSpPr/>
          <p:nvPr/>
        </p:nvSpPr>
        <p:spPr>
          <a:xfrm>
            <a:off x="6949440" y="1170432"/>
            <a:ext cx="1463040" cy="320040"/>
          </a:xfrm>
          <a:prstGeom prst="rect">
            <a:avLst/>
          </a:prstGeom>
          <a:solidFill>
            <a:srgbClr val="0F2D56"/>
          </a:solidFill>
          <a:ln w="12700">
            <a:solidFill>
              <a:srgbClr val="0F2D56"/>
            </a:solidFill>
            <a:prstDash val="solid"/>
          </a:ln>
        </p:spPr>
      </p:sp>
      <p:sp>
        <p:nvSpPr>
          <p:cNvPr id="15" name="Text 13"/>
          <p:cNvSpPr txBox="1"/>
          <p:nvPr/>
        </p:nvSpPr>
        <p:spPr>
          <a:xfrm>
            <a:off x="7004304" y="1170432"/>
            <a:ext cx="135331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p>
        </p:txBody>
      </p:sp>
      <p:sp>
        <p:nvSpPr>
          <p:cNvPr id="16" name="Shape 14"/>
          <p:cNvSpPr/>
          <p:nvPr/>
        </p:nvSpPr>
        <p:spPr>
          <a:xfrm>
            <a:off x="8412480" y="1170432"/>
            <a:ext cx="1188720" cy="320040"/>
          </a:xfrm>
          <a:prstGeom prst="rect">
            <a:avLst/>
          </a:prstGeom>
          <a:solidFill>
            <a:srgbClr val="0F2D56"/>
          </a:solidFill>
          <a:ln w="12700">
            <a:solidFill>
              <a:srgbClr val="0F2D56"/>
            </a:solidFill>
            <a:prstDash val="solid"/>
          </a:ln>
        </p:spPr>
      </p:sp>
      <p:sp>
        <p:nvSpPr>
          <p:cNvPr id="17" name="Text 15"/>
          <p:cNvSpPr txBox="1"/>
          <p:nvPr/>
        </p:nvSpPr>
        <p:spPr>
          <a:xfrm>
            <a:off x="8467344" y="1170432"/>
            <a:ext cx="107899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Cadence</a:t>
            </a:r>
            <a:endParaRPr lang="en-US" sz="900" dirty="0"/>
          </a:p>
        </p:txBody>
      </p:sp>
      <p:sp>
        <p:nvSpPr>
          <p:cNvPr id="18" name="Shape 16"/>
          <p:cNvSpPr/>
          <p:nvPr/>
        </p:nvSpPr>
        <p:spPr>
          <a:xfrm>
            <a:off x="274320" y="1508760"/>
            <a:ext cx="2331720" cy="411480"/>
          </a:xfrm>
          <a:prstGeom prst="rect">
            <a:avLst/>
          </a:prstGeom>
          <a:solidFill>
            <a:srgbClr val="FFFFFF"/>
          </a:solidFill>
          <a:ln w="12700">
            <a:solidFill>
              <a:srgbClr val="CBD5E1"/>
            </a:solidFill>
            <a:prstDash val="solid"/>
          </a:ln>
        </p:spPr>
      </p:sp>
      <p:sp>
        <p:nvSpPr>
          <p:cNvPr id="19" name="Text 17"/>
          <p:cNvSpPr txBox="1"/>
          <p:nvPr/>
        </p:nvSpPr>
        <p:spPr>
          <a:xfrm>
            <a:off x="329184" y="1545336"/>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Monthly Cloud Savings ($)</a:t>
            </a:r>
            <a:endParaRPr lang="en-US" sz="950" dirty="0"/>
          </a:p>
        </p:txBody>
      </p:sp>
      <p:sp>
        <p:nvSpPr>
          <p:cNvPr id="20" name="Shape 18"/>
          <p:cNvSpPr/>
          <p:nvPr/>
        </p:nvSpPr>
        <p:spPr>
          <a:xfrm>
            <a:off x="2606040" y="1508760"/>
            <a:ext cx="2011680" cy="411480"/>
          </a:xfrm>
          <a:prstGeom prst="rect">
            <a:avLst/>
          </a:prstGeom>
          <a:solidFill>
            <a:srgbClr val="FFFFFF"/>
          </a:solidFill>
          <a:ln w="12700">
            <a:solidFill>
              <a:srgbClr val="CBD5E1"/>
            </a:solidFill>
            <a:prstDash val="solid"/>
          </a:ln>
        </p:spPr>
      </p:sp>
      <p:sp>
        <p:nvSpPr>
          <p:cNvPr id="21" name="Text 19"/>
          <p:cNvSpPr txBox="1"/>
          <p:nvPr/>
        </p:nvSpPr>
        <p:spPr>
          <a:xfrm>
            <a:off x="2660904" y="1545336"/>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Baseline (Jun 2026): $0</a:t>
            </a:r>
            <a:endParaRPr lang="en-US" sz="850" dirty="0"/>
          </a:p>
        </p:txBody>
      </p:sp>
      <p:sp>
        <p:nvSpPr>
          <p:cNvPr id="22" name="Shape 20"/>
          <p:cNvSpPr/>
          <p:nvPr/>
        </p:nvSpPr>
        <p:spPr>
          <a:xfrm>
            <a:off x="4617720" y="1508760"/>
            <a:ext cx="2331720" cy="411480"/>
          </a:xfrm>
          <a:prstGeom prst="rect">
            <a:avLst/>
          </a:prstGeom>
          <a:solidFill>
            <a:srgbClr val="FFFFFF"/>
          </a:solidFill>
          <a:ln w="12700">
            <a:solidFill>
              <a:srgbClr val="CBD5E1"/>
            </a:solidFill>
            <a:prstDash val="solid"/>
          </a:ln>
        </p:spPr>
      </p:sp>
      <p:sp>
        <p:nvSpPr>
          <p:cNvPr id="23" name="Text 21"/>
          <p:cNvSpPr txBox="1"/>
          <p:nvPr/>
        </p:nvSpPr>
        <p:spPr>
          <a:xfrm>
            <a:off x="4672584" y="1545336"/>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$51,677.71/month</a:t>
            </a:r>
            <a:endParaRPr lang="en-US" sz="850" dirty="0"/>
          </a:p>
        </p:txBody>
      </p:sp>
      <p:sp>
        <p:nvSpPr>
          <p:cNvPr id="24" name="Shape 22"/>
          <p:cNvSpPr/>
          <p:nvPr/>
        </p:nvSpPr>
        <p:spPr>
          <a:xfrm>
            <a:off x="6949440" y="1508760"/>
            <a:ext cx="1463040" cy="411480"/>
          </a:xfrm>
          <a:prstGeom prst="rect">
            <a:avLst/>
          </a:prstGeom>
          <a:solidFill>
            <a:srgbClr val="FFFFFF"/>
          </a:solidFill>
          <a:ln w="12700">
            <a:solidFill>
              <a:srgbClr val="CBD5E1"/>
            </a:solidFill>
            <a:prstDash val="solid"/>
          </a:ln>
        </p:spPr>
      </p:sp>
      <p:sp>
        <p:nvSpPr>
          <p:cNvPr id="25" name="Text 23"/>
          <p:cNvSpPr txBox="1"/>
          <p:nvPr/>
        </p:nvSpPr>
        <p:spPr>
          <a:xfrm>
            <a:off x="7004304" y="1545336"/>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 Lead</a:t>
            </a:r>
            <a:endParaRPr lang="en-US" sz="850" dirty="0"/>
          </a:p>
        </p:txBody>
      </p:sp>
      <p:sp>
        <p:nvSpPr>
          <p:cNvPr id="26" name="Shape 24"/>
          <p:cNvSpPr/>
          <p:nvPr/>
        </p:nvSpPr>
        <p:spPr>
          <a:xfrm>
            <a:off x="8412480" y="1508760"/>
            <a:ext cx="1188720" cy="411480"/>
          </a:xfrm>
          <a:prstGeom prst="rect">
            <a:avLst/>
          </a:prstGeom>
          <a:solidFill>
            <a:srgbClr val="FFFFFF"/>
          </a:solidFill>
          <a:ln w="12700">
            <a:solidFill>
              <a:srgbClr val="CBD5E1"/>
            </a:solidFill>
            <a:prstDash val="solid"/>
          </a:ln>
        </p:spPr>
      </p:sp>
      <p:sp>
        <p:nvSpPr>
          <p:cNvPr id="27" name="Text 25"/>
          <p:cNvSpPr txBox="1"/>
          <p:nvPr/>
        </p:nvSpPr>
        <p:spPr>
          <a:xfrm>
            <a:off x="8467344" y="1545336"/>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28" name="Shape 26"/>
          <p:cNvSpPr/>
          <p:nvPr/>
        </p:nvSpPr>
        <p:spPr>
          <a:xfrm>
            <a:off x="274320" y="1956816"/>
            <a:ext cx="2331720" cy="411480"/>
          </a:xfrm>
          <a:prstGeom prst="rect">
            <a:avLst/>
          </a:prstGeom>
          <a:solidFill>
            <a:srgbClr val="F2F4F5"/>
          </a:solidFill>
          <a:ln w="12700">
            <a:solidFill>
              <a:srgbClr val="CBD5E1"/>
            </a:solidFill>
            <a:prstDash val="solid"/>
          </a:ln>
        </p:spPr>
      </p:sp>
      <p:sp>
        <p:nvSpPr>
          <p:cNvPr id="29" name="Text 27"/>
          <p:cNvSpPr txBox="1"/>
          <p:nvPr/>
        </p:nvSpPr>
        <p:spPr>
          <a:xfrm>
            <a:off x="329184" y="1993392"/>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 AWS Cost Reduction</a:t>
            </a:r>
            <a:endParaRPr lang="en-US" sz="950" dirty="0"/>
          </a:p>
        </p:txBody>
      </p:sp>
      <p:sp>
        <p:nvSpPr>
          <p:cNvPr id="30" name="Shape 28"/>
          <p:cNvSpPr/>
          <p:nvPr/>
        </p:nvSpPr>
        <p:spPr>
          <a:xfrm>
            <a:off x="2606040" y="1956816"/>
            <a:ext cx="2011680" cy="411480"/>
          </a:xfrm>
          <a:prstGeom prst="rect">
            <a:avLst/>
          </a:prstGeom>
          <a:solidFill>
            <a:srgbClr val="F2F4F5"/>
          </a:solidFill>
          <a:ln w="12700">
            <a:solidFill>
              <a:srgbClr val="CBD5E1"/>
            </a:solidFill>
            <a:prstDash val="solid"/>
          </a:ln>
        </p:spPr>
      </p:sp>
      <p:sp>
        <p:nvSpPr>
          <p:cNvPr id="31" name="Text 29"/>
          <p:cNvSpPr txBox="1"/>
          <p:nvPr/>
        </p:nvSpPr>
        <p:spPr>
          <a:xfrm>
            <a:off x="2660904" y="1993392"/>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0%</a:t>
            </a:r>
            <a:endParaRPr lang="en-US" sz="850" dirty="0"/>
          </a:p>
        </p:txBody>
      </p:sp>
      <p:sp>
        <p:nvSpPr>
          <p:cNvPr id="32" name="Shape 30"/>
          <p:cNvSpPr/>
          <p:nvPr/>
        </p:nvSpPr>
        <p:spPr>
          <a:xfrm>
            <a:off x="4617720" y="1956816"/>
            <a:ext cx="2331720" cy="411480"/>
          </a:xfrm>
          <a:prstGeom prst="rect">
            <a:avLst/>
          </a:prstGeom>
          <a:solidFill>
            <a:srgbClr val="F2F4F5"/>
          </a:solidFill>
          <a:ln w="12700">
            <a:solidFill>
              <a:srgbClr val="CBD5E1"/>
            </a:solidFill>
            <a:prstDash val="solid"/>
          </a:ln>
        </p:spPr>
      </p:sp>
      <p:sp>
        <p:nvSpPr>
          <p:cNvPr id="33" name="Text 31"/>
          <p:cNvSpPr txBox="1"/>
          <p:nvPr/>
        </p:nvSpPr>
        <p:spPr>
          <a:xfrm>
            <a:off x="4672584" y="1993392"/>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≥28.7% (expected)</a:t>
            </a:r>
            <a:endParaRPr lang="en-US" sz="850" dirty="0"/>
          </a:p>
        </p:txBody>
      </p:sp>
      <p:sp>
        <p:nvSpPr>
          <p:cNvPr id="34" name="Shape 32"/>
          <p:cNvSpPr/>
          <p:nvPr/>
        </p:nvSpPr>
        <p:spPr>
          <a:xfrm>
            <a:off x="6949440" y="1956816"/>
            <a:ext cx="1463040" cy="411480"/>
          </a:xfrm>
          <a:prstGeom prst="rect">
            <a:avLst/>
          </a:prstGeom>
          <a:solidFill>
            <a:srgbClr val="F2F4F5"/>
          </a:solidFill>
          <a:ln w="12700">
            <a:solidFill>
              <a:srgbClr val="CBD5E1"/>
            </a:solidFill>
            <a:prstDash val="solid"/>
          </a:ln>
        </p:spPr>
      </p:sp>
      <p:sp>
        <p:nvSpPr>
          <p:cNvPr id="35" name="Text 33"/>
          <p:cNvSpPr txBox="1"/>
          <p:nvPr/>
        </p:nvSpPr>
        <p:spPr>
          <a:xfrm>
            <a:off x="7004304" y="1993392"/>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CFO / FinOps</a:t>
            </a:r>
            <a:endParaRPr lang="en-US" sz="850" dirty="0"/>
          </a:p>
        </p:txBody>
      </p:sp>
      <p:sp>
        <p:nvSpPr>
          <p:cNvPr id="36" name="Shape 34"/>
          <p:cNvSpPr/>
          <p:nvPr/>
        </p:nvSpPr>
        <p:spPr>
          <a:xfrm>
            <a:off x="8412480" y="1956816"/>
            <a:ext cx="1188720" cy="411480"/>
          </a:xfrm>
          <a:prstGeom prst="rect">
            <a:avLst/>
          </a:prstGeom>
          <a:solidFill>
            <a:srgbClr val="F2F4F5"/>
          </a:solidFill>
          <a:ln w="12700">
            <a:solidFill>
              <a:srgbClr val="CBD5E1"/>
            </a:solidFill>
            <a:prstDash val="solid"/>
          </a:ln>
        </p:spPr>
      </p:sp>
      <p:sp>
        <p:nvSpPr>
          <p:cNvPr id="37" name="Text 35"/>
          <p:cNvSpPr txBox="1"/>
          <p:nvPr/>
        </p:nvSpPr>
        <p:spPr>
          <a:xfrm>
            <a:off x="8467344" y="1993392"/>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38" name="Shape 36"/>
          <p:cNvSpPr/>
          <p:nvPr/>
        </p:nvSpPr>
        <p:spPr>
          <a:xfrm>
            <a:off x="274320" y="2404872"/>
            <a:ext cx="2331720" cy="411480"/>
          </a:xfrm>
          <a:prstGeom prst="rect">
            <a:avLst/>
          </a:prstGeom>
          <a:solidFill>
            <a:srgbClr val="FFFFFF"/>
          </a:solidFill>
          <a:ln w="12700">
            <a:solidFill>
              <a:srgbClr val="CBD5E1"/>
            </a:solidFill>
            <a:prstDash val="solid"/>
          </a:ln>
        </p:spPr>
      </p:sp>
      <p:sp>
        <p:nvSpPr>
          <p:cNvPr id="39" name="Text 37"/>
          <p:cNvSpPr txBox="1"/>
          <p:nvPr/>
        </p:nvSpPr>
        <p:spPr>
          <a:xfrm>
            <a:off x="329184" y="2441448"/>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Cost per Transaction</a:t>
            </a:r>
            <a:endParaRPr lang="en-US" sz="950" dirty="0"/>
          </a:p>
        </p:txBody>
      </p:sp>
      <p:sp>
        <p:nvSpPr>
          <p:cNvPr id="40" name="Shape 38"/>
          <p:cNvSpPr/>
          <p:nvPr/>
        </p:nvSpPr>
        <p:spPr>
          <a:xfrm>
            <a:off x="2606040" y="2404872"/>
            <a:ext cx="2011680" cy="411480"/>
          </a:xfrm>
          <a:prstGeom prst="rect">
            <a:avLst/>
          </a:prstGeom>
          <a:solidFill>
            <a:srgbClr val="FFFFFF"/>
          </a:solidFill>
          <a:ln w="12700">
            <a:solidFill>
              <a:srgbClr val="CBD5E1"/>
            </a:solidFill>
            <a:prstDash val="solid"/>
          </a:ln>
        </p:spPr>
      </p:sp>
      <p:sp>
        <p:nvSpPr>
          <p:cNvPr id="41" name="Text 39"/>
          <p:cNvSpPr txBox="1"/>
          <p:nvPr/>
        </p:nvSpPr>
        <p:spPr>
          <a:xfrm>
            <a:off x="2660904" y="2441448"/>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TBD (needs baseline)</a:t>
            </a:r>
            <a:endParaRPr lang="en-US" sz="850" dirty="0"/>
          </a:p>
        </p:txBody>
      </p:sp>
      <p:sp>
        <p:nvSpPr>
          <p:cNvPr id="42" name="Shape 40"/>
          <p:cNvSpPr/>
          <p:nvPr/>
        </p:nvSpPr>
        <p:spPr>
          <a:xfrm>
            <a:off x="4617720" y="2404872"/>
            <a:ext cx="2331720" cy="411480"/>
          </a:xfrm>
          <a:prstGeom prst="rect">
            <a:avLst/>
          </a:prstGeom>
          <a:solidFill>
            <a:srgbClr val="FFFFFF"/>
          </a:solidFill>
          <a:ln w="12700">
            <a:solidFill>
              <a:srgbClr val="CBD5E1"/>
            </a:solidFill>
            <a:prstDash val="solid"/>
          </a:ln>
        </p:spPr>
      </p:sp>
      <p:sp>
        <p:nvSpPr>
          <p:cNvPr id="43" name="Text 41"/>
          <p:cNvSpPr txBox="1"/>
          <p:nvPr/>
        </p:nvSpPr>
        <p:spPr>
          <a:xfrm>
            <a:off x="4672584" y="2441448"/>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Trending down</a:t>
            </a:r>
            <a:endParaRPr lang="en-US" sz="850" dirty="0"/>
          </a:p>
        </p:txBody>
      </p:sp>
      <p:sp>
        <p:nvSpPr>
          <p:cNvPr id="44" name="Shape 42"/>
          <p:cNvSpPr/>
          <p:nvPr/>
        </p:nvSpPr>
        <p:spPr>
          <a:xfrm>
            <a:off x="6949440" y="2404872"/>
            <a:ext cx="1463040" cy="411480"/>
          </a:xfrm>
          <a:prstGeom prst="rect">
            <a:avLst/>
          </a:prstGeom>
          <a:solidFill>
            <a:srgbClr val="FFFFFF"/>
          </a:solidFill>
          <a:ln w="12700">
            <a:solidFill>
              <a:srgbClr val="CBD5E1"/>
            </a:solidFill>
            <a:prstDash val="solid"/>
          </a:ln>
        </p:spPr>
      </p:sp>
      <p:sp>
        <p:nvSpPr>
          <p:cNvPr id="45" name="Text 43"/>
          <p:cNvSpPr txBox="1"/>
          <p:nvPr/>
        </p:nvSpPr>
        <p:spPr>
          <a:xfrm>
            <a:off x="7004304" y="2441448"/>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 / Data</a:t>
            </a:r>
            <a:endParaRPr lang="en-US" sz="850" dirty="0"/>
          </a:p>
        </p:txBody>
      </p:sp>
      <p:sp>
        <p:nvSpPr>
          <p:cNvPr id="46" name="Shape 44"/>
          <p:cNvSpPr/>
          <p:nvPr/>
        </p:nvSpPr>
        <p:spPr>
          <a:xfrm>
            <a:off x="8412480" y="2404872"/>
            <a:ext cx="1188720" cy="411480"/>
          </a:xfrm>
          <a:prstGeom prst="rect">
            <a:avLst/>
          </a:prstGeom>
          <a:solidFill>
            <a:srgbClr val="FFFFFF"/>
          </a:solidFill>
          <a:ln w="12700">
            <a:solidFill>
              <a:srgbClr val="CBD5E1"/>
            </a:solidFill>
            <a:prstDash val="solid"/>
          </a:ln>
        </p:spPr>
      </p:sp>
      <p:sp>
        <p:nvSpPr>
          <p:cNvPr id="47" name="Text 45"/>
          <p:cNvSpPr txBox="1"/>
          <p:nvPr/>
        </p:nvSpPr>
        <p:spPr>
          <a:xfrm>
            <a:off x="8467344" y="2441448"/>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48" name="Shape 46"/>
          <p:cNvSpPr/>
          <p:nvPr/>
        </p:nvSpPr>
        <p:spPr>
          <a:xfrm>
            <a:off x="274320" y="2852928"/>
            <a:ext cx="2331720" cy="411480"/>
          </a:xfrm>
          <a:prstGeom prst="rect">
            <a:avLst/>
          </a:prstGeom>
          <a:solidFill>
            <a:srgbClr val="F2F4F5"/>
          </a:solidFill>
          <a:ln w="12700">
            <a:solidFill>
              <a:srgbClr val="CBD5E1"/>
            </a:solidFill>
            <a:prstDash val="solid"/>
          </a:ln>
        </p:spPr>
      </p:sp>
      <p:sp>
        <p:nvSpPr>
          <p:cNvPr id="49" name="Text 47"/>
          <p:cNvSpPr txBox="1"/>
          <p:nvPr/>
        </p:nvSpPr>
        <p:spPr>
          <a:xfrm>
            <a:off x="329184" y="2889504"/>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Tag Compliance %</a:t>
            </a:r>
            <a:endParaRPr lang="en-US" sz="950" dirty="0"/>
          </a:p>
        </p:txBody>
      </p:sp>
      <p:sp>
        <p:nvSpPr>
          <p:cNvPr id="50" name="Shape 48"/>
          <p:cNvSpPr/>
          <p:nvPr/>
        </p:nvSpPr>
        <p:spPr>
          <a:xfrm>
            <a:off x="2606040" y="2852928"/>
            <a:ext cx="2011680" cy="411480"/>
          </a:xfrm>
          <a:prstGeom prst="rect">
            <a:avLst/>
          </a:prstGeom>
          <a:solidFill>
            <a:srgbClr val="F2F4F5"/>
          </a:solidFill>
          <a:ln w="12700">
            <a:solidFill>
              <a:srgbClr val="CBD5E1"/>
            </a:solidFill>
            <a:prstDash val="solid"/>
          </a:ln>
        </p:spPr>
      </p:sp>
      <p:sp>
        <p:nvSpPr>
          <p:cNvPr id="51" name="Text 49"/>
          <p:cNvSpPr txBox="1"/>
          <p:nvPr/>
        </p:nvSpPr>
        <p:spPr>
          <a:xfrm>
            <a:off x="2660904" y="2889504"/>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82.7%</a:t>
            </a:r>
            <a:endParaRPr lang="en-US" sz="850" dirty="0"/>
          </a:p>
        </p:txBody>
      </p:sp>
      <p:sp>
        <p:nvSpPr>
          <p:cNvPr id="52" name="Shape 50"/>
          <p:cNvSpPr/>
          <p:nvPr/>
        </p:nvSpPr>
        <p:spPr>
          <a:xfrm>
            <a:off x="4617720" y="2852928"/>
            <a:ext cx="2331720" cy="411480"/>
          </a:xfrm>
          <a:prstGeom prst="rect">
            <a:avLst/>
          </a:prstGeom>
          <a:solidFill>
            <a:srgbClr val="F2F4F5"/>
          </a:solidFill>
          <a:ln w="12700">
            <a:solidFill>
              <a:srgbClr val="CBD5E1"/>
            </a:solidFill>
            <a:prstDash val="solid"/>
          </a:ln>
        </p:spPr>
      </p:sp>
      <p:sp>
        <p:nvSpPr>
          <p:cNvPr id="53" name="Text 51"/>
          <p:cNvSpPr txBox="1"/>
          <p:nvPr/>
        </p:nvSpPr>
        <p:spPr>
          <a:xfrm>
            <a:off x="4672584" y="2889504"/>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&gt;95%</a:t>
            </a:r>
            <a:endParaRPr lang="en-US" sz="850" dirty="0"/>
          </a:p>
        </p:txBody>
      </p:sp>
      <p:sp>
        <p:nvSpPr>
          <p:cNvPr id="54" name="Shape 52"/>
          <p:cNvSpPr/>
          <p:nvPr/>
        </p:nvSpPr>
        <p:spPr>
          <a:xfrm>
            <a:off x="6949440" y="2852928"/>
            <a:ext cx="1463040" cy="411480"/>
          </a:xfrm>
          <a:prstGeom prst="rect">
            <a:avLst/>
          </a:prstGeom>
          <a:solidFill>
            <a:srgbClr val="F2F4F5"/>
          </a:solidFill>
          <a:ln w="12700">
            <a:solidFill>
              <a:srgbClr val="CBD5E1"/>
            </a:solidFill>
            <a:prstDash val="solid"/>
          </a:ln>
        </p:spPr>
      </p:sp>
      <p:sp>
        <p:nvSpPr>
          <p:cNvPr id="55" name="Text 53"/>
          <p:cNvSpPr txBox="1"/>
          <p:nvPr/>
        </p:nvSpPr>
        <p:spPr>
          <a:xfrm>
            <a:off x="7004304" y="2889504"/>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 + Eng</a:t>
            </a:r>
            <a:endParaRPr lang="en-US" sz="850" dirty="0"/>
          </a:p>
        </p:txBody>
      </p:sp>
      <p:sp>
        <p:nvSpPr>
          <p:cNvPr id="56" name="Shape 54"/>
          <p:cNvSpPr/>
          <p:nvPr/>
        </p:nvSpPr>
        <p:spPr>
          <a:xfrm>
            <a:off x="8412480" y="2852928"/>
            <a:ext cx="1188720" cy="411480"/>
          </a:xfrm>
          <a:prstGeom prst="rect">
            <a:avLst/>
          </a:prstGeom>
          <a:solidFill>
            <a:srgbClr val="F2F4F5"/>
          </a:solidFill>
          <a:ln w="12700">
            <a:solidFill>
              <a:srgbClr val="CBD5E1"/>
            </a:solidFill>
            <a:prstDash val="solid"/>
          </a:ln>
        </p:spPr>
      </p:sp>
      <p:sp>
        <p:nvSpPr>
          <p:cNvPr id="57" name="Text 55"/>
          <p:cNvSpPr txBox="1"/>
          <p:nvPr/>
        </p:nvSpPr>
        <p:spPr>
          <a:xfrm>
            <a:off x="8467344" y="2889504"/>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Weekly</a:t>
            </a:r>
            <a:endParaRPr lang="en-US" sz="850" dirty="0"/>
          </a:p>
        </p:txBody>
      </p:sp>
      <p:sp>
        <p:nvSpPr>
          <p:cNvPr id="58" name="Shape 56"/>
          <p:cNvSpPr/>
          <p:nvPr/>
        </p:nvSpPr>
        <p:spPr>
          <a:xfrm>
            <a:off x="274320" y="3300984"/>
            <a:ext cx="2331720" cy="411480"/>
          </a:xfrm>
          <a:prstGeom prst="rect">
            <a:avLst/>
          </a:prstGeom>
          <a:solidFill>
            <a:srgbClr val="FFFFFF"/>
          </a:solidFill>
          <a:ln w="12700">
            <a:solidFill>
              <a:srgbClr val="CBD5E1"/>
            </a:solidFill>
            <a:prstDash val="solid"/>
          </a:ln>
        </p:spPr>
      </p:sp>
      <p:sp>
        <p:nvSpPr>
          <p:cNvPr id="59" name="Text 57"/>
          <p:cNvSpPr txBox="1"/>
          <p:nvPr/>
        </p:nvSpPr>
        <p:spPr>
          <a:xfrm>
            <a:off x="329184" y="3337560"/>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Anomaly MTTD — P1</a:t>
            </a:r>
            <a:endParaRPr lang="en-US" sz="950" dirty="0"/>
          </a:p>
        </p:txBody>
      </p:sp>
      <p:sp>
        <p:nvSpPr>
          <p:cNvPr id="60" name="Shape 58"/>
          <p:cNvSpPr/>
          <p:nvPr/>
        </p:nvSpPr>
        <p:spPr>
          <a:xfrm>
            <a:off x="2606040" y="3300984"/>
            <a:ext cx="2011680" cy="411480"/>
          </a:xfrm>
          <a:prstGeom prst="rect">
            <a:avLst/>
          </a:prstGeom>
          <a:solidFill>
            <a:srgbClr val="FFFFFF"/>
          </a:solidFill>
          <a:ln w="12700">
            <a:solidFill>
              <a:srgbClr val="CBD5E1"/>
            </a:solidFill>
            <a:prstDash val="solid"/>
          </a:ln>
        </p:spPr>
      </p:sp>
      <p:sp>
        <p:nvSpPr>
          <p:cNvPr id="61" name="Text 59"/>
          <p:cNvSpPr txBox="1"/>
          <p:nvPr/>
        </p:nvSpPr>
        <p:spPr>
          <a:xfrm>
            <a:off x="2660904" y="3337560"/>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Not yet baselined</a:t>
            </a:r>
            <a:endParaRPr lang="en-US" sz="850" dirty="0"/>
          </a:p>
        </p:txBody>
      </p:sp>
      <p:sp>
        <p:nvSpPr>
          <p:cNvPr id="62" name="Shape 60"/>
          <p:cNvSpPr/>
          <p:nvPr/>
        </p:nvSpPr>
        <p:spPr>
          <a:xfrm>
            <a:off x="4617720" y="3300984"/>
            <a:ext cx="2331720" cy="411480"/>
          </a:xfrm>
          <a:prstGeom prst="rect">
            <a:avLst/>
          </a:prstGeom>
          <a:solidFill>
            <a:srgbClr val="FFFFFF"/>
          </a:solidFill>
          <a:ln w="12700">
            <a:solidFill>
              <a:srgbClr val="CBD5E1"/>
            </a:solidFill>
            <a:prstDash val="solid"/>
          </a:ln>
        </p:spPr>
      </p:sp>
      <p:sp>
        <p:nvSpPr>
          <p:cNvPr id="63" name="Text 61"/>
          <p:cNvSpPr txBox="1"/>
          <p:nvPr/>
        </p:nvSpPr>
        <p:spPr>
          <a:xfrm>
            <a:off x="4672584" y="3337560"/>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&lt;1 hour (target)</a:t>
            </a:r>
            <a:endParaRPr lang="en-US" sz="850" dirty="0"/>
          </a:p>
        </p:txBody>
      </p:sp>
      <p:sp>
        <p:nvSpPr>
          <p:cNvPr id="64" name="Shape 62"/>
          <p:cNvSpPr/>
          <p:nvPr/>
        </p:nvSpPr>
        <p:spPr>
          <a:xfrm>
            <a:off x="6949440" y="3300984"/>
            <a:ext cx="1463040" cy="411480"/>
          </a:xfrm>
          <a:prstGeom prst="rect">
            <a:avLst/>
          </a:prstGeom>
          <a:solidFill>
            <a:srgbClr val="FFFFFF"/>
          </a:solidFill>
          <a:ln w="12700">
            <a:solidFill>
              <a:srgbClr val="CBD5E1"/>
            </a:solidFill>
            <a:prstDash val="solid"/>
          </a:ln>
        </p:spPr>
      </p:sp>
      <p:sp>
        <p:nvSpPr>
          <p:cNvPr id="65" name="Text 63"/>
          <p:cNvSpPr txBox="1"/>
          <p:nvPr/>
        </p:nvSpPr>
        <p:spPr>
          <a:xfrm>
            <a:off x="7004304" y="3337560"/>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 / Eng</a:t>
            </a:r>
            <a:endParaRPr lang="en-US" sz="850" dirty="0"/>
          </a:p>
        </p:txBody>
      </p:sp>
      <p:sp>
        <p:nvSpPr>
          <p:cNvPr id="66" name="Shape 64"/>
          <p:cNvSpPr/>
          <p:nvPr/>
        </p:nvSpPr>
        <p:spPr>
          <a:xfrm>
            <a:off x="8412480" y="3300984"/>
            <a:ext cx="1188720" cy="411480"/>
          </a:xfrm>
          <a:prstGeom prst="rect">
            <a:avLst/>
          </a:prstGeom>
          <a:solidFill>
            <a:srgbClr val="FFFFFF"/>
          </a:solidFill>
          <a:ln w="12700">
            <a:solidFill>
              <a:srgbClr val="CBD5E1"/>
            </a:solidFill>
            <a:prstDash val="solid"/>
          </a:ln>
        </p:spPr>
      </p:sp>
      <p:sp>
        <p:nvSpPr>
          <p:cNvPr id="67" name="Text 65"/>
          <p:cNvSpPr txBox="1"/>
          <p:nvPr/>
        </p:nvSpPr>
        <p:spPr>
          <a:xfrm>
            <a:off x="8467344" y="3337560"/>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Daily</a:t>
            </a:r>
            <a:endParaRPr lang="en-US" sz="850" dirty="0"/>
          </a:p>
        </p:txBody>
      </p:sp>
      <p:sp>
        <p:nvSpPr>
          <p:cNvPr id="68" name="Shape 66"/>
          <p:cNvSpPr/>
          <p:nvPr/>
        </p:nvSpPr>
        <p:spPr>
          <a:xfrm>
            <a:off x="274320" y="3749040"/>
            <a:ext cx="2331720" cy="411480"/>
          </a:xfrm>
          <a:prstGeom prst="rect">
            <a:avLst/>
          </a:prstGeom>
          <a:solidFill>
            <a:srgbClr val="F2F4F5"/>
          </a:solidFill>
          <a:ln w="12700">
            <a:solidFill>
              <a:srgbClr val="CBD5E1"/>
            </a:solidFill>
            <a:prstDash val="solid"/>
          </a:ln>
        </p:spPr>
      </p:sp>
      <p:sp>
        <p:nvSpPr>
          <p:cNvPr id="69" name="Text 67"/>
          <p:cNvSpPr txBox="1"/>
          <p:nvPr/>
        </p:nvSpPr>
        <p:spPr>
          <a:xfrm>
            <a:off x="329184" y="3785616"/>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Anomaly MTTD — P2</a:t>
            </a:r>
            <a:endParaRPr lang="en-US" sz="950" dirty="0"/>
          </a:p>
        </p:txBody>
      </p:sp>
      <p:sp>
        <p:nvSpPr>
          <p:cNvPr id="70" name="Shape 68"/>
          <p:cNvSpPr/>
          <p:nvPr/>
        </p:nvSpPr>
        <p:spPr>
          <a:xfrm>
            <a:off x="2606040" y="3749040"/>
            <a:ext cx="2011680" cy="411480"/>
          </a:xfrm>
          <a:prstGeom prst="rect">
            <a:avLst/>
          </a:prstGeom>
          <a:solidFill>
            <a:srgbClr val="F2F4F5"/>
          </a:solidFill>
          <a:ln w="12700">
            <a:solidFill>
              <a:srgbClr val="CBD5E1"/>
            </a:solidFill>
            <a:prstDash val="solid"/>
          </a:ln>
        </p:spPr>
      </p:sp>
      <p:sp>
        <p:nvSpPr>
          <p:cNvPr id="71" name="Text 69"/>
          <p:cNvSpPr txBox="1"/>
          <p:nvPr/>
        </p:nvSpPr>
        <p:spPr>
          <a:xfrm>
            <a:off x="2660904" y="3785616"/>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Not yet baselined</a:t>
            </a:r>
            <a:endParaRPr lang="en-US" sz="850" dirty="0"/>
          </a:p>
        </p:txBody>
      </p:sp>
      <p:sp>
        <p:nvSpPr>
          <p:cNvPr id="72" name="Shape 70"/>
          <p:cNvSpPr/>
          <p:nvPr/>
        </p:nvSpPr>
        <p:spPr>
          <a:xfrm>
            <a:off x="4617720" y="3749040"/>
            <a:ext cx="2331720" cy="411480"/>
          </a:xfrm>
          <a:prstGeom prst="rect">
            <a:avLst/>
          </a:prstGeom>
          <a:solidFill>
            <a:srgbClr val="F2F4F5"/>
          </a:solidFill>
          <a:ln w="12700">
            <a:solidFill>
              <a:srgbClr val="CBD5E1"/>
            </a:solidFill>
            <a:prstDash val="solid"/>
          </a:ln>
        </p:spPr>
      </p:sp>
      <p:sp>
        <p:nvSpPr>
          <p:cNvPr id="73" name="Text 71"/>
          <p:cNvSpPr txBox="1"/>
          <p:nvPr/>
        </p:nvSpPr>
        <p:spPr>
          <a:xfrm>
            <a:off x="4672584" y="3785616"/>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&lt;4 hours (target)</a:t>
            </a:r>
            <a:endParaRPr lang="en-US" sz="850" dirty="0"/>
          </a:p>
        </p:txBody>
      </p:sp>
      <p:sp>
        <p:nvSpPr>
          <p:cNvPr id="74" name="Shape 72"/>
          <p:cNvSpPr/>
          <p:nvPr/>
        </p:nvSpPr>
        <p:spPr>
          <a:xfrm>
            <a:off x="6949440" y="3749040"/>
            <a:ext cx="1463040" cy="411480"/>
          </a:xfrm>
          <a:prstGeom prst="rect">
            <a:avLst/>
          </a:prstGeom>
          <a:solidFill>
            <a:srgbClr val="F2F4F5"/>
          </a:solidFill>
          <a:ln w="12700">
            <a:solidFill>
              <a:srgbClr val="CBD5E1"/>
            </a:solidFill>
            <a:prstDash val="solid"/>
          </a:ln>
        </p:spPr>
      </p:sp>
      <p:sp>
        <p:nvSpPr>
          <p:cNvPr id="75" name="Text 73"/>
          <p:cNvSpPr txBox="1"/>
          <p:nvPr/>
        </p:nvSpPr>
        <p:spPr>
          <a:xfrm>
            <a:off x="7004304" y="3785616"/>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 / Eng</a:t>
            </a:r>
            <a:endParaRPr lang="en-US" sz="850" dirty="0"/>
          </a:p>
        </p:txBody>
      </p:sp>
      <p:sp>
        <p:nvSpPr>
          <p:cNvPr id="76" name="Shape 74"/>
          <p:cNvSpPr/>
          <p:nvPr/>
        </p:nvSpPr>
        <p:spPr>
          <a:xfrm>
            <a:off x="8412480" y="3749040"/>
            <a:ext cx="1188720" cy="411480"/>
          </a:xfrm>
          <a:prstGeom prst="rect">
            <a:avLst/>
          </a:prstGeom>
          <a:solidFill>
            <a:srgbClr val="F2F4F5"/>
          </a:solidFill>
          <a:ln w="12700">
            <a:solidFill>
              <a:srgbClr val="CBD5E1"/>
            </a:solidFill>
            <a:prstDash val="solid"/>
          </a:ln>
        </p:spPr>
      </p:sp>
      <p:sp>
        <p:nvSpPr>
          <p:cNvPr id="77" name="Text 75"/>
          <p:cNvSpPr txBox="1"/>
          <p:nvPr/>
        </p:nvSpPr>
        <p:spPr>
          <a:xfrm>
            <a:off x="8467344" y="3785616"/>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Daily</a:t>
            </a:r>
            <a:endParaRPr lang="en-US" sz="850" dirty="0"/>
          </a:p>
        </p:txBody>
      </p:sp>
      <p:sp>
        <p:nvSpPr>
          <p:cNvPr id="78" name="Shape 76"/>
          <p:cNvSpPr/>
          <p:nvPr/>
        </p:nvSpPr>
        <p:spPr>
          <a:xfrm>
            <a:off x="274320" y="4197096"/>
            <a:ext cx="2331720" cy="411480"/>
          </a:xfrm>
          <a:prstGeom prst="rect">
            <a:avLst/>
          </a:prstGeom>
          <a:solidFill>
            <a:srgbClr val="FFFFFF"/>
          </a:solidFill>
          <a:ln w="12700">
            <a:solidFill>
              <a:srgbClr val="CBD5E1"/>
            </a:solidFill>
            <a:prstDash val="solid"/>
          </a:ln>
        </p:spPr>
      </p:sp>
      <p:sp>
        <p:nvSpPr>
          <p:cNvPr id="79" name="Text 77"/>
          <p:cNvSpPr txBox="1"/>
          <p:nvPr/>
        </p:nvSpPr>
        <p:spPr>
          <a:xfrm>
            <a:off x="329184" y="4233672"/>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RI / SP Utilisation</a:t>
            </a:r>
            <a:endParaRPr lang="en-US" sz="950" dirty="0"/>
          </a:p>
        </p:txBody>
      </p:sp>
      <p:sp>
        <p:nvSpPr>
          <p:cNvPr id="80" name="Shape 78"/>
          <p:cNvSpPr/>
          <p:nvPr/>
        </p:nvSpPr>
        <p:spPr>
          <a:xfrm>
            <a:off x="2606040" y="4197096"/>
            <a:ext cx="2011680" cy="411480"/>
          </a:xfrm>
          <a:prstGeom prst="rect">
            <a:avLst/>
          </a:prstGeom>
          <a:solidFill>
            <a:srgbClr val="FFFFFF"/>
          </a:solidFill>
          <a:ln w="12700">
            <a:solidFill>
              <a:srgbClr val="CBD5E1"/>
            </a:solidFill>
            <a:prstDash val="solid"/>
          </a:ln>
        </p:spPr>
      </p:sp>
      <p:sp>
        <p:nvSpPr>
          <p:cNvPr id="81" name="Text 79"/>
          <p:cNvSpPr txBox="1"/>
          <p:nvPr/>
        </p:nvSpPr>
        <p:spPr>
          <a:xfrm>
            <a:off x="2660904" y="4233672"/>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71.4%</a:t>
            </a:r>
            <a:endParaRPr lang="en-US" sz="850" dirty="0"/>
          </a:p>
        </p:txBody>
      </p:sp>
      <p:sp>
        <p:nvSpPr>
          <p:cNvPr id="82" name="Shape 80"/>
          <p:cNvSpPr/>
          <p:nvPr/>
        </p:nvSpPr>
        <p:spPr>
          <a:xfrm>
            <a:off x="4617720" y="4197096"/>
            <a:ext cx="2331720" cy="411480"/>
          </a:xfrm>
          <a:prstGeom prst="rect">
            <a:avLst/>
          </a:prstGeom>
          <a:solidFill>
            <a:srgbClr val="FFFFFF"/>
          </a:solidFill>
          <a:ln w="12700">
            <a:solidFill>
              <a:srgbClr val="CBD5E1"/>
            </a:solidFill>
            <a:prstDash val="solid"/>
          </a:ln>
        </p:spPr>
      </p:sp>
      <p:sp>
        <p:nvSpPr>
          <p:cNvPr id="83" name="Text 81"/>
          <p:cNvSpPr txBox="1"/>
          <p:nvPr/>
        </p:nvSpPr>
        <p:spPr>
          <a:xfrm>
            <a:off x="4672584" y="4233672"/>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&gt;85%</a:t>
            </a:r>
            <a:endParaRPr lang="en-US" sz="850" dirty="0"/>
          </a:p>
        </p:txBody>
      </p:sp>
      <p:sp>
        <p:nvSpPr>
          <p:cNvPr id="84" name="Shape 82"/>
          <p:cNvSpPr/>
          <p:nvPr/>
        </p:nvSpPr>
        <p:spPr>
          <a:xfrm>
            <a:off x="6949440" y="4197096"/>
            <a:ext cx="1463040" cy="411480"/>
          </a:xfrm>
          <a:prstGeom prst="rect">
            <a:avLst/>
          </a:prstGeom>
          <a:solidFill>
            <a:srgbClr val="FFFFFF"/>
          </a:solidFill>
          <a:ln w="12700">
            <a:solidFill>
              <a:srgbClr val="CBD5E1"/>
            </a:solidFill>
            <a:prstDash val="solid"/>
          </a:ln>
        </p:spPr>
      </p:sp>
      <p:sp>
        <p:nvSpPr>
          <p:cNvPr id="85" name="Text 83"/>
          <p:cNvSpPr txBox="1"/>
          <p:nvPr/>
        </p:nvSpPr>
        <p:spPr>
          <a:xfrm>
            <a:off x="7004304" y="4233672"/>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FinOps</a:t>
            </a:r>
            <a:endParaRPr lang="en-US" sz="850" dirty="0"/>
          </a:p>
        </p:txBody>
      </p:sp>
      <p:sp>
        <p:nvSpPr>
          <p:cNvPr id="86" name="Shape 84"/>
          <p:cNvSpPr/>
          <p:nvPr/>
        </p:nvSpPr>
        <p:spPr>
          <a:xfrm>
            <a:off x="8412480" y="4197096"/>
            <a:ext cx="1188720" cy="411480"/>
          </a:xfrm>
          <a:prstGeom prst="rect">
            <a:avLst/>
          </a:prstGeom>
          <a:solidFill>
            <a:srgbClr val="FFFFFF"/>
          </a:solidFill>
          <a:ln w="12700">
            <a:solidFill>
              <a:srgbClr val="CBD5E1"/>
            </a:solidFill>
            <a:prstDash val="solid"/>
          </a:ln>
        </p:spPr>
      </p:sp>
      <p:sp>
        <p:nvSpPr>
          <p:cNvPr id="87" name="Text 85"/>
          <p:cNvSpPr txBox="1"/>
          <p:nvPr/>
        </p:nvSpPr>
        <p:spPr>
          <a:xfrm>
            <a:off x="8467344" y="4233672"/>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88" name="Shape 86"/>
          <p:cNvSpPr/>
          <p:nvPr/>
        </p:nvSpPr>
        <p:spPr>
          <a:xfrm>
            <a:off x="274320" y="4645152"/>
            <a:ext cx="2331720" cy="411480"/>
          </a:xfrm>
          <a:prstGeom prst="rect">
            <a:avLst/>
          </a:prstGeom>
          <a:solidFill>
            <a:srgbClr val="F2F4F5"/>
          </a:solidFill>
          <a:ln w="12700">
            <a:solidFill>
              <a:srgbClr val="CBD5E1"/>
            </a:solidFill>
            <a:prstDash val="solid"/>
          </a:ln>
        </p:spPr>
      </p:sp>
      <p:sp>
        <p:nvSpPr>
          <p:cNvPr id="89" name="Text 87"/>
          <p:cNvSpPr txBox="1"/>
          <p:nvPr/>
        </p:nvSpPr>
        <p:spPr>
          <a:xfrm>
            <a:off x="329184" y="4681728"/>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Budget Variance (%)</a:t>
            </a:r>
            <a:endParaRPr lang="en-US" sz="950" dirty="0"/>
          </a:p>
        </p:txBody>
      </p:sp>
      <p:sp>
        <p:nvSpPr>
          <p:cNvPr id="90" name="Shape 88"/>
          <p:cNvSpPr/>
          <p:nvPr/>
        </p:nvSpPr>
        <p:spPr>
          <a:xfrm>
            <a:off x="2606040" y="4645152"/>
            <a:ext cx="2011680" cy="411480"/>
          </a:xfrm>
          <a:prstGeom prst="rect">
            <a:avLst/>
          </a:prstGeom>
          <a:solidFill>
            <a:srgbClr val="F2F4F5"/>
          </a:solidFill>
          <a:ln w="12700">
            <a:solidFill>
              <a:srgbClr val="CBD5E1"/>
            </a:solidFill>
            <a:prstDash val="solid"/>
          </a:ln>
        </p:spPr>
      </p:sp>
      <p:sp>
        <p:nvSpPr>
          <p:cNvPr id="91" name="Text 89"/>
          <p:cNvSpPr txBox="1"/>
          <p:nvPr/>
        </p:nvSpPr>
        <p:spPr>
          <a:xfrm>
            <a:off x="2660904" y="4681728"/>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Not yet tracked</a:t>
            </a:r>
            <a:endParaRPr lang="en-US" sz="850" dirty="0"/>
          </a:p>
        </p:txBody>
      </p:sp>
      <p:sp>
        <p:nvSpPr>
          <p:cNvPr id="92" name="Shape 90"/>
          <p:cNvSpPr/>
          <p:nvPr/>
        </p:nvSpPr>
        <p:spPr>
          <a:xfrm>
            <a:off x="4617720" y="4645152"/>
            <a:ext cx="2331720" cy="411480"/>
          </a:xfrm>
          <a:prstGeom prst="rect">
            <a:avLst/>
          </a:prstGeom>
          <a:solidFill>
            <a:srgbClr val="F2F4F5"/>
          </a:solidFill>
          <a:ln w="12700">
            <a:solidFill>
              <a:srgbClr val="CBD5E1"/>
            </a:solidFill>
            <a:prstDash val="solid"/>
          </a:ln>
        </p:spPr>
      </p:sp>
      <p:sp>
        <p:nvSpPr>
          <p:cNvPr id="93" name="Text 91"/>
          <p:cNvSpPr txBox="1"/>
          <p:nvPr/>
        </p:nvSpPr>
        <p:spPr>
          <a:xfrm>
            <a:off x="4672584" y="4681728"/>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±5%</a:t>
            </a:r>
            <a:endParaRPr lang="en-US" sz="850" dirty="0"/>
          </a:p>
        </p:txBody>
      </p:sp>
      <p:sp>
        <p:nvSpPr>
          <p:cNvPr id="94" name="Shape 92"/>
          <p:cNvSpPr/>
          <p:nvPr/>
        </p:nvSpPr>
        <p:spPr>
          <a:xfrm>
            <a:off x="6949440" y="4645152"/>
            <a:ext cx="1463040" cy="411480"/>
          </a:xfrm>
          <a:prstGeom prst="rect">
            <a:avLst/>
          </a:prstGeom>
          <a:solidFill>
            <a:srgbClr val="F2F4F5"/>
          </a:solidFill>
          <a:ln w="12700">
            <a:solidFill>
              <a:srgbClr val="CBD5E1"/>
            </a:solidFill>
            <a:prstDash val="solid"/>
          </a:ln>
        </p:spPr>
      </p:sp>
      <p:sp>
        <p:nvSpPr>
          <p:cNvPr id="95" name="Text 93"/>
          <p:cNvSpPr txBox="1"/>
          <p:nvPr/>
        </p:nvSpPr>
        <p:spPr>
          <a:xfrm>
            <a:off x="7004304" y="4681728"/>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Finance / FinOps</a:t>
            </a:r>
            <a:endParaRPr lang="en-US" sz="850" dirty="0"/>
          </a:p>
        </p:txBody>
      </p:sp>
      <p:sp>
        <p:nvSpPr>
          <p:cNvPr id="96" name="Shape 94"/>
          <p:cNvSpPr/>
          <p:nvPr/>
        </p:nvSpPr>
        <p:spPr>
          <a:xfrm>
            <a:off x="8412480" y="4645152"/>
            <a:ext cx="1188720" cy="411480"/>
          </a:xfrm>
          <a:prstGeom prst="rect">
            <a:avLst/>
          </a:prstGeom>
          <a:solidFill>
            <a:srgbClr val="F2F4F5"/>
          </a:solidFill>
          <a:ln w="12700">
            <a:solidFill>
              <a:srgbClr val="CBD5E1"/>
            </a:solidFill>
            <a:prstDash val="solid"/>
          </a:ln>
        </p:spPr>
      </p:sp>
      <p:sp>
        <p:nvSpPr>
          <p:cNvPr id="97" name="Text 95"/>
          <p:cNvSpPr txBox="1"/>
          <p:nvPr/>
        </p:nvSpPr>
        <p:spPr>
          <a:xfrm>
            <a:off x="8467344" y="4681728"/>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98" name="Shape 96"/>
          <p:cNvSpPr/>
          <p:nvPr/>
        </p:nvSpPr>
        <p:spPr>
          <a:xfrm>
            <a:off x="274320" y="5093208"/>
            <a:ext cx="2331720" cy="411480"/>
          </a:xfrm>
          <a:prstGeom prst="rect">
            <a:avLst/>
          </a:prstGeom>
          <a:solidFill>
            <a:srgbClr val="FFFFFF"/>
          </a:solidFill>
          <a:ln w="12700">
            <a:solidFill>
              <a:srgbClr val="CBD5E1"/>
            </a:solidFill>
            <a:prstDash val="solid"/>
          </a:ln>
        </p:spPr>
      </p:sp>
      <p:sp>
        <p:nvSpPr>
          <p:cNvPr id="99" name="Text 97"/>
          <p:cNvSpPr txBox="1"/>
          <p:nvPr/>
        </p:nvSpPr>
        <p:spPr>
          <a:xfrm>
            <a:off x="329184" y="5129784"/>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Savings Realisation %</a:t>
            </a:r>
            <a:endParaRPr lang="en-US" sz="950" dirty="0"/>
          </a:p>
        </p:txBody>
      </p:sp>
      <p:sp>
        <p:nvSpPr>
          <p:cNvPr id="100" name="Shape 98"/>
          <p:cNvSpPr/>
          <p:nvPr/>
        </p:nvSpPr>
        <p:spPr>
          <a:xfrm>
            <a:off x="2606040" y="5093208"/>
            <a:ext cx="2011680" cy="411480"/>
          </a:xfrm>
          <a:prstGeom prst="rect">
            <a:avLst/>
          </a:prstGeom>
          <a:solidFill>
            <a:srgbClr val="FFFFFF"/>
          </a:solidFill>
          <a:ln w="12700">
            <a:solidFill>
              <a:srgbClr val="CBD5E1"/>
            </a:solidFill>
            <a:prstDash val="solid"/>
          </a:ln>
        </p:spPr>
      </p:sp>
      <p:sp>
        <p:nvSpPr>
          <p:cNvPr id="101" name="Text 99"/>
          <p:cNvSpPr txBox="1"/>
          <p:nvPr/>
        </p:nvSpPr>
        <p:spPr>
          <a:xfrm>
            <a:off x="2660904" y="5129784"/>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N/A (program start)</a:t>
            </a:r>
            <a:endParaRPr lang="en-US" sz="850" dirty="0"/>
          </a:p>
        </p:txBody>
      </p:sp>
      <p:sp>
        <p:nvSpPr>
          <p:cNvPr id="102" name="Shape 100"/>
          <p:cNvSpPr/>
          <p:nvPr/>
        </p:nvSpPr>
        <p:spPr>
          <a:xfrm>
            <a:off x="4617720" y="5093208"/>
            <a:ext cx="2331720" cy="411480"/>
          </a:xfrm>
          <a:prstGeom prst="rect">
            <a:avLst/>
          </a:prstGeom>
          <a:solidFill>
            <a:srgbClr val="FFFFFF"/>
          </a:solidFill>
          <a:ln w="12700">
            <a:solidFill>
              <a:srgbClr val="CBD5E1"/>
            </a:solidFill>
            <a:prstDash val="solid"/>
          </a:ln>
        </p:spPr>
      </p:sp>
      <p:sp>
        <p:nvSpPr>
          <p:cNvPr id="103" name="Text 101"/>
          <p:cNvSpPr txBox="1"/>
          <p:nvPr/>
        </p:nvSpPr>
        <p:spPr>
          <a:xfrm>
            <a:off x="4672584" y="5129784"/>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&gt;80% of modelled</a:t>
            </a:r>
            <a:endParaRPr lang="en-US" sz="850" dirty="0"/>
          </a:p>
        </p:txBody>
      </p:sp>
      <p:sp>
        <p:nvSpPr>
          <p:cNvPr id="104" name="Shape 102"/>
          <p:cNvSpPr/>
          <p:nvPr/>
        </p:nvSpPr>
        <p:spPr>
          <a:xfrm>
            <a:off x="6949440" y="5093208"/>
            <a:ext cx="1463040" cy="411480"/>
          </a:xfrm>
          <a:prstGeom prst="rect">
            <a:avLst/>
          </a:prstGeom>
          <a:solidFill>
            <a:srgbClr val="FFFFFF"/>
          </a:solidFill>
          <a:ln w="12700">
            <a:solidFill>
              <a:srgbClr val="CBD5E1"/>
            </a:solidFill>
            <a:prstDash val="solid"/>
          </a:ln>
        </p:spPr>
      </p:sp>
      <p:sp>
        <p:nvSpPr>
          <p:cNvPr id="105" name="Text 103"/>
          <p:cNvSpPr txBox="1"/>
          <p:nvPr/>
        </p:nvSpPr>
        <p:spPr>
          <a:xfrm>
            <a:off x="7004304" y="5129784"/>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CFO / FinOps</a:t>
            </a:r>
            <a:endParaRPr lang="en-US" sz="850" dirty="0"/>
          </a:p>
        </p:txBody>
      </p:sp>
      <p:sp>
        <p:nvSpPr>
          <p:cNvPr id="106" name="Shape 104"/>
          <p:cNvSpPr/>
          <p:nvPr/>
        </p:nvSpPr>
        <p:spPr>
          <a:xfrm>
            <a:off x="8412480" y="5093208"/>
            <a:ext cx="1188720" cy="411480"/>
          </a:xfrm>
          <a:prstGeom prst="rect">
            <a:avLst/>
          </a:prstGeom>
          <a:solidFill>
            <a:srgbClr val="FFFFFF"/>
          </a:solidFill>
          <a:ln w="12700">
            <a:solidFill>
              <a:srgbClr val="CBD5E1"/>
            </a:solidFill>
            <a:prstDash val="solid"/>
          </a:ln>
        </p:spPr>
      </p:sp>
      <p:sp>
        <p:nvSpPr>
          <p:cNvPr id="107" name="Text 105"/>
          <p:cNvSpPr txBox="1"/>
          <p:nvPr/>
        </p:nvSpPr>
        <p:spPr>
          <a:xfrm>
            <a:off x="8467344" y="5129784"/>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Monthly</a:t>
            </a:r>
            <a:endParaRPr lang="en-US" sz="850" dirty="0"/>
          </a:p>
        </p:txBody>
      </p:sp>
      <p:sp>
        <p:nvSpPr>
          <p:cNvPr id="108" name="Shape 106"/>
          <p:cNvSpPr/>
          <p:nvPr/>
        </p:nvSpPr>
        <p:spPr>
          <a:xfrm>
            <a:off x="274320" y="5541264"/>
            <a:ext cx="2331720" cy="411480"/>
          </a:xfrm>
          <a:prstGeom prst="rect">
            <a:avLst/>
          </a:prstGeom>
          <a:solidFill>
            <a:srgbClr val="F2F4F5"/>
          </a:solidFill>
          <a:ln w="12700">
            <a:solidFill>
              <a:srgbClr val="CBD5E1"/>
            </a:solidFill>
            <a:prstDash val="solid"/>
          </a:ln>
        </p:spPr>
      </p:sp>
      <p:sp>
        <p:nvSpPr>
          <p:cNvPr id="109" name="Text 107"/>
          <p:cNvSpPr txBox="1"/>
          <p:nvPr/>
        </p:nvSpPr>
        <p:spPr>
          <a:xfrm>
            <a:off x="329184" y="5577840"/>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Open Anomaly Events (P1)</a:t>
            </a:r>
            <a:endParaRPr lang="en-US" sz="950" dirty="0"/>
          </a:p>
        </p:txBody>
      </p:sp>
      <p:sp>
        <p:nvSpPr>
          <p:cNvPr id="110" name="Shape 108"/>
          <p:cNvSpPr/>
          <p:nvPr/>
        </p:nvSpPr>
        <p:spPr>
          <a:xfrm>
            <a:off x="2606040" y="5541264"/>
            <a:ext cx="2011680" cy="411480"/>
          </a:xfrm>
          <a:prstGeom prst="rect">
            <a:avLst/>
          </a:prstGeom>
          <a:solidFill>
            <a:srgbClr val="F2F4F5"/>
          </a:solidFill>
          <a:ln w="12700">
            <a:solidFill>
              <a:srgbClr val="CBD5E1"/>
            </a:solidFill>
            <a:prstDash val="solid"/>
          </a:ln>
        </p:spPr>
      </p:sp>
      <p:sp>
        <p:nvSpPr>
          <p:cNvPr id="111" name="Text 109"/>
          <p:cNvSpPr txBox="1"/>
          <p:nvPr/>
        </p:nvSpPr>
        <p:spPr>
          <a:xfrm>
            <a:off x="2660904" y="5577840"/>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Unknown baseline</a:t>
            </a:r>
            <a:endParaRPr lang="en-US" sz="850" dirty="0"/>
          </a:p>
        </p:txBody>
      </p:sp>
      <p:sp>
        <p:nvSpPr>
          <p:cNvPr id="112" name="Shape 110"/>
          <p:cNvSpPr/>
          <p:nvPr/>
        </p:nvSpPr>
        <p:spPr>
          <a:xfrm>
            <a:off x="4617720" y="5541264"/>
            <a:ext cx="2331720" cy="411480"/>
          </a:xfrm>
          <a:prstGeom prst="rect">
            <a:avLst/>
          </a:prstGeom>
          <a:solidFill>
            <a:srgbClr val="F2F4F5"/>
          </a:solidFill>
          <a:ln w="12700">
            <a:solidFill>
              <a:srgbClr val="CBD5E1"/>
            </a:solidFill>
            <a:prstDash val="solid"/>
          </a:ln>
        </p:spPr>
      </p:sp>
      <p:sp>
        <p:nvSpPr>
          <p:cNvPr id="113" name="Text 111"/>
          <p:cNvSpPr txBox="1"/>
          <p:nvPr/>
        </p:nvSpPr>
        <p:spPr>
          <a:xfrm>
            <a:off x="4672584" y="5577840"/>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0 unresolved &gt;24h</a:t>
            </a:r>
            <a:endParaRPr lang="en-US" sz="850" dirty="0"/>
          </a:p>
        </p:txBody>
      </p:sp>
      <p:sp>
        <p:nvSpPr>
          <p:cNvPr id="114" name="Shape 112"/>
          <p:cNvSpPr/>
          <p:nvPr/>
        </p:nvSpPr>
        <p:spPr>
          <a:xfrm>
            <a:off x="6949440" y="5541264"/>
            <a:ext cx="1463040" cy="411480"/>
          </a:xfrm>
          <a:prstGeom prst="rect">
            <a:avLst/>
          </a:prstGeom>
          <a:solidFill>
            <a:srgbClr val="F2F4F5"/>
          </a:solidFill>
          <a:ln w="12700">
            <a:solidFill>
              <a:srgbClr val="CBD5E1"/>
            </a:solidFill>
            <a:prstDash val="solid"/>
          </a:ln>
        </p:spPr>
      </p:sp>
      <p:sp>
        <p:nvSpPr>
          <p:cNvPr id="115" name="Text 113"/>
          <p:cNvSpPr txBox="1"/>
          <p:nvPr/>
        </p:nvSpPr>
        <p:spPr>
          <a:xfrm>
            <a:off x="7004304" y="5577840"/>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Eng / FinOps</a:t>
            </a:r>
            <a:endParaRPr lang="en-US" sz="850" dirty="0"/>
          </a:p>
        </p:txBody>
      </p:sp>
      <p:sp>
        <p:nvSpPr>
          <p:cNvPr id="116" name="Shape 114"/>
          <p:cNvSpPr/>
          <p:nvPr/>
        </p:nvSpPr>
        <p:spPr>
          <a:xfrm>
            <a:off x="8412480" y="5541264"/>
            <a:ext cx="1188720" cy="411480"/>
          </a:xfrm>
          <a:prstGeom prst="rect">
            <a:avLst/>
          </a:prstGeom>
          <a:solidFill>
            <a:srgbClr val="F2F4F5"/>
          </a:solidFill>
          <a:ln w="12700">
            <a:solidFill>
              <a:srgbClr val="CBD5E1"/>
            </a:solidFill>
            <a:prstDash val="solid"/>
          </a:ln>
        </p:spPr>
      </p:sp>
      <p:sp>
        <p:nvSpPr>
          <p:cNvPr id="117" name="Text 115"/>
          <p:cNvSpPr txBox="1"/>
          <p:nvPr/>
        </p:nvSpPr>
        <p:spPr>
          <a:xfrm>
            <a:off x="8467344" y="5577840"/>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Daily</a:t>
            </a:r>
            <a:endParaRPr lang="en-US" sz="850" dirty="0"/>
          </a:p>
        </p:txBody>
      </p:sp>
      <p:sp>
        <p:nvSpPr>
          <p:cNvPr id="118" name="Shape 116"/>
          <p:cNvSpPr/>
          <p:nvPr/>
        </p:nvSpPr>
        <p:spPr>
          <a:xfrm>
            <a:off x="274320" y="5989320"/>
            <a:ext cx="2331720" cy="411480"/>
          </a:xfrm>
          <a:prstGeom prst="rect">
            <a:avLst/>
          </a:prstGeom>
          <a:solidFill>
            <a:srgbClr val="FFFFFF"/>
          </a:solidFill>
          <a:ln w="12700">
            <a:solidFill>
              <a:srgbClr val="CBD5E1"/>
            </a:solidFill>
            <a:prstDash val="solid"/>
          </a:ln>
        </p:spPr>
      </p:sp>
      <p:sp>
        <p:nvSpPr>
          <p:cNvPr id="119" name="Text 117"/>
          <p:cNvSpPr txBox="1"/>
          <p:nvPr/>
        </p:nvSpPr>
        <p:spPr>
          <a:xfrm>
            <a:off x="329184" y="6025896"/>
            <a:ext cx="2221992" cy="338328"/>
          </a:xfrm>
          <a:prstGeom prst="rect">
            <a:avLst/>
          </a:prstGeom>
          <a:noFill/>
          <a:ln/>
        </p:spPr>
        <p:txBody>
          <a:bodyPr wrap="square" lIns="0" tIns="0" rIns="0" bIns="0" rtlCol="0" anchor="ctr"/>
          <a:lstStyle/>
          <a:p>
            <a:pPr algn="l" indent="0" marL="0">
              <a:buNone/>
            </a:pPr>
            <a:r>
              <a:rPr lang="en-US" sz="950" b="1" dirty="0">
                <a:solidFill>
                  <a:srgbClr val="0F2D56"/>
                </a:solidFill>
                <a:latin typeface="Calibri" pitchFamily="34" charset="0"/>
                <a:ea typeface="Calibri" pitchFamily="34" charset="-122"/>
                <a:cs typeface="Calibri" pitchFamily="34" charset="-120"/>
              </a:rPr>
              <a:t>Overdue Remediation Tickets</a:t>
            </a:r>
            <a:endParaRPr lang="en-US" sz="950" dirty="0"/>
          </a:p>
        </p:txBody>
      </p:sp>
      <p:sp>
        <p:nvSpPr>
          <p:cNvPr id="120" name="Shape 118"/>
          <p:cNvSpPr/>
          <p:nvPr/>
        </p:nvSpPr>
        <p:spPr>
          <a:xfrm>
            <a:off x="2606040" y="5989320"/>
            <a:ext cx="2011680" cy="411480"/>
          </a:xfrm>
          <a:prstGeom prst="rect">
            <a:avLst/>
          </a:prstGeom>
          <a:solidFill>
            <a:srgbClr val="FFFFFF"/>
          </a:solidFill>
          <a:ln w="12700">
            <a:solidFill>
              <a:srgbClr val="CBD5E1"/>
            </a:solidFill>
            <a:prstDash val="solid"/>
          </a:ln>
        </p:spPr>
      </p:sp>
      <p:sp>
        <p:nvSpPr>
          <p:cNvPr id="121" name="Text 119"/>
          <p:cNvSpPr txBox="1"/>
          <p:nvPr/>
        </p:nvSpPr>
        <p:spPr>
          <a:xfrm>
            <a:off x="2660904" y="6025896"/>
            <a:ext cx="190195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Unknown baseline</a:t>
            </a:r>
            <a:endParaRPr lang="en-US" sz="850" dirty="0"/>
          </a:p>
        </p:txBody>
      </p:sp>
      <p:sp>
        <p:nvSpPr>
          <p:cNvPr id="122" name="Shape 120"/>
          <p:cNvSpPr/>
          <p:nvPr/>
        </p:nvSpPr>
        <p:spPr>
          <a:xfrm>
            <a:off x="4617720" y="5989320"/>
            <a:ext cx="2331720" cy="411480"/>
          </a:xfrm>
          <a:prstGeom prst="rect">
            <a:avLst/>
          </a:prstGeom>
          <a:solidFill>
            <a:srgbClr val="FFFFFF"/>
          </a:solidFill>
          <a:ln w="12700">
            <a:solidFill>
              <a:srgbClr val="CBD5E1"/>
            </a:solidFill>
            <a:prstDash val="solid"/>
          </a:ln>
        </p:spPr>
      </p:sp>
      <p:sp>
        <p:nvSpPr>
          <p:cNvPr id="123" name="Text 121"/>
          <p:cNvSpPr txBox="1"/>
          <p:nvPr/>
        </p:nvSpPr>
        <p:spPr>
          <a:xfrm>
            <a:off x="4672584" y="6025896"/>
            <a:ext cx="2221992" cy="338328"/>
          </a:xfrm>
          <a:prstGeom prst="rect">
            <a:avLst/>
          </a:prstGeom>
          <a:noFill/>
          <a:ln/>
        </p:spPr>
        <p:txBody>
          <a:bodyPr wrap="square" lIns="0" tIns="0" rIns="0" bIns="0" rtlCol="0" anchor="ctr"/>
          <a:lstStyle/>
          <a:p>
            <a:pPr algn="ctr" indent="0" marL="0">
              <a:buNone/>
            </a:pPr>
            <a:r>
              <a:rPr lang="en-US" sz="850" dirty="0">
                <a:solidFill>
                  <a:srgbClr val="1A8A4A"/>
                </a:solidFill>
                <a:latin typeface="Calibri" pitchFamily="34" charset="0"/>
                <a:ea typeface="Calibri" pitchFamily="34" charset="-122"/>
                <a:cs typeface="Calibri" pitchFamily="34" charset="-120"/>
              </a:rPr>
              <a:t>0 overdue &gt;SLA</a:t>
            </a:r>
            <a:endParaRPr lang="en-US" sz="850" dirty="0"/>
          </a:p>
        </p:txBody>
      </p:sp>
      <p:sp>
        <p:nvSpPr>
          <p:cNvPr id="124" name="Shape 122"/>
          <p:cNvSpPr/>
          <p:nvPr/>
        </p:nvSpPr>
        <p:spPr>
          <a:xfrm>
            <a:off x="6949440" y="5989320"/>
            <a:ext cx="1463040" cy="411480"/>
          </a:xfrm>
          <a:prstGeom prst="rect">
            <a:avLst/>
          </a:prstGeom>
          <a:solidFill>
            <a:srgbClr val="FFFFFF"/>
          </a:solidFill>
          <a:ln w="12700">
            <a:solidFill>
              <a:srgbClr val="CBD5E1"/>
            </a:solidFill>
            <a:prstDash val="solid"/>
          </a:ln>
        </p:spPr>
      </p:sp>
      <p:sp>
        <p:nvSpPr>
          <p:cNvPr id="125" name="Text 123"/>
          <p:cNvSpPr txBox="1"/>
          <p:nvPr/>
        </p:nvSpPr>
        <p:spPr>
          <a:xfrm>
            <a:off x="7004304" y="6025896"/>
            <a:ext cx="135331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VP Eng</a:t>
            </a:r>
            <a:endParaRPr lang="en-US" sz="850" dirty="0"/>
          </a:p>
        </p:txBody>
      </p:sp>
      <p:sp>
        <p:nvSpPr>
          <p:cNvPr id="126" name="Shape 124"/>
          <p:cNvSpPr/>
          <p:nvPr/>
        </p:nvSpPr>
        <p:spPr>
          <a:xfrm>
            <a:off x="8412480" y="5989320"/>
            <a:ext cx="1188720" cy="411480"/>
          </a:xfrm>
          <a:prstGeom prst="rect">
            <a:avLst/>
          </a:prstGeom>
          <a:solidFill>
            <a:srgbClr val="FFFFFF"/>
          </a:solidFill>
          <a:ln w="12700">
            <a:solidFill>
              <a:srgbClr val="CBD5E1"/>
            </a:solidFill>
            <a:prstDash val="solid"/>
          </a:ln>
        </p:spPr>
      </p:sp>
      <p:sp>
        <p:nvSpPr>
          <p:cNvPr id="127" name="Text 125"/>
          <p:cNvSpPr txBox="1"/>
          <p:nvPr/>
        </p:nvSpPr>
        <p:spPr>
          <a:xfrm>
            <a:off x="8467344" y="6025896"/>
            <a:ext cx="1078992" cy="338328"/>
          </a:xfrm>
          <a:prstGeom prst="rect">
            <a:avLst/>
          </a:prstGeom>
          <a:noFill/>
          <a:ln/>
        </p:spPr>
        <p:txBody>
          <a:bodyPr wrap="square" lIns="0" tIns="0" rIns="0" bIns="0" rtlCol="0" anchor="ctr"/>
          <a:lstStyle/>
          <a:p>
            <a:pPr algn="ctr" indent="0" marL="0">
              <a:buNone/>
            </a:pPr>
            <a:r>
              <a:rPr lang="en-US" sz="850" dirty="0">
                <a:solidFill>
                  <a:srgbClr val="3A4A5C"/>
                </a:solidFill>
                <a:latin typeface="Calibri" pitchFamily="34" charset="0"/>
                <a:ea typeface="Calibri" pitchFamily="34" charset="-122"/>
                <a:cs typeface="Calibri" pitchFamily="34" charset="-120"/>
              </a:rPr>
              <a:t>Weekly</a:t>
            </a:r>
            <a:endParaRPr lang="en-US" sz="850" dirty="0"/>
          </a:p>
        </p:txBody>
      </p:sp>
      <p:sp>
        <p:nvSpPr>
          <p:cNvPr id="128" name="Shape 126"/>
          <p:cNvSpPr/>
          <p:nvPr/>
        </p:nvSpPr>
        <p:spPr>
          <a:xfrm>
            <a:off x="274320" y="6455664"/>
            <a:ext cx="11612880" cy="256032"/>
          </a:xfrm>
          <a:prstGeom prst="roundRect">
            <a:avLst>
              <a:gd name="adj" fmla="val 17857"/>
            </a:avLst>
          </a:prstGeom>
          <a:solidFill>
            <a:srgbClr val="0F2D56"/>
          </a:solidFill>
          <a:ln w="12700">
            <a:solidFill>
              <a:srgbClr val="0F2D56"/>
            </a:solidFill>
            <a:prstDash val="solid"/>
          </a:ln>
        </p:spPr>
      </p:sp>
      <p:sp>
        <p:nvSpPr>
          <p:cNvPr id="129" name="Text 127"/>
          <p:cNvSpPr txBox="1"/>
          <p:nvPr/>
        </p:nvSpPr>
        <p:spPr>
          <a:xfrm>
            <a:off x="365760" y="6464808"/>
            <a:ext cx="11430000"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MTTD targets are forward-looking KPI targets, not historical achievements — source data lacks detection/acknowledgement timestamps for historical baselining.</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D56"/>
        </a:solidFill>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0E7C87"/>
          </a:solidFill>
          <a:ln w="12700">
            <a:solidFill>
              <a:srgbClr val="0E7C87"/>
            </a:solidFill>
            <a:prstDash val="solid"/>
          </a:ln>
        </p:spPr>
      </p:sp>
      <p:sp>
        <p:nvSpPr>
          <p:cNvPr id="3" name="Text 1"/>
          <p:cNvSpPr txBox="1"/>
          <p:nvPr/>
        </p:nvSpPr>
        <p:spPr>
          <a:xfrm>
            <a:off x="457200" y="228600"/>
            <a:ext cx="11247120" cy="502920"/>
          </a:xfrm>
          <a:prstGeom prst="rect">
            <a:avLst/>
          </a:prstGeom>
          <a:noFill/>
          <a:ln/>
        </p:spPr>
        <p:txBody>
          <a:bodyPr wrap="square" lIns="0" tIns="0" rIns="0" bIns="0" rtlCol="0" anchor="ctr"/>
          <a:lstStyle/>
          <a:p>
            <a:pPr algn="ctr" indent="0" marL="0">
              <a:buNone/>
            </a:pPr>
            <a:r>
              <a:rPr lang="en-US" sz="1400" b="1" spc="300" kern="0" dirty="0">
                <a:solidFill>
                  <a:srgbClr val="0E7C87"/>
                </a:solidFill>
                <a:latin typeface="Calibri" pitchFamily="34" charset="0"/>
                <a:ea typeface="Calibri" pitchFamily="34" charset="-122"/>
                <a:cs typeface="Calibri" pitchFamily="34" charset="-120"/>
              </a:rPr>
              <a:t>Decision Required</a:t>
            </a:r>
            <a:endParaRPr lang="en-US" sz="1400" dirty="0"/>
          </a:p>
        </p:txBody>
      </p:sp>
      <p:sp>
        <p:nvSpPr>
          <p:cNvPr id="4" name="Text 2"/>
          <p:cNvSpPr txBox="1"/>
          <p:nvPr/>
        </p:nvSpPr>
        <p:spPr>
          <a:xfrm>
            <a:off x="457200" y="731520"/>
            <a:ext cx="11247120"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Approve the 90-Day FinOps Optimisation Program</a:t>
            </a:r>
            <a:endParaRPr lang="en-US" sz="3000" dirty="0"/>
          </a:p>
        </p:txBody>
      </p:sp>
      <p:sp>
        <p:nvSpPr>
          <p:cNvPr id="5" name="Shape 3"/>
          <p:cNvSpPr/>
          <p:nvPr/>
        </p:nvSpPr>
        <p:spPr>
          <a:xfrm>
            <a:off x="365760" y="1536192"/>
            <a:ext cx="5760720" cy="914400"/>
          </a:xfrm>
          <a:prstGeom prst="roundRect">
            <a:avLst>
              <a:gd name="adj" fmla="val 8000"/>
            </a:avLst>
          </a:prstGeom>
          <a:solidFill>
            <a:srgbClr val="FFFFFF"/>
          </a:solidFill>
          <a:ln w="12700">
            <a:solidFill>
              <a:srgbClr val="0E7C87"/>
            </a:solidFill>
            <a:prstDash val="solid"/>
          </a:ln>
        </p:spPr>
      </p:sp>
      <p:sp>
        <p:nvSpPr>
          <p:cNvPr id="6" name="Shape 4"/>
          <p:cNvSpPr/>
          <p:nvPr/>
        </p:nvSpPr>
        <p:spPr>
          <a:xfrm>
            <a:off x="475488" y="1792224"/>
            <a:ext cx="384048" cy="384048"/>
          </a:xfrm>
          <a:prstGeom prst="ellipse">
            <a:avLst/>
          </a:prstGeom>
          <a:solidFill>
            <a:srgbClr val="0E7C87"/>
          </a:solidFill>
          <a:ln w="12700">
            <a:solidFill>
              <a:srgbClr val="0E7C87"/>
            </a:solidFill>
            <a:prstDash val="solid"/>
          </a:ln>
        </p:spPr>
      </p:sp>
      <p:sp>
        <p:nvSpPr>
          <p:cNvPr id="7" name="Text 5"/>
          <p:cNvSpPr txBox="1"/>
          <p:nvPr/>
        </p:nvSpPr>
        <p:spPr>
          <a:xfrm>
            <a:off x="475488" y="1792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960120" y="160020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PROGRAM APPROVAL</a:t>
            </a:r>
            <a:endParaRPr lang="en-US" sz="800" dirty="0"/>
          </a:p>
        </p:txBody>
      </p:sp>
      <p:sp>
        <p:nvSpPr>
          <p:cNvPr id="9" name="Text 7"/>
          <p:cNvSpPr txBox="1"/>
          <p:nvPr/>
        </p:nvSpPr>
        <p:spPr>
          <a:xfrm>
            <a:off x="960120" y="181051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Approve execution of the 90-day FinOps optimisation program</a:t>
            </a:r>
            <a:endParaRPr lang="en-US" sz="1000" dirty="0"/>
          </a:p>
        </p:txBody>
      </p:sp>
      <p:sp>
        <p:nvSpPr>
          <p:cNvPr id="10" name="Shape 8"/>
          <p:cNvSpPr/>
          <p:nvPr/>
        </p:nvSpPr>
        <p:spPr>
          <a:xfrm>
            <a:off x="365760" y="2587752"/>
            <a:ext cx="5760720" cy="914400"/>
          </a:xfrm>
          <a:prstGeom prst="roundRect">
            <a:avLst>
              <a:gd name="adj" fmla="val 8000"/>
            </a:avLst>
          </a:prstGeom>
          <a:solidFill>
            <a:srgbClr val="FFFFFF"/>
          </a:solidFill>
          <a:ln w="12700">
            <a:solidFill>
              <a:srgbClr val="0E7C87"/>
            </a:solidFill>
            <a:prstDash val="solid"/>
          </a:ln>
        </p:spPr>
      </p:sp>
      <p:sp>
        <p:nvSpPr>
          <p:cNvPr id="11" name="Shape 9"/>
          <p:cNvSpPr/>
          <p:nvPr/>
        </p:nvSpPr>
        <p:spPr>
          <a:xfrm>
            <a:off x="475488" y="2843784"/>
            <a:ext cx="384048" cy="384048"/>
          </a:xfrm>
          <a:prstGeom prst="ellipse">
            <a:avLst/>
          </a:prstGeom>
          <a:solidFill>
            <a:srgbClr val="0E7C87"/>
          </a:solidFill>
          <a:ln w="12700">
            <a:solidFill>
              <a:srgbClr val="0E7C87"/>
            </a:solidFill>
            <a:prstDash val="solid"/>
          </a:ln>
        </p:spPr>
      </p:sp>
      <p:sp>
        <p:nvSpPr>
          <p:cNvPr id="12" name="Text 10"/>
          <p:cNvSpPr txBox="1"/>
          <p:nvPr/>
        </p:nvSpPr>
        <p:spPr>
          <a:xfrm>
            <a:off x="475488"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960120" y="265176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ENGINEERING CAPACITY</a:t>
            </a:r>
            <a:endParaRPr lang="en-US" sz="800" dirty="0"/>
          </a:p>
        </p:txBody>
      </p:sp>
      <p:sp>
        <p:nvSpPr>
          <p:cNvPr id="14" name="Text 12"/>
          <p:cNvSpPr txBox="1"/>
          <p:nvPr/>
        </p:nvSpPr>
        <p:spPr>
          <a:xfrm>
            <a:off x="960120" y="286207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Allocate engineering capacity for implementation — scope to be finalised Week 1</a:t>
            </a:r>
            <a:endParaRPr lang="en-US" sz="1000" dirty="0"/>
          </a:p>
        </p:txBody>
      </p:sp>
      <p:sp>
        <p:nvSpPr>
          <p:cNvPr id="15" name="Shape 13"/>
          <p:cNvSpPr/>
          <p:nvPr/>
        </p:nvSpPr>
        <p:spPr>
          <a:xfrm>
            <a:off x="365760" y="3639312"/>
            <a:ext cx="5760720" cy="914400"/>
          </a:xfrm>
          <a:prstGeom prst="roundRect">
            <a:avLst>
              <a:gd name="adj" fmla="val 8000"/>
            </a:avLst>
          </a:prstGeom>
          <a:solidFill>
            <a:srgbClr val="FFFFFF"/>
          </a:solidFill>
          <a:ln w="12700">
            <a:solidFill>
              <a:srgbClr val="0E7C87"/>
            </a:solidFill>
            <a:prstDash val="solid"/>
          </a:ln>
        </p:spPr>
      </p:sp>
      <p:sp>
        <p:nvSpPr>
          <p:cNvPr id="16" name="Shape 14"/>
          <p:cNvSpPr/>
          <p:nvPr/>
        </p:nvSpPr>
        <p:spPr>
          <a:xfrm>
            <a:off x="475488" y="3895344"/>
            <a:ext cx="384048" cy="384048"/>
          </a:xfrm>
          <a:prstGeom prst="ellipse">
            <a:avLst/>
          </a:prstGeom>
          <a:solidFill>
            <a:srgbClr val="0E7C87"/>
          </a:solidFill>
          <a:ln w="12700">
            <a:solidFill>
              <a:srgbClr val="0E7C87"/>
            </a:solidFill>
            <a:prstDash val="solid"/>
          </a:ln>
        </p:spPr>
      </p:sp>
      <p:sp>
        <p:nvSpPr>
          <p:cNvPr id="17" name="Text 15"/>
          <p:cNvSpPr txBox="1"/>
          <p:nvPr/>
        </p:nvSpPr>
        <p:spPr>
          <a:xfrm>
            <a:off x="475488" y="3895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960120" y="370332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COMPLIANCE CAPACITY</a:t>
            </a:r>
            <a:endParaRPr lang="en-US" sz="800" dirty="0"/>
          </a:p>
        </p:txBody>
      </p:sp>
      <p:sp>
        <p:nvSpPr>
          <p:cNvPr id="19" name="Text 17"/>
          <p:cNvSpPr txBox="1"/>
          <p:nvPr/>
        </p:nvSpPr>
        <p:spPr>
          <a:xfrm>
            <a:off x="960120" y="391363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Allocate Compliance/Security review capacity for regulated workload changes</a:t>
            </a:r>
            <a:endParaRPr lang="en-US" sz="1000" dirty="0"/>
          </a:p>
        </p:txBody>
      </p:sp>
      <p:sp>
        <p:nvSpPr>
          <p:cNvPr id="20" name="Shape 18"/>
          <p:cNvSpPr/>
          <p:nvPr/>
        </p:nvSpPr>
        <p:spPr>
          <a:xfrm>
            <a:off x="365760" y="4690872"/>
            <a:ext cx="5760720" cy="914400"/>
          </a:xfrm>
          <a:prstGeom prst="roundRect">
            <a:avLst>
              <a:gd name="adj" fmla="val 8000"/>
            </a:avLst>
          </a:prstGeom>
          <a:solidFill>
            <a:srgbClr val="FFFFFF"/>
          </a:solidFill>
          <a:ln w="12700">
            <a:solidFill>
              <a:srgbClr val="0E7C87"/>
            </a:solidFill>
            <a:prstDash val="solid"/>
          </a:ln>
        </p:spPr>
      </p:sp>
      <p:sp>
        <p:nvSpPr>
          <p:cNvPr id="21" name="Shape 19"/>
          <p:cNvSpPr/>
          <p:nvPr/>
        </p:nvSpPr>
        <p:spPr>
          <a:xfrm>
            <a:off x="475488" y="4946904"/>
            <a:ext cx="384048" cy="384048"/>
          </a:xfrm>
          <a:prstGeom prst="ellipse">
            <a:avLst/>
          </a:prstGeom>
          <a:solidFill>
            <a:srgbClr val="0E7C87"/>
          </a:solidFill>
          <a:ln w="12700">
            <a:solidFill>
              <a:srgbClr val="0E7C87"/>
            </a:solidFill>
            <a:prstDash val="solid"/>
          </a:ln>
        </p:spPr>
      </p:sp>
      <p:sp>
        <p:nvSpPr>
          <p:cNvPr id="22" name="Text 20"/>
          <p:cNvSpPr txBox="1"/>
          <p:nvPr/>
        </p:nvSpPr>
        <p:spPr>
          <a:xfrm>
            <a:off x="475488"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60120" y="475488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RI/SP APPROVAL</a:t>
            </a:r>
            <a:endParaRPr lang="en-US" sz="800" dirty="0"/>
          </a:p>
        </p:txBody>
      </p:sp>
      <p:sp>
        <p:nvSpPr>
          <p:cNvPr id="24" name="Text 22"/>
          <p:cNvSpPr txBox="1"/>
          <p:nvPr/>
        </p:nvSpPr>
        <p:spPr>
          <a:xfrm>
            <a:off x="960120" y="496519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Approve controlled RI/Savings Plan commitments after utilisation validation (1-yr Partial Upfront)</a:t>
            </a:r>
            <a:endParaRPr lang="en-US" sz="1000" dirty="0"/>
          </a:p>
        </p:txBody>
      </p:sp>
      <p:sp>
        <p:nvSpPr>
          <p:cNvPr id="25" name="Shape 23"/>
          <p:cNvSpPr/>
          <p:nvPr/>
        </p:nvSpPr>
        <p:spPr>
          <a:xfrm>
            <a:off x="6446520" y="1536192"/>
            <a:ext cx="5760720" cy="914400"/>
          </a:xfrm>
          <a:prstGeom prst="roundRect">
            <a:avLst>
              <a:gd name="adj" fmla="val 8000"/>
            </a:avLst>
          </a:prstGeom>
          <a:solidFill>
            <a:srgbClr val="FFFFFF"/>
          </a:solidFill>
          <a:ln w="12700">
            <a:solidFill>
              <a:srgbClr val="0E7C87"/>
            </a:solidFill>
            <a:prstDash val="solid"/>
          </a:ln>
        </p:spPr>
      </p:sp>
      <p:sp>
        <p:nvSpPr>
          <p:cNvPr id="26" name="Shape 24"/>
          <p:cNvSpPr/>
          <p:nvPr/>
        </p:nvSpPr>
        <p:spPr>
          <a:xfrm>
            <a:off x="6556248" y="1792224"/>
            <a:ext cx="384048" cy="384048"/>
          </a:xfrm>
          <a:prstGeom prst="ellipse">
            <a:avLst/>
          </a:prstGeom>
          <a:solidFill>
            <a:srgbClr val="0E7C87"/>
          </a:solidFill>
          <a:ln w="12700">
            <a:solidFill>
              <a:srgbClr val="0E7C87"/>
            </a:solidFill>
            <a:prstDash val="solid"/>
          </a:ln>
        </p:spPr>
      </p:sp>
      <p:sp>
        <p:nvSpPr>
          <p:cNvPr id="27" name="Text 25"/>
          <p:cNvSpPr txBox="1"/>
          <p:nvPr/>
        </p:nvSpPr>
        <p:spPr>
          <a:xfrm>
            <a:off x="6556248" y="1792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7040880" y="160020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GUARDRAIL AUTHORITY</a:t>
            </a:r>
            <a:endParaRPr lang="en-US" sz="800" dirty="0"/>
          </a:p>
        </p:txBody>
      </p:sp>
      <p:sp>
        <p:nvSpPr>
          <p:cNvPr id="29" name="Text 27"/>
          <p:cNvSpPr txBox="1"/>
          <p:nvPr/>
        </p:nvSpPr>
        <p:spPr>
          <a:xfrm>
            <a:off x="7040880" y="181051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Authorize enforcement of approved policy-as-code guardrails (SCP, Config rules)</a:t>
            </a:r>
            <a:endParaRPr lang="en-US" sz="1000" dirty="0"/>
          </a:p>
        </p:txBody>
      </p:sp>
      <p:sp>
        <p:nvSpPr>
          <p:cNvPr id="30" name="Shape 28"/>
          <p:cNvSpPr/>
          <p:nvPr/>
        </p:nvSpPr>
        <p:spPr>
          <a:xfrm>
            <a:off x="6446520" y="2587752"/>
            <a:ext cx="5760720" cy="914400"/>
          </a:xfrm>
          <a:prstGeom prst="roundRect">
            <a:avLst>
              <a:gd name="adj" fmla="val 8000"/>
            </a:avLst>
          </a:prstGeom>
          <a:solidFill>
            <a:srgbClr val="FFFFFF"/>
          </a:solidFill>
          <a:ln w="12700">
            <a:solidFill>
              <a:srgbClr val="0E7C87"/>
            </a:solidFill>
            <a:prstDash val="solid"/>
          </a:ln>
        </p:spPr>
      </p:sp>
      <p:sp>
        <p:nvSpPr>
          <p:cNvPr id="31" name="Shape 29"/>
          <p:cNvSpPr/>
          <p:nvPr/>
        </p:nvSpPr>
        <p:spPr>
          <a:xfrm>
            <a:off x="6556248" y="2843784"/>
            <a:ext cx="384048" cy="384048"/>
          </a:xfrm>
          <a:prstGeom prst="ellipse">
            <a:avLst/>
          </a:prstGeom>
          <a:solidFill>
            <a:srgbClr val="0E7C87"/>
          </a:solidFill>
          <a:ln w="12700">
            <a:solidFill>
              <a:srgbClr val="0E7C87"/>
            </a:solidFill>
            <a:prstDash val="solid"/>
          </a:ln>
        </p:spPr>
      </p:sp>
      <p:sp>
        <p:nvSpPr>
          <p:cNvPr id="32" name="Text 30"/>
          <p:cNvSpPr txBox="1"/>
          <p:nvPr/>
        </p:nvSpPr>
        <p:spPr>
          <a:xfrm>
            <a:off x="6556248"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7040880" y="265176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MEASUREMENT AGREEMENT</a:t>
            </a:r>
            <a:endParaRPr lang="en-US" sz="800" dirty="0"/>
          </a:p>
        </p:txBody>
      </p:sp>
      <p:sp>
        <p:nvSpPr>
          <p:cNvPr id="34" name="Text 32"/>
          <p:cNvSpPr txBox="1"/>
          <p:nvPr/>
        </p:nvSpPr>
        <p:spPr>
          <a:xfrm>
            <a:off x="7040880" y="286207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Agree on savings measurement methodology and CFO scorecard baseline</a:t>
            </a:r>
            <a:endParaRPr lang="en-US" sz="1000" dirty="0"/>
          </a:p>
        </p:txBody>
      </p:sp>
      <p:sp>
        <p:nvSpPr>
          <p:cNvPr id="35" name="Shape 33"/>
          <p:cNvSpPr/>
          <p:nvPr/>
        </p:nvSpPr>
        <p:spPr>
          <a:xfrm>
            <a:off x="6446520" y="3639312"/>
            <a:ext cx="5760720" cy="914400"/>
          </a:xfrm>
          <a:prstGeom prst="roundRect">
            <a:avLst>
              <a:gd name="adj" fmla="val 8000"/>
            </a:avLst>
          </a:prstGeom>
          <a:solidFill>
            <a:srgbClr val="FFFFFF"/>
          </a:solidFill>
          <a:ln w="12700">
            <a:solidFill>
              <a:srgbClr val="0E7C87"/>
            </a:solidFill>
            <a:prstDash val="solid"/>
          </a:ln>
        </p:spPr>
      </p:sp>
      <p:sp>
        <p:nvSpPr>
          <p:cNvPr id="36" name="Shape 34"/>
          <p:cNvSpPr/>
          <p:nvPr/>
        </p:nvSpPr>
        <p:spPr>
          <a:xfrm>
            <a:off x="6556248" y="3895344"/>
            <a:ext cx="384048" cy="384048"/>
          </a:xfrm>
          <a:prstGeom prst="ellipse">
            <a:avLst/>
          </a:prstGeom>
          <a:solidFill>
            <a:srgbClr val="0E7C87"/>
          </a:solidFill>
          <a:ln w="12700">
            <a:solidFill>
              <a:srgbClr val="0E7C87"/>
            </a:solidFill>
            <a:prstDash val="solid"/>
          </a:ln>
        </p:spPr>
      </p:sp>
      <p:sp>
        <p:nvSpPr>
          <p:cNvPr id="37" name="Text 35"/>
          <p:cNvSpPr txBox="1"/>
          <p:nvPr/>
        </p:nvSpPr>
        <p:spPr>
          <a:xfrm>
            <a:off x="6556248" y="3895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txBox="1"/>
          <p:nvPr/>
        </p:nvSpPr>
        <p:spPr>
          <a:xfrm>
            <a:off x="7040880" y="3703320"/>
            <a:ext cx="5047488" cy="228600"/>
          </a:xfrm>
          <a:prstGeom prst="rect">
            <a:avLst/>
          </a:prstGeom>
          <a:noFill/>
          <a:ln/>
        </p:spPr>
        <p:txBody>
          <a:bodyPr wrap="square" lIns="0" tIns="0" rIns="0" bIns="0" rtlCol="0" anchor="ctr"/>
          <a:lstStyle/>
          <a:p>
            <a:pPr indent="0" marL="0">
              <a:buNone/>
            </a:pPr>
            <a:r>
              <a:rPr lang="en-US" sz="800" b="1" spc="100" kern="0" dirty="0">
                <a:solidFill>
                  <a:srgbClr val="0E7C87"/>
                </a:solidFill>
                <a:latin typeface="Calibri" pitchFamily="34" charset="0"/>
                <a:ea typeface="Calibri" pitchFamily="34" charset="-122"/>
                <a:cs typeface="Calibri" pitchFamily="34" charset="-120"/>
              </a:rPr>
              <a:t>CFO SPONSORSHIP</a:t>
            </a:r>
            <a:endParaRPr lang="en-US" sz="800" dirty="0"/>
          </a:p>
        </p:txBody>
      </p:sp>
      <p:sp>
        <p:nvSpPr>
          <p:cNvPr id="39" name="Text 37"/>
          <p:cNvSpPr txBox="1"/>
          <p:nvPr/>
        </p:nvSpPr>
        <p:spPr>
          <a:xfrm>
            <a:off x="7040880" y="3913632"/>
            <a:ext cx="5047488" cy="548640"/>
          </a:xfrm>
          <a:prstGeom prst="rect">
            <a:avLst/>
          </a:prstGeom>
          <a:noFill/>
          <a:ln/>
        </p:spPr>
        <p:txBody>
          <a:bodyPr wrap="square" lIns="0" tIns="0" rIns="0" bIns="0" rtlCol="0" anchor="ctr"/>
          <a:lstStyle/>
          <a:p>
            <a:pPr indent="0" marL="0">
              <a:buNone/>
            </a:pPr>
            <a:r>
              <a:rPr lang="en-US" sz="1000" dirty="0">
                <a:solidFill>
                  <a:srgbClr val="0F2D56"/>
                </a:solidFill>
                <a:latin typeface="Calibri" pitchFamily="34" charset="0"/>
                <a:ea typeface="Calibri" pitchFamily="34" charset="-122"/>
                <a:cs typeface="Calibri" pitchFamily="34" charset="-120"/>
              </a:rPr>
              <a:t>CFO sponsorship for escalation when teams miss remediation commitments</a:t>
            </a:r>
            <a:endParaRPr lang="en-US" sz="1000" dirty="0"/>
          </a:p>
        </p:txBody>
      </p:sp>
      <p:sp>
        <p:nvSpPr>
          <p:cNvPr id="40" name="Shape 38"/>
          <p:cNvSpPr/>
          <p:nvPr/>
        </p:nvSpPr>
        <p:spPr>
          <a:xfrm>
            <a:off x="6446520" y="5779008"/>
            <a:ext cx="5486400" cy="777240"/>
          </a:xfrm>
          <a:prstGeom prst="roundRect">
            <a:avLst>
              <a:gd name="adj" fmla="val 10588"/>
            </a:avLst>
          </a:prstGeom>
          <a:solidFill>
            <a:srgbClr val="0E7C87"/>
          </a:solidFill>
          <a:ln w="12700">
            <a:solidFill>
              <a:srgbClr val="0E7C87"/>
            </a:solidFill>
            <a:prstDash val="solid"/>
          </a:ln>
        </p:spPr>
      </p:sp>
      <p:sp>
        <p:nvSpPr>
          <p:cNvPr id="41" name="Text 39"/>
          <p:cNvSpPr txBox="1"/>
          <p:nvPr/>
        </p:nvSpPr>
        <p:spPr>
          <a:xfrm>
            <a:off x="6492240" y="5806440"/>
            <a:ext cx="5394960"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Questions &amp; Discussion</a:t>
            </a:r>
            <a:endParaRPr lang="en-US" sz="2000" dirty="0"/>
          </a:p>
        </p:txBody>
      </p:sp>
      <p:sp>
        <p:nvSpPr>
          <p:cNvPr id="42" name="Shape 40"/>
          <p:cNvSpPr/>
          <p:nvPr/>
        </p:nvSpPr>
        <p:spPr>
          <a:xfrm>
            <a:off x="365760" y="5779008"/>
            <a:ext cx="5870448" cy="777240"/>
          </a:xfrm>
          <a:prstGeom prst="roundRect">
            <a:avLst>
              <a:gd name="adj" fmla="val 10588"/>
            </a:avLst>
          </a:prstGeom>
          <a:solidFill>
            <a:srgbClr val="FFFFFF"/>
          </a:solidFill>
          <a:ln w="12700">
            <a:solidFill>
              <a:srgbClr val="FFFFFF"/>
            </a:solidFill>
            <a:prstDash val="solid"/>
          </a:ln>
        </p:spPr>
      </p:sp>
      <p:sp>
        <p:nvSpPr>
          <p:cNvPr id="43" name="Text 41"/>
          <p:cNvSpPr txBox="1"/>
          <p:nvPr/>
        </p:nvSpPr>
        <p:spPr>
          <a:xfrm>
            <a:off x="411480" y="5797296"/>
            <a:ext cx="5760720" cy="731520"/>
          </a:xfrm>
          <a:prstGeom prst="rect">
            <a:avLst/>
          </a:prstGeom>
          <a:noFill/>
          <a:ln/>
        </p:spPr>
        <p:txBody>
          <a:bodyPr wrap="square" lIns="0" tIns="0" rIns="0" bIns="0" rtlCol="0" anchor="ctr"/>
          <a:lstStyle/>
          <a:p>
            <a:pPr algn="ctr" indent="0" marL="0">
              <a:buNone/>
            </a:pPr>
            <a:r>
              <a:rPr lang="en-US" sz="1050" b="1" dirty="0">
                <a:solidFill>
                  <a:srgbClr val="0F2D56"/>
                </a:solidFill>
                <a:latin typeface="Calibri" pitchFamily="34" charset="0"/>
                <a:ea typeface="Calibri" pitchFamily="34" charset="-122"/>
                <a:cs typeface="Calibri" pitchFamily="34" charset="-120"/>
              </a:rPr>
              <a:t>Expected: $51,677.71/month  •  Gap: $8,322.29  •  Target: $60,000/month</a:t>
            </a:r>
            <a:endParaRPr lang="en-US" sz="1050" dirty="0"/>
          </a:p>
          <a:p>
            <a:pPr algn="ctr" indent="0" marL="0">
              <a:buNone/>
            </a:pPr>
            <a:r>
              <a:rPr lang="en-US" sz="1050" b="1" dirty="0">
                <a:solidFill>
                  <a:srgbClr val="0F2D56"/>
                </a:solidFill>
                <a:latin typeface="Calibri" pitchFamily="34" charset="0"/>
                <a:ea typeface="Calibri" pitchFamily="34" charset="-122"/>
                <a:cs typeface="Calibri" pitchFamily="34" charset="-120"/>
              </a:rPr>
              <a:t>Annualised opportunity: $620,132.52–$646,843.68  •  Program: 90 days</a:t>
            </a:r>
            <a:endParaRPr lang="en-US" sz="1050" dirty="0"/>
          </a:p>
        </p:txBody>
      </p:sp>
      <p:sp>
        <p:nvSpPr>
          <p:cNvPr id="44" name="Shape 42"/>
          <p:cNvSpPr/>
          <p:nvPr/>
        </p:nvSpPr>
        <p:spPr>
          <a:xfrm>
            <a:off x="0" y="6675120"/>
            <a:ext cx="12161520" cy="182880"/>
          </a:xfrm>
          <a:prstGeom prst="rect">
            <a:avLst/>
          </a:prstGeom>
          <a:solidFill>
            <a:srgbClr val="0E7C87"/>
          </a:solidFill>
          <a:ln w="12700">
            <a:solidFill>
              <a:srgbClr val="0E7C87"/>
            </a:solidFill>
            <a:prstDash val="solid"/>
          </a:ln>
        </p:spPr>
      </p:sp>
      <p:sp>
        <p:nvSpPr>
          <p:cNvPr id="45" name="Text 43"/>
          <p:cNvSpPr txBox="1"/>
          <p:nvPr/>
        </p:nvSpPr>
        <p:spPr>
          <a:xfrm>
            <a:off x="274320" y="6675120"/>
            <a:ext cx="10058400" cy="18288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LendFlow Technologies — CFO Review Panel | Confidential &amp; Portfolio Case Study</a:t>
            </a:r>
            <a:endParaRPr lang="en-US" sz="700" dirty="0"/>
          </a:p>
        </p:txBody>
      </p:sp>
      <p:sp>
        <p:nvSpPr>
          <p:cNvPr id="46" name="Text 44"/>
          <p:cNvSpPr txBox="1"/>
          <p:nvPr/>
        </p:nvSpPr>
        <p:spPr>
          <a:xfrm>
            <a:off x="11430000" y="6675120"/>
            <a:ext cx="548640" cy="182880"/>
          </a:xfrm>
          <a:prstGeom prst="rect">
            <a:avLst/>
          </a:prstGeom>
          <a:noFill/>
          <a:ln/>
        </p:spPr>
        <p:txBody>
          <a:bodyPr wrap="square" lIns="0" tIns="0" rIns="0" bIns="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18 / 18</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2026-09-02T10:26:23Z</dcterms:created>
  <dcterms:modified xsi:type="dcterms:W3CDTF">2026-09-02T10:26:23Z</dcterms:modified>
</cp:coreProperties>
</file>